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We are Team Data Avengers, presenting our recommended big data pipeline for MediaWave Streaming. This engagement focused on a single objective: turn five disconnected data sources into a unified platform that surfaces actionable engagement and content insights. Over the next twelve minutes, we will walk through the problem we addressed, what the data revealed, our architecture, our recommendations, and the path to scale. Transition: Let us begin with 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team brings five complementary perspectives to this engagement. Helen led project management and client communication. Quang owned the streaming architecture. Juan led infrastructure and data lake design. Aleksandr handled orchestration and quality assurance. Yusuke led the analytics work that produced our findings. Transition: We will now define the problem this engagement was scoped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briefing is structured as a consulting deliverable rather than a technical walkthrough. We start with the problem and the headline findings, then move through architecture, deeper insights, recommended actions, and scaling considerations. We will reserve technical detail for sections three and six, where the CIO's primary diligence questions concentrate. Transition: We begin with the engagement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We frame the engagement problem in business terms. MediaWave's data does not lack quantity. It lacks integration. The questions that matter most to engagement and retention cross dataset boundaries that current tooling does not. Transition: Five files, three unanswered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MediaWave operates with five data sources covering profiles, viewing, catalog, interactions, and quality. On their own, each is comprehensive. Together, in their current state, they are unusable for the questions that matter to engagement and retention. The three questions on the right each require joining data that today lives in different formats, different storage locations, and different ownership. Each unanswered question maps to a recurring revenue exposure: avoidable content waste, avoidable churn, and a delayed retention response. Transition: We will now share what we found once those joins were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Before we describe the architecture, we present the three findings that emerged once integration was achieved. These are stated as headlines. The full insight set follows in section four. Transition: Three numbers,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findings frame our recommendation. First, content ROI: a measurable share of catalog spend earns disproportionately little viewing time. We will quantify the savings opportunity in section five. Second, engagement: a meaningful completion-rate gap exists between subscription tiers. This is a recommendation-system tuning opportunity, not a content acquisition one. Third, retention risk: streaming quality has a measurable correlation with churn, and three engagement signals together predict cancellation a full month in advance. Transition: Each of these emerged from a four-layer pipeline architecture, which we describe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Architecture overview. Three slides only: pipeline shape, technology choices with rationale, and production-readiness controls. We will revisit deeper technical detail in the appendix if questions arise. Transition: The pipeline runs from a single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implements four layers in sequence: storage, batch transformation, real-time streaming, and orchestration. All services are containerized. The full stack deploys from a single command and is fully reproducible across team members and grading environments. Each layer is independently scalable, which becomes relevant in section six. Transition: The next slide explains why these four technologies,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technology choice was evaluated against a credible alternative. We chose HDFS over raw S3 because of native replication and Spark integration; the migration to S3 plus EMRFS is straightforward when MediaWave moves to managed services. PySpark over pandas because the same code that handles fifty million rows today scales to five billion rows without rewrites. Kafka over Kinesis to avoid early vendor commitment, with a clear path to managed MSK if AWS becomes the platform standard. Airflow over cron because retry logic, SLAs, and quality gates are first-class concepts rather than bespoke scripts. Transition: Each choice supports a production-grade stance, which we cover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controls make this pipeline production-ready rather than a student exercise. First, data quality gates run between every stage and fail the DAG before bad data reaches analytics. Second, idempotent re-runs: the pipeline can be safely replayed from any failure point with no duplicate rows. We verified this empirically. Third, monitoring: Airflow handles retries and alerting, and a separate health-check DAG monitors streaming components every fifteen minutes. Together, these controls give operations a thirty-minute maximum time to detect and respond to issues. Transition: With architecture established, we now share the four insights the data revealed.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We move from infrastructure to insight. Four findings, each grounded in a specific analytics table our pipeline produces. Transition: We start with content ROI.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insight introduces a custom metric: cost per viewing hour, calculated as monthly license cost divided by total viewing hours generated. This reframes content from a binary in-catalog or out-of-catalog decision into a continuous ROI signal. The bottom decile of titles by this metric drives a disproportionate share of license cost relative to engagement. Recommendation: drop those titles at the next license cycle, with estimated annual savings shown. Transition: Engagement patterns within the catalog are also uneven.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insight is a clear engagement gap across subscription tiers. Premium subscribers watch more hours per month and complete a higher share of what they start. Two hypotheses explain this: tier-aware recommendation algorithms surfacing different content, or content-commitment effects where higher-paying subscribers select content they are more likely to finish. Both hypotheses point to the same intervention. Recommendation: tune the recommendation algorithm to surface higher-completion content for Basic users, with the goal of driving upgrade conversions through demonstrated engagement quality. Transition: Engagement patterns within a single tier also reveal the precursors to churn.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third insight identifies three measurable signals that predict churn a full thirty days before cancellation. Completion percentage drops. Interaction count drops. Buffering events rise. None of these alone is sufficient, but the combination is highly predictive. Recommendation: build a churn early-warning model using these three features. Users hitting the threshold trigger automated retention interventions before they cancel. Even a five-percent reduction in monthly churn translates to a meaningful annual revenue figure, which we will quantify in section five. Transition: One of those three signals — buffering — is also infrastructure-related, which leads to insight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fourth insight ties buffering directly to completion. The correlation is strong and negative across all sessions: when buffering rises, completion falls. More importantly, the worst buffering experiences are geographically concentrated. Three region-by-ISP combinations account for a disproportionate share of poor streaming sessions. This is actionable. Recommendation: negotiate dedicated peering or upgrade CDN capacity for those three combinations. A twenty-percent buffering reduction translates directly to extended watch time and reduced churn risk. Transition: Each of these four insights maps to a specific, prioritized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We translate our four insights into four prioritized actions. Each action is paired with expected impact and a time-to-implement estimate. Transition: Four actions, ranked by impact-to-effort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prioritized actions. Each is sourced from one of our four insights, paired with expected impact and time-to-implement. Action one is the highest impact-to-effort ratio: dropping bottom-decile titles at the next license cycle requires only an analyst review of our content_performance table. Action two is the longest-running but highest revenue impact: building the churn model. Actions three and four can run in parallel through the second half of the year. All four actions draw on analytics tables our pipeline produces today. No new data sources are required. Transition: Finally, scaling considerations for production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The CIO's natural question: does this scale to production volume? We address bottlenecks at ten-times and one-hundred-times current data volume, and map the entire stack to managed cloud equivalents. Transition: Specific bottlenecks, specific fixes, specific cloud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At ten-times current volume, the architecture remains intact; we add Spark workers, expand Kafka partitions, and tune shuffle parameters. At one-hundred-times, the same architecture continues but we transition to a true distributed cluster: more workers with larger memory, higher replication factor, and CeleryExecutor for Airflow distributed scheduling. The lower table shows that every layer maps to managed cloud services across AWS, GCP, and Azure. There is no vendor commitment in our current architecture. For MediaWave at one-hundred-times scale we recommend AWS-based deployment, projected at approximately seventy-percent lower total cost of ownership once operational labor is included. Transition: We close on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take questions now. Each team member is positioned to address questions in their domain — Quang on streaming, Juan on infrastructure, Aleksandr on orchestration, Yusuke on analytics. We have prepared appendix slides for the most likely technical questions, available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questions represent the most likely technical inquiries. Pre-prepared answers ensure consistency in delivery. Reference only — used during Q&amp;A if applicable.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731520" y="2194560"/>
            <a:ext cx="10698480" cy="548640"/>
          </a:xfrm>
          <a:prstGeom prst="rect">
            <a:avLst/>
          </a:prstGeom>
          <a:noFill/>
          <a:ln/>
        </p:spPr>
        <p:txBody>
          <a:bodyPr wrap="square" lIns="0" tIns="0" rIns="0" bIns="0" rtlCol="0" anchor="ctr"/>
          <a:lstStyle/>
          <a:p>
            <a:pPr indent="0" marL="0">
              <a:buNone/>
            </a:pPr>
            <a:r>
              <a:rPr lang="en-US" sz="1800" spc="600" kern="0" dirty="0">
                <a:solidFill>
                  <a:srgbClr val="3FE0E0"/>
                </a:solidFill>
                <a:latin typeface="Calibri" pitchFamily="34" charset="0"/>
                <a:ea typeface="Calibri" pitchFamily="34" charset="-122"/>
                <a:cs typeface="Calibri" pitchFamily="34" charset="-120"/>
              </a:rPr>
              <a:t>MEDIAWAVE STREAMING</a:t>
            </a:r>
            <a:endParaRPr lang="en-US" sz="1800" dirty="0"/>
          </a:p>
        </p:txBody>
      </p:sp>
      <p:sp>
        <p:nvSpPr>
          <p:cNvPr id="10" name="Text 8"/>
          <p:cNvSpPr/>
          <p:nvPr/>
        </p:nvSpPr>
        <p:spPr>
          <a:xfrm>
            <a:off x="731520" y="2743200"/>
            <a:ext cx="10698480" cy="1097280"/>
          </a:xfrm>
          <a:prstGeom prst="rect">
            <a:avLst/>
          </a:prstGeom>
          <a:noFill/>
          <a:ln/>
        </p:spPr>
        <p:txBody>
          <a:bodyPr wrap="square" lIns="0" tIns="0" rIns="0" bIns="0" rtlCol="0" anchor="ctr"/>
          <a:lstStyle/>
          <a:p>
            <a:pPr indent="0" marL="0">
              <a:buNone/>
            </a:pPr>
            <a:r>
              <a:rPr lang="en-US" sz="6400" b="1" dirty="0">
                <a:solidFill>
                  <a:srgbClr val="FFFFFF"/>
                </a:solidFill>
                <a:latin typeface="Calibri" pitchFamily="34" charset="0"/>
                <a:ea typeface="Calibri" pitchFamily="34" charset="-122"/>
                <a:cs typeface="Calibri" pitchFamily="34" charset="-120"/>
              </a:rPr>
              <a:t>Big Data Pipeline</a:t>
            </a:r>
            <a:endParaRPr lang="en-US" sz="6400" dirty="0"/>
          </a:p>
        </p:txBody>
      </p:sp>
      <p:sp>
        <p:nvSpPr>
          <p:cNvPr id="11" name="Shape 9"/>
          <p:cNvSpPr/>
          <p:nvPr/>
        </p:nvSpPr>
        <p:spPr>
          <a:xfrm>
            <a:off x="731520" y="4023360"/>
            <a:ext cx="1371600" cy="0"/>
          </a:xfrm>
          <a:prstGeom prst="line">
            <a:avLst/>
          </a:prstGeom>
          <a:noFill/>
          <a:ln w="38100">
            <a:solidFill>
              <a:srgbClr val="3FE0E0"/>
            </a:solidFill>
            <a:prstDash val="solid"/>
          </a:ln>
        </p:spPr>
      </p:sp>
      <p:sp>
        <p:nvSpPr>
          <p:cNvPr id="12" name="Text 10"/>
          <p:cNvSpPr/>
          <p:nvPr/>
        </p:nvSpPr>
        <p:spPr>
          <a:xfrm>
            <a:off x="731520" y="4160520"/>
            <a:ext cx="10698480" cy="457200"/>
          </a:xfrm>
          <a:prstGeom prst="rect">
            <a:avLst/>
          </a:prstGeom>
          <a:noFill/>
          <a:ln/>
        </p:spPr>
        <p:txBody>
          <a:bodyPr wrap="square" lIns="0" tIns="0" rIns="0" bIns="0" rtlCol="0" anchor="ctr"/>
          <a:lstStyle/>
          <a:p>
            <a:pPr indent="0" marL="0">
              <a:buNone/>
            </a:pPr>
            <a:r>
              <a:rPr lang="en-US" sz="1800" i="1" dirty="0">
                <a:solidFill>
                  <a:srgbClr val="B7D7DC"/>
                </a:solidFill>
                <a:latin typeface="Calibri" pitchFamily="34" charset="0"/>
                <a:ea typeface="Calibri" pitchFamily="34" charset="-122"/>
                <a:cs typeface="Calibri" pitchFamily="34" charset="-120"/>
              </a:rPr>
              <a:t>From data fragmentation to engagement intelligence</a:t>
            </a:r>
            <a:endParaRPr lang="en-US" sz="1800" dirty="0"/>
          </a:p>
        </p:txBody>
      </p:sp>
      <p:sp>
        <p:nvSpPr>
          <p:cNvPr id="13" name="Text 11"/>
          <p:cNvSpPr/>
          <p:nvPr/>
        </p:nvSpPr>
        <p:spPr>
          <a:xfrm>
            <a:off x="731520" y="5486400"/>
            <a:ext cx="3657600" cy="274320"/>
          </a:xfrm>
          <a:prstGeom prst="rect">
            <a:avLst/>
          </a:prstGeom>
          <a:noFill/>
          <a:ln/>
        </p:spPr>
        <p:txBody>
          <a:bodyPr wrap="square" lIns="0" tIns="0" rIns="0" bIns="0" rtlCol="0" anchor="ctr"/>
          <a:lstStyle/>
          <a:p>
            <a:pPr indent="0" marL="0">
              <a:buNone/>
            </a:pPr>
            <a:r>
              <a:rPr lang="en-US" sz="1000" spc="300" kern="0" dirty="0">
                <a:solidFill>
                  <a:srgbClr val="7FA8AE"/>
                </a:solidFill>
                <a:latin typeface="Calibri" pitchFamily="34" charset="0"/>
                <a:ea typeface="Calibri" pitchFamily="34" charset="-122"/>
                <a:cs typeface="Calibri" pitchFamily="34" charset="-120"/>
              </a:rPr>
              <a:t>PREPARED FOR</a:t>
            </a:r>
            <a:endParaRPr lang="en-US" sz="1000" dirty="0"/>
          </a:p>
        </p:txBody>
      </p:sp>
      <p:sp>
        <p:nvSpPr>
          <p:cNvPr id="14" name="Text 12"/>
          <p:cNvSpPr/>
          <p:nvPr/>
        </p:nvSpPr>
        <p:spPr>
          <a:xfrm>
            <a:off x="731520" y="5760720"/>
            <a:ext cx="54864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Office of the CIO · MediaWave Streaming</a:t>
            </a:r>
            <a:endParaRPr lang="en-US" sz="1400" dirty="0"/>
          </a:p>
        </p:txBody>
      </p:sp>
      <p:sp>
        <p:nvSpPr>
          <p:cNvPr id="15" name="Text 13"/>
          <p:cNvSpPr/>
          <p:nvPr/>
        </p:nvSpPr>
        <p:spPr>
          <a:xfrm>
            <a:off x="7589520" y="5486400"/>
            <a:ext cx="3657600" cy="274320"/>
          </a:xfrm>
          <a:prstGeom prst="rect">
            <a:avLst/>
          </a:prstGeom>
          <a:noFill/>
          <a:ln/>
        </p:spPr>
        <p:txBody>
          <a:bodyPr wrap="square" lIns="0" tIns="0" rIns="0" bIns="0" rtlCol="0" anchor="ctr"/>
          <a:lstStyle/>
          <a:p>
            <a:pPr algn="r" indent="0" marL="0">
              <a:buNone/>
            </a:pPr>
            <a:r>
              <a:rPr lang="en-US" sz="1000" spc="300" kern="0" dirty="0">
                <a:solidFill>
                  <a:srgbClr val="7FA8AE"/>
                </a:solidFill>
                <a:latin typeface="Calibri" pitchFamily="34" charset="0"/>
                <a:ea typeface="Calibri" pitchFamily="34" charset="-122"/>
                <a:cs typeface="Calibri" pitchFamily="34" charset="-120"/>
              </a:rPr>
              <a:t>PREPARED BY</a:t>
            </a:r>
            <a:endParaRPr lang="en-US" sz="1000" dirty="0"/>
          </a:p>
        </p:txBody>
      </p:sp>
      <p:sp>
        <p:nvSpPr>
          <p:cNvPr id="16" name="Text 14"/>
          <p:cNvSpPr/>
          <p:nvPr/>
        </p:nvSpPr>
        <p:spPr>
          <a:xfrm>
            <a:off x="6675120" y="5760720"/>
            <a:ext cx="5029200" cy="365760"/>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Team Data Avengers · ISM 6562 · 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457200" y="365760"/>
            <a:ext cx="914400" cy="914400"/>
          </a:xfrm>
          <a:prstGeom prst="rect">
            <a:avLst/>
          </a:prstGeom>
          <a:noFill/>
          <a:ln/>
        </p:spPr>
        <p:txBody>
          <a:bodyPr wrap="square" lIns="0" tIns="0" rIns="0" bIns="0" rtlCol="0" anchor="ctr"/>
          <a:lstStyle/>
          <a:p>
            <a:pPr indent="0" marL="0">
              <a:buNone/>
            </a:pPr>
            <a:r>
              <a:rPr lang="en-US" sz="5600" b="1" dirty="0">
                <a:solidFill>
                  <a:srgbClr val="FFFFFF"/>
                </a:solidFill>
                <a:latin typeface="Calibri" pitchFamily="34" charset="0"/>
                <a:ea typeface="Calibri" pitchFamily="34" charset="-122"/>
                <a:cs typeface="Calibri" pitchFamily="34" charset="-120"/>
              </a:rPr>
              <a:t>01</a:t>
            </a:r>
            <a:endParaRPr lang="en-US" sz="5600" dirty="0"/>
          </a:p>
        </p:txBody>
      </p:sp>
      <p:sp>
        <p:nvSpPr>
          <p:cNvPr id="10" name="Shape 8"/>
          <p:cNvSpPr/>
          <p:nvPr/>
        </p:nvSpPr>
        <p:spPr>
          <a:xfrm>
            <a:off x="1463040" y="548640"/>
            <a:ext cx="0" cy="777240"/>
          </a:xfrm>
          <a:prstGeom prst="line">
            <a:avLst/>
          </a:prstGeom>
          <a:noFill/>
          <a:ln w="25400">
            <a:solidFill>
              <a:srgbClr val="3FE0E0"/>
            </a:solidFill>
            <a:prstDash val="solid"/>
          </a:ln>
        </p:spPr>
      </p:sp>
      <p:sp>
        <p:nvSpPr>
          <p:cNvPr id="11" name="Text 9"/>
          <p:cNvSpPr/>
          <p:nvPr/>
        </p:nvSpPr>
        <p:spPr>
          <a:xfrm>
            <a:off x="1691640" y="36576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TEAM INTRODUCTION</a:t>
            </a:r>
            <a:endParaRPr lang="en-US" sz="2800" dirty="0"/>
          </a:p>
        </p:txBody>
      </p:sp>
      <p:sp>
        <p:nvSpPr>
          <p:cNvPr id="12" name="Text 10"/>
          <p:cNvSpPr/>
          <p:nvPr/>
        </p:nvSpPr>
        <p:spPr>
          <a:xfrm>
            <a:off x="1691640" y="960120"/>
            <a:ext cx="8229600" cy="365760"/>
          </a:xfrm>
          <a:prstGeom prst="rect">
            <a:avLst/>
          </a:prstGeom>
          <a:noFill/>
          <a:ln/>
        </p:spPr>
        <p:txBody>
          <a:bodyPr wrap="square" lIns="0" tIns="0" rIns="0" bIns="0" rtlCol="0" anchor="ctr"/>
          <a:lstStyle/>
          <a:p>
            <a:pPr indent="0" marL="0">
              <a:buNone/>
            </a:pPr>
            <a:r>
              <a:rPr lang="en-US" sz="1400" spc="400" kern="0" dirty="0">
                <a:solidFill>
                  <a:srgbClr val="3FE0E0"/>
                </a:solidFill>
                <a:latin typeface="Calibri" pitchFamily="34" charset="0"/>
                <a:ea typeface="Calibri" pitchFamily="34" charset="-122"/>
                <a:cs typeface="Calibri" pitchFamily="34" charset="-120"/>
              </a:rPr>
              <a:t>DATA AVENGERS</a:t>
            </a:r>
            <a:endParaRPr lang="en-US" sz="1400" dirty="0"/>
          </a:p>
        </p:txBody>
      </p:sp>
      <p:sp>
        <p:nvSpPr>
          <p:cNvPr id="13" name="Shape 11"/>
          <p:cNvSpPr/>
          <p:nvPr/>
        </p:nvSpPr>
        <p:spPr>
          <a:xfrm>
            <a:off x="868680" y="2240280"/>
            <a:ext cx="1554480" cy="1554480"/>
          </a:xfrm>
          <a:prstGeom prst="ellipse">
            <a:avLst/>
          </a:prstGeom>
          <a:solidFill>
            <a:srgbClr val="3FE0E0"/>
          </a:solidFill>
          <a:ln w="12700">
            <a:solidFill>
              <a:srgbClr val="3FE0E0"/>
            </a:solidFill>
            <a:prstDash val="solid"/>
          </a:ln>
        </p:spPr>
      </p:sp>
      <p:sp>
        <p:nvSpPr>
          <p:cNvPr id="14" name="Shape 12"/>
          <p:cNvSpPr/>
          <p:nvPr/>
        </p:nvSpPr>
        <p:spPr>
          <a:xfrm>
            <a:off x="914400" y="2286000"/>
            <a:ext cx="1463040" cy="1463040"/>
          </a:xfrm>
          <a:prstGeom prst="ellipse">
            <a:avLst/>
          </a:prstGeom>
          <a:solidFill>
            <a:srgbClr val="0A4250"/>
          </a:solidFill>
          <a:ln w="12700">
            <a:solidFill>
              <a:srgbClr val="0A4250"/>
            </a:solidFill>
            <a:prstDash val="solid"/>
          </a:ln>
        </p:spPr>
      </p:sp>
      <p:sp>
        <p:nvSpPr>
          <p:cNvPr id="15" name="Text 13"/>
          <p:cNvSpPr/>
          <p:nvPr/>
        </p:nvSpPr>
        <p:spPr>
          <a:xfrm>
            <a:off x="914400" y="2286000"/>
            <a:ext cx="1463040" cy="1463040"/>
          </a:xfrm>
          <a:prstGeom prst="rect">
            <a:avLst/>
          </a:prstGeom>
          <a:noFill/>
          <a:ln/>
        </p:spPr>
        <p:txBody>
          <a:bodyPr wrap="square" lIns="0" tIns="0" rIns="0" bIns="0" rtlCol="0" anchor="ctr"/>
          <a:lstStyle/>
          <a:p>
            <a:pPr algn="ctr" indent="0" marL="0">
              <a:buNone/>
            </a:pPr>
            <a:r>
              <a:rPr lang="en-US" sz="1100" i="1" dirty="0">
                <a:solidFill>
                  <a:srgbClr val="7FA8AE"/>
                </a:solidFill>
                <a:latin typeface="Calibri" pitchFamily="34" charset="0"/>
                <a:ea typeface="Calibri" pitchFamily="34" charset="-122"/>
                <a:cs typeface="Calibri" pitchFamily="34" charset="-120"/>
              </a:rPr>
              <a:t>Photo</a:t>
            </a:r>
            <a:endParaRPr lang="en-US" sz="1100" dirty="0"/>
          </a:p>
        </p:txBody>
      </p:sp>
      <p:sp>
        <p:nvSpPr>
          <p:cNvPr id="16" name="Text 14"/>
          <p:cNvSpPr/>
          <p:nvPr/>
        </p:nvSpPr>
        <p:spPr>
          <a:xfrm>
            <a:off x="548640" y="3931920"/>
            <a:ext cx="21945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Helen Nguyen</a:t>
            </a:r>
            <a:endParaRPr lang="en-US" sz="1400" dirty="0"/>
          </a:p>
        </p:txBody>
      </p:sp>
      <p:sp>
        <p:nvSpPr>
          <p:cNvPr id="17" name="Text 15"/>
          <p:cNvSpPr/>
          <p:nvPr/>
        </p:nvSpPr>
        <p:spPr>
          <a:xfrm>
            <a:off x="548640" y="4572000"/>
            <a:ext cx="2194560" cy="365760"/>
          </a:xfrm>
          <a:prstGeom prst="rect">
            <a:avLst/>
          </a:prstGeom>
          <a:noFill/>
          <a:ln/>
        </p:spPr>
        <p:txBody>
          <a:bodyPr wrap="square" lIns="0" tIns="0" rIns="0" bIns="0" rtlCol="0" anchor="ctr"/>
          <a:lstStyle/>
          <a:p>
            <a:pPr algn="ctr" indent="0" marL="0">
              <a:buNone/>
            </a:pPr>
            <a:r>
              <a:rPr lang="en-US" sz="1200" dirty="0">
                <a:solidFill>
                  <a:srgbClr val="B7D7DC"/>
                </a:solidFill>
                <a:latin typeface="Calibri" pitchFamily="34" charset="0"/>
                <a:ea typeface="Calibri" pitchFamily="34" charset="-122"/>
                <a:cs typeface="Calibri" pitchFamily="34" charset="-120"/>
              </a:rPr>
              <a:t>Project Manager</a:t>
            </a:r>
            <a:endParaRPr lang="en-US" sz="1200" dirty="0"/>
          </a:p>
        </p:txBody>
      </p:sp>
      <p:sp>
        <p:nvSpPr>
          <p:cNvPr id="18" name="Shape 16"/>
          <p:cNvSpPr/>
          <p:nvPr/>
        </p:nvSpPr>
        <p:spPr>
          <a:xfrm>
            <a:off x="3063240" y="2240280"/>
            <a:ext cx="1554480" cy="1554480"/>
          </a:xfrm>
          <a:prstGeom prst="ellipse">
            <a:avLst/>
          </a:prstGeom>
          <a:solidFill>
            <a:srgbClr val="3FE0E0"/>
          </a:solidFill>
          <a:ln w="12700">
            <a:solidFill>
              <a:srgbClr val="3FE0E0"/>
            </a:solidFill>
            <a:prstDash val="solid"/>
          </a:ln>
        </p:spPr>
      </p:sp>
      <p:sp>
        <p:nvSpPr>
          <p:cNvPr id="19" name="Shape 17"/>
          <p:cNvSpPr/>
          <p:nvPr/>
        </p:nvSpPr>
        <p:spPr>
          <a:xfrm>
            <a:off x="3108960" y="2286000"/>
            <a:ext cx="1463040" cy="1463040"/>
          </a:xfrm>
          <a:prstGeom prst="ellipse">
            <a:avLst/>
          </a:prstGeom>
          <a:solidFill>
            <a:srgbClr val="0A4250"/>
          </a:solidFill>
          <a:ln w="12700">
            <a:solidFill>
              <a:srgbClr val="0A4250"/>
            </a:solidFill>
            <a:prstDash val="solid"/>
          </a:ln>
        </p:spPr>
      </p:sp>
      <p:sp>
        <p:nvSpPr>
          <p:cNvPr id="20" name="Text 18"/>
          <p:cNvSpPr/>
          <p:nvPr/>
        </p:nvSpPr>
        <p:spPr>
          <a:xfrm>
            <a:off x="3108960" y="2286000"/>
            <a:ext cx="1463040" cy="1463040"/>
          </a:xfrm>
          <a:prstGeom prst="rect">
            <a:avLst/>
          </a:prstGeom>
          <a:noFill/>
          <a:ln/>
        </p:spPr>
        <p:txBody>
          <a:bodyPr wrap="square" lIns="0" tIns="0" rIns="0" bIns="0" rtlCol="0" anchor="ctr"/>
          <a:lstStyle/>
          <a:p>
            <a:pPr algn="ctr" indent="0" marL="0">
              <a:buNone/>
            </a:pPr>
            <a:r>
              <a:rPr lang="en-US" sz="1100" i="1" dirty="0">
                <a:solidFill>
                  <a:srgbClr val="7FA8AE"/>
                </a:solidFill>
                <a:latin typeface="Calibri" pitchFamily="34" charset="0"/>
                <a:ea typeface="Calibri" pitchFamily="34" charset="-122"/>
                <a:cs typeface="Calibri" pitchFamily="34" charset="-120"/>
              </a:rPr>
              <a:t>Photo</a:t>
            </a:r>
            <a:endParaRPr lang="en-US" sz="1100" dirty="0"/>
          </a:p>
        </p:txBody>
      </p:sp>
      <p:sp>
        <p:nvSpPr>
          <p:cNvPr id="21" name="Text 19"/>
          <p:cNvSpPr/>
          <p:nvPr/>
        </p:nvSpPr>
        <p:spPr>
          <a:xfrm>
            <a:off x="2743200" y="3931920"/>
            <a:ext cx="21945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Quang Nguyen</a:t>
            </a:r>
            <a:endParaRPr lang="en-US" sz="1400" dirty="0"/>
          </a:p>
        </p:txBody>
      </p:sp>
      <p:sp>
        <p:nvSpPr>
          <p:cNvPr id="22" name="Text 20"/>
          <p:cNvSpPr/>
          <p:nvPr/>
        </p:nvSpPr>
        <p:spPr>
          <a:xfrm>
            <a:off x="2743200" y="4572000"/>
            <a:ext cx="2194560" cy="365760"/>
          </a:xfrm>
          <a:prstGeom prst="rect">
            <a:avLst/>
          </a:prstGeom>
          <a:noFill/>
          <a:ln/>
        </p:spPr>
        <p:txBody>
          <a:bodyPr wrap="square" lIns="0" tIns="0" rIns="0" bIns="0" rtlCol="0" anchor="ctr"/>
          <a:lstStyle/>
          <a:p>
            <a:pPr algn="ctr" indent="0" marL="0">
              <a:buNone/>
            </a:pPr>
            <a:r>
              <a:rPr lang="en-US" sz="1200" dirty="0">
                <a:solidFill>
                  <a:srgbClr val="B7D7DC"/>
                </a:solidFill>
                <a:latin typeface="Calibri" pitchFamily="34" charset="0"/>
                <a:ea typeface="Calibri" pitchFamily="34" charset="-122"/>
                <a:cs typeface="Calibri" pitchFamily="34" charset="-120"/>
              </a:rPr>
              <a:t>Architecture Lead</a:t>
            </a:r>
            <a:endParaRPr lang="en-US" sz="1200" dirty="0"/>
          </a:p>
        </p:txBody>
      </p:sp>
      <p:sp>
        <p:nvSpPr>
          <p:cNvPr id="23" name="Shape 21"/>
          <p:cNvSpPr/>
          <p:nvPr/>
        </p:nvSpPr>
        <p:spPr>
          <a:xfrm>
            <a:off x="5257800" y="2240280"/>
            <a:ext cx="1554480" cy="1554480"/>
          </a:xfrm>
          <a:prstGeom prst="ellipse">
            <a:avLst/>
          </a:prstGeom>
          <a:solidFill>
            <a:srgbClr val="3FE0E0"/>
          </a:solidFill>
          <a:ln w="12700">
            <a:solidFill>
              <a:srgbClr val="3FE0E0"/>
            </a:solidFill>
            <a:prstDash val="solid"/>
          </a:ln>
        </p:spPr>
      </p:sp>
      <p:sp>
        <p:nvSpPr>
          <p:cNvPr id="24" name="Shape 22"/>
          <p:cNvSpPr/>
          <p:nvPr/>
        </p:nvSpPr>
        <p:spPr>
          <a:xfrm>
            <a:off x="5303520" y="2286000"/>
            <a:ext cx="1463040" cy="1463040"/>
          </a:xfrm>
          <a:prstGeom prst="ellipse">
            <a:avLst/>
          </a:prstGeom>
          <a:solidFill>
            <a:srgbClr val="0A4250"/>
          </a:solidFill>
          <a:ln w="12700">
            <a:solidFill>
              <a:srgbClr val="0A4250"/>
            </a:solidFill>
            <a:prstDash val="solid"/>
          </a:ln>
        </p:spPr>
      </p:sp>
      <p:sp>
        <p:nvSpPr>
          <p:cNvPr id="25" name="Text 23"/>
          <p:cNvSpPr/>
          <p:nvPr/>
        </p:nvSpPr>
        <p:spPr>
          <a:xfrm>
            <a:off x="5303520" y="2286000"/>
            <a:ext cx="1463040" cy="1463040"/>
          </a:xfrm>
          <a:prstGeom prst="rect">
            <a:avLst/>
          </a:prstGeom>
          <a:noFill/>
          <a:ln/>
        </p:spPr>
        <p:txBody>
          <a:bodyPr wrap="square" lIns="0" tIns="0" rIns="0" bIns="0" rtlCol="0" anchor="ctr"/>
          <a:lstStyle/>
          <a:p>
            <a:pPr algn="ctr" indent="0" marL="0">
              <a:buNone/>
            </a:pPr>
            <a:r>
              <a:rPr lang="en-US" sz="1100" i="1" dirty="0">
                <a:solidFill>
                  <a:srgbClr val="7FA8AE"/>
                </a:solidFill>
                <a:latin typeface="Calibri" pitchFamily="34" charset="0"/>
                <a:ea typeface="Calibri" pitchFamily="34" charset="-122"/>
                <a:cs typeface="Calibri" pitchFamily="34" charset="-120"/>
              </a:rPr>
              <a:t>Photo</a:t>
            </a:r>
            <a:endParaRPr lang="en-US" sz="1100" dirty="0"/>
          </a:p>
        </p:txBody>
      </p:sp>
      <p:sp>
        <p:nvSpPr>
          <p:cNvPr id="26" name="Text 24"/>
          <p:cNvSpPr/>
          <p:nvPr/>
        </p:nvSpPr>
        <p:spPr>
          <a:xfrm>
            <a:off x="4937760" y="3931920"/>
            <a:ext cx="21945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Juan Rivera</a:t>
            </a:r>
            <a:endParaRPr lang="en-US" sz="1400" dirty="0"/>
          </a:p>
        </p:txBody>
      </p:sp>
      <p:sp>
        <p:nvSpPr>
          <p:cNvPr id="27" name="Text 25"/>
          <p:cNvSpPr/>
          <p:nvPr/>
        </p:nvSpPr>
        <p:spPr>
          <a:xfrm>
            <a:off x="4937760" y="4572000"/>
            <a:ext cx="2194560" cy="365760"/>
          </a:xfrm>
          <a:prstGeom prst="rect">
            <a:avLst/>
          </a:prstGeom>
          <a:noFill/>
          <a:ln/>
        </p:spPr>
        <p:txBody>
          <a:bodyPr wrap="square" lIns="0" tIns="0" rIns="0" bIns="0" rtlCol="0" anchor="ctr"/>
          <a:lstStyle/>
          <a:p>
            <a:pPr algn="ctr" indent="0" marL="0">
              <a:buNone/>
            </a:pPr>
            <a:r>
              <a:rPr lang="en-US" sz="1200" dirty="0">
                <a:solidFill>
                  <a:srgbClr val="B7D7DC"/>
                </a:solidFill>
                <a:latin typeface="Calibri" pitchFamily="34" charset="0"/>
                <a:ea typeface="Calibri" pitchFamily="34" charset="-122"/>
                <a:cs typeface="Calibri" pitchFamily="34" charset="-120"/>
              </a:rPr>
              <a:t>Consistency Analyst</a:t>
            </a:r>
            <a:endParaRPr lang="en-US" sz="1200" dirty="0"/>
          </a:p>
        </p:txBody>
      </p:sp>
      <p:sp>
        <p:nvSpPr>
          <p:cNvPr id="28" name="Shape 26"/>
          <p:cNvSpPr/>
          <p:nvPr/>
        </p:nvSpPr>
        <p:spPr>
          <a:xfrm>
            <a:off x="7452360" y="2240280"/>
            <a:ext cx="1554480" cy="1554480"/>
          </a:xfrm>
          <a:prstGeom prst="ellipse">
            <a:avLst/>
          </a:prstGeom>
          <a:solidFill>
            <a:srgbClr val="3FE0E0"/>
          </a:solidFill>
          <a:ln w="12700">
            <a:solidFill>
              <a:srgbClr val="3FE0E0"/>
            </a:solidFill>
            <a:prstDash val="solid"/>
          </a:ln>
        </p:spPr>
      </p:sp>
      <p:sp>
        <p:nvSpPr>
          <p:cNvPr id="29" name="Shape 27"/>
          <p:cNvSpPr/>
          <p:nvPr/>
        </p:nvSpPr>
        <p:spPr>
          <a:xfrm>
            <a:off x="7498080" y="2286000"/>
            <a:ext cx="1463040" cy="1463040"/>
          </a:xfrm>
          <a:prstGeom prst="ellipse">
            <a:avLst/>
          </a:prstGeom>
          <a:solidFill>
            <a:srgbClr val="0A4250"/>
          </a:solidFill>
          <a:ln w="12700">
            <a:solidFill>
              <a:srgbClr val="0A4250"/>
            </a:solidFill>
            <a:prstDash val="solid"/>
          </a:ln>
        </p:spPr>
      </p:sp>
      <p:sp>
        <p:nvSpPr>
          <p:cNvPr id="30" name="Text 28"/>
          <p:cNvSpPr/>
          <p:nvPr/>
        </p:nvSpPr>
        <p:spPr>
          <a:xfrm>
            <a:off x="7498080" y="2286000"/>
            <a:ext cx="1463040" cy="1463040"/>
          </a:xfrm>
          <a:prstGeom prst="rect">
            <a:avLst/>
          </a:prstGeom>
          <a:noFill/>
          <a:ln/>
        </p:spPr>
        <p:txBody>
          <a:bodyPr wrap="square" lIns="0" tIns="0" rIns="0" bIns="0" rtlCol="0" anchor="ctr"/>
          <a:lstStyle/>
          <a:p>
            <a:pPr algn="ctr" indent="0" marL="0">
              <a:buNone/>
            </a:pPr>
            <a:r>
              <a:rPr lang="en-US" sz="1100" i="1" dirty="0">
                <a:solidFill>
                  <a:srgbClr val="7FA8AE"/>
                </a:solidFill>
                <a:latin typeface="Calibri" pitchFamily="34" charset="0"/>
                <a:ea typeface="Calibri" pitchFamily="34" charset="-122"/>
                <a:cs typeface="Calibri" pitchFamily="34" charset="-120"/>
              </a:rPr>
              <a:t>Photo</a:t>
            </a:r>
            <a:endParaRPr lang="en-US" sz="1100" dirty="0"/>
          </a:p>
        </p:txBody>
      </p:sp>
      <p:sp>
        <p:nvSpPr>
          <p:cNvPr id="31" name="Text 29"/>
          <p:cNvSpPr/>
          <p:nvPr/>
        </p:nvSpPr>
        <p:spPr>
          <a:xfrm>
            <a:off x="7132320" y="3931920"/>
            <a:ext cx="21945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Aleksandr Nicolaev</a:t>
            </a:r>
            <a:endParaRPr lang="en-US" sz="1400" dirty="0"/>
          </a:p>
        </p:txBody>
      </p:sp>
      <p:sp>
        <p:nvSpPr>
          <p:cNvPr id="32" name="Text 30"/>
          <p:cNvSpPr/>
          <p:nvPr/>
        </p:nvSpPr>
        <p:spPr>
          <a:xfrm>
            <a:off x="7132320" y="4572000"/>
            <a:ext cx="2194560" cy="365760"/>
          </a:xfrm>
          <a:prstGeom prst="rect">
            <a:avLst/>
          </a:prstGeom>
          <a:noFill/>
          <a:ln/>
        </p:spPr>
        <p:txBody>
          <a:bodyPr wrap="square" lIns="0" tIns="0" rIns="0" bIns="0" rtlCol="0" anchor="ctr"/>
          <a:lstStyle/>
          <a:p>
            <a:pPr algn="ctr" indent="0" marL="0">
              <a:buNone/>
            </a:pPr>
            <a:r>
              <a:rPr lang="en-US" sz="1200" dirty="0">
                <a:solidFill>
                  <a:srgbClr val="B7D7DC"/>
                </a:solidFill>
                <a:latin typeface="Calibri" pitchFamily="34" charset="0"/>
                <a:ea typeface="Calibri" pitchFamily="34" charset="-122"/>
                <a:cs typeface="Calibri" pitchFamily="34" charset="-120"/>
              </a:rPr>
              <a:t>Systems Analyst</a:t>
            </a:r>
            <a:endParaRPr lang="en-US" sz="1200" dirty="0"/>
          </a:p>
        </p:txBody>
      </p:sp>
      <p:sp>
        <p:nvSpPr>
          <p:cNvPr id="33" name="Shape 31"/>
          <p:cNvSpPr/>
          <p:nvPr/>
        </p:nvSpPr>
        <p:spPr>
          <a:xfrm>
            <a:off x="9646920" y="2240280"/>
            <a:ext cx="1554480" cy="1554480"/>
          </a:xfrm>
          <a:prstGeom prst="ellipse">
            <a:avLst/>
          </a:prstGeom>
          <a:solidFill>
            <a:srgbClr val="3FE0E0"/>
          </a:solidFill>
          <a:ln w="12700">
            <a:solidFill>
              <a:srgbClr val="3FE0E0"/>
            </a:solidFill>
            <a:prstDash val="solid"/>
          </a:ln>
        </p:spPr>
      </p:sp>
      <p:sp>
        <p:nvSpPr>
          <p:cNvPr id="34" name="Shape 32"/>
          <p:cNvSpPr/>
          <p:nvPr/>
        </p:nvSpPr>
        <p:spPr>
          <a:xfrm>
            <a:off x="9692640" y="2286000"/>
            <a:ext cx="1463040" cy="1463040"/>
          </a:xfrm>
          <a:prstGeom prst="ellipse">
            <a:avLst/>
          </a:prstGeom>
          <a:solidFill>
            <a:srgbClr val="0A4250"/>
          </a:solidFill>
          <a:ln w="12700">
            <a:solidFill>
              <a:srgbClr val="0A4250"/>
            </a:solidFill>
            <a:prstDash val="solid"/>
          </a:ln>
        </p:spPr>
      </p:sp>
      <p:sp>
        <p:nvSpPr>
          <p:cNvPr id="35" name="Text 33"/>
          <p:cNvSpPr/>
          <p:nvPr/>
        </p:nvSpPr>
        <p:spPr>
          <a:xfrm>
            <a:off x="9692640" y="2286000"/>
            <a:ext cx="1463040" cy="1463040"/>
          </a:xfrm>
          <a:prstGeom prst="rect">
            <a:avLst/>
          </a:prstGeom>
          <a:noFill/>
          <a:ln/>
        </p:spPr>
        <p:txBody>
          <a:bodyPr wrap="square" lIns="0" tIns="0" rIns="0" bIns="0" rtlCol="0" anchor="ctr"/>
          <a:lstStyle/>
          <a:p>
            <a:pPr algn="ctr" indent="0" marL="0">
              <a:buNone/>
            </a:pPr>
            <a:r>
              <a:rPr lang="en-US" sz="1100" i="1" dirty="0">
                <a:solidFill>
                  <a:srgbClr val="7FA8AE"/>
                </a:solidFill>
                <a:latin typeface="Calibri" pitchFamily="34" charset="0"/>
                <a:ea typeface="Calibri" pitchFamily="34" charset="-122"/>
                <a:cs typeface="Calibri" pitchFamily="34" charset="-120"/>
              </a:rPr>
              <a:t>Photo</a:t>
            </a:r>
            <a:endParaRPr lang="en-US" sz="1100" dirty="0"/>
          </a:p>
        </p:txBody>
      </p:sp>
      <p:sp>
        <p:nvSpPr>
          <p:cNvPr id="36" name="Text 34"/>
          <p:cNvSpPr/>
          <p:nvPr/>
        </p:nvSpPr>
        <p:spPr>
          <a:xfrm>
            <a:off x="9326880" y="3931920"/>
            <a:ext cx="21945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Yusuke Yoshizawa</a:t>
            </a:r>
            <a:endParaRPr lang="en-US" sz="1400" dirty="0"/>
          </a:p>
        </p:txBody>
      </p:sp>
      <p:sp>
        <p:nvSpPr>
          <p:cNvPr id="37" name="Text 35"/>
          <p:cNvSpPr/>
          <p:nvPr/>
        </p:nvSpPr>
        <p:spPr>
          <a:xfrm>
            <a:off x="9326880" y="4572000"/>
            <a:ext cx="2194560" cy="365760"/>
          </a:xfrm>
          <a:prstGeom prst="rect">
            <a:avLst/>
          </a:prstGeom>
          <a:noFill/>
          <a:ln/>
        </p:spPr>
        <p:txBody>
          <a:bodyPr wrap="square" lIns="0" tIns="0" rIns="0" bIns="0" rtlCol="0" anchor="ctr"/>
          <a:lstStyle/>
          <a:p>
            <a:pPr algn="ctr" indent="0" marL="0">
              <a:buNone/>
            </a:pPr>
            <a:r>
              <a:rPr lang="en-US" sz="1200" dirty="0">
                <a:solidFill>
                  <a:srgbClr val="B7D7DC"/>
                </a:solidFill>
                <a:latin typeface="Calibri" pitchFamily="34" charset="0"/>
                <a:ea typeface="Calibri" pitchFamily="34" charset="-122"/>
                <a:cs typeface="Calibri" pitchFamily="34" charset="-120"/>
              </a:rPr>
              <a:t>TechRetail Evaluator</a:t>
            </a:r>
            <a:endParaRPr lang="en-US" sz="1200" dirty="0"/>
          </a:p>
        </p:txBody>
      </p:sp>
      <p:sp>
        <p:nvSpPr>
          <p:cNvPr id="38" name="Text 36"/>
          <p:cNvSpPr/>
          <p:nvPr/>
        </p:nvSpPr>
        <p:spPr>
          <a:xfrm>
            <a:off x="457200" y="5852160"/>
            <a:ext cx="11247120" cy="365760"/>
          </a:xfrm>
          <a:prstGeom prst="rect">
            <a:avLst/>
          </a:prstGeom>
          <a:noFill/>
          <a:ln/>
        </p:spPr>
        <p:txBody>
          <a:bodyPr wrap="square" lIns="0" tIns="0" rIns="0" bIns="0" rtlCol="0" anchor="ctr"/>
          <a:lstStyle/>
          <a:p>
            <a:pPr algn="ctr" indent="0" marL="0">
              <a:buNone/>
            </a:pPr>
            <a:r>
              <a:rPr lang="en-US" sz="1200" i="1" dirty="0">
                <a:solidFill>
                  <a:srgbClr val="7FA8AE"/>
                </a:solidFill>
                <a:latin typeface="Calibri" pitchFamily="34" charset="0"/>
                <a:ea typeface="Calibri" pitchFamily="34" charset="-122"/>
                <a:cs typeface="Calibri" pitchFamily="34" charset="-120"/>
              </a:rPr>
              <a:t>Big Data strategy and implementation for MediaWave Streaming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457200" y="365760"/>
            <a:ext cx="1124712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we will cover</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indent="0" marL="0">
              <a:buNone/>
            </a:pPr>
            <a:r>
              <a:rPr lang="en-US" sz="1400" i="1" spc="100" kern="0" dirty="0">
                <a:solidFill>
                  <a:srgbClr val="3FE0E0"/>
                </a:solidFill>
                <a:latin typeface="Calibri" pitchFamily="34" charset="0"/>
                <a:ea typeface="Calibri" pitchFamily="34" charset="-122"/>
                <a:cs typeface="Calibri" pitchFamily="34" charset="-120"/>
              </a:rPr>
              <a:t>A six-section briefing for the CIO</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sp>
      <p:sp>
        <p:nvSpPr>
          <p:cNvPr id="12" name="Text 10"/>
          <p:cNvSpPr/>
          <p:nvPr/>
        </p:nvSpPr>
        <p:spPr>
          <a:xfrm>
            <a:off x="640080" y="1828800"/>
            <a:ext cx="822960" cy="457200"/>
          </a:xfrm>
          <a:prstGeom prst="rect">
            <a:avLst/>
          </a:prstGeom>
          <a:noFill/>
          <a:ln/>
        </p:spPr>
        <p:txBody>
          <a:bodyPr wrap="square" lIns="0" tIns="0" rIns="0" bIns="0" rtlCol="0" anchor="ctr"/>
          <a:lstStyle/>
          <a:p>
            <a:pPr indent="0" marL="0">
              <a:buNone/>
            </a:pPr>
            <a:r>
              <a:rPr lang="en-US" sz="2200" b="1" dirty="0">
                <a:solidFill>
                  <a:srgbClr val="3FE0E0"/>
                </a:solidFill>
                <a:latin typeface="Calibri" pitchFamily="34" charset="0"/>
                <a:ea typeface="Calibri" pitchFamily="34" charset="-122"/>
                <a:cs typeface="Calibri" pitchFamily="34" charset="-120"/>
              </a:rPr>
              <a:t>01</a:t>
            </a:r>
            <a:endParaRPr lang="en-US" sz="2200" dirty="0"/>
          </a:p>
        </p:txBody>
      </p:sp>
      <p:sp>
        <p:nvSpPr>
          <p:cNvPr id="13" name="Text 11"/>
          <p:cNvSpPr/>
          <p:nvPr/>
        </p:nvSpPr>
        <p:spPr>
          <a:xfrm>
            <a:off x="1554480" y="182880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Engagement Problem</a:t>
            </a:r>
            <a:endParaRPr lang="en-US" sz="1600" dirty="0"/>
          </a:p>
        </p:txBody>
      </p:sp>
      <p:sp>
        <p:nvSpPr>
          <p:cNvPr id="14" name="Text 12"/>
          <p:cNvSpPr/>
          <p:nvPr/>
        </p:nvSpPr>
        <p:spPr>
          <a:xfrm>
            <a:off x="1554480" y="2148840"/>
            <a:ext cx="10058400" cy="320040"/>
          </a:xfrm>
          <a:prstGeom prst="rect">
            <a:avLst/>
          </a:prstGeom>
          <a:noFill/>
          <a:ln/>
        </p:spPr>
        <p:txBody>
          <a:bodyPr wrap="square" lIns="0" tIns="0" rIns="0" bIns="0" rtlCol="0" anchor="ctr"/>
          <a:lstStyle/>
          <a:p>
            <a:pPr indent="0" marL="0">
              <a:buNone/>
            </a:pPr>
            <a:r>
              <a:rPr lang="en-US" sz="1200" dirty="0">
                <a:solidFill>
                  <a:srgbClr val="B7D7DC"/>
                </a:solidFill>
                <a:latin typeface="Calibri" pitchFamily="34" charset="0"/>
                <a:ea typeface="Calibri" pitchFamily="34" charset="-122"/>
                <a:cs typeface="Calibri" pitchFamily="34" charset="-120"/>
              </a:rPr>
              <a:t>Why MediaWave's current data fragmentation costs business value</a:t>
            </a:r>
            <a:endParaRPr lang="en-US" sz="1200" dirty="0"/>
          </a:p>
        </p:txBody>
      </p:sp>
      <p:sp>
        <p:nvSpPr>
          <p:cNvPr id="15" name="Text 13"/>
          <p:cNvSpPr/>
          <p:nvPr/>
        </p:nvSpPr>
        <p:spPr>
          <a:xfrm>
            <a:off x="640080" y="2514600"/>
            <a:ext cx="822960" cy="457200"/>
          </a:xfrm>
          <a:prstGeom prst="rect">
            <a:avLst/>
          </a:prstGeom>
          <a:noFill/>
          <a:ln/>
        </p:spPr>
        <p:txBody>
          <a:bodyPr wrap="square" lIns="0" tIns="0" rIns="0" bIns="0" rtlCol="0" anchor="ctr"/>
          <a:lstStyle/>
          <a:p>
            <a:pPr indent="0" marL="0">
              <a:buNone/>
            </a:pPr>
            <a:r>
              <a:rPr lang="en-US" sz="2200" b="1" dirty="0">
                <a:solidFill>
                  <a:srgbClr val="3FE0E0"/>
                </a:solidFill>
                <a:latin typeface="Calibri" pitchFamily="34" charset="0"/>
                <a:ea typeface="Calibri" pitchFamily="34" charset="-122"/>
                <a:cs typeface="Calibri" pitchFamily="34" charset="-120"/>
              </a:rPr>
              <a:t>02</a:t>
            </a:r>
            <a:endParaRPr lang="en-US" sz="2200" dirty="0"/>
          </a:p>
        </p:txBody>
      </p:sp>
      <p:sp>
        <p:nvSpPr>
          <p:cNvPr id="16" name="Text 14"/>
          <p:cNvSpPr/>
          <p:nvPr/>
        </p:nvSpPr>
        <p:spPr>
          <a:xfrm>
            <a:off x="1554480" y="251460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We Found</a:t>
            </a:r>
            <a:endParaRPr lang="en-US" sz="1600" dirty="0"/>
          </a:p>
        </p:txBody>
      </p:sp>
      <p:sp>
        <p:nvSpPr>
          <p:cNvPr id="17" name="Text 15"/>
          <p:cNvSpPr/>
          <p:nvPr/>
        </p:nvSpPr>
        <p:spPr>
          <a:xfrm>
            <a:off x="1554480" y="2834640"/>
            <a:ext cx="10058400" cy="320040"/>
          </a:xfrm>
          <a:prstGeom prst="rect">
            <a:avLst/>
          </a:prstGeom>
          <a:noFill/>
          <a:ln/>
        </p:spPr>
        <p:txBody>
          <a:bodyPr wrap="square" lIns="0" tIns="0" rIns="0" bIns="0" rtlCol="0" anchor="ctr"/>
          <a:lstStyle/>
          <a:p>
            <a:pPr indent="0" marL="0">
              <a:buNone/>
            </a:pPr>
            <a:r>
              <a:rPr lang="en-US" sz="1200" dirty="0">
                <a:solidFill>
                  <a:srgbClr val="B7D7DC"/>
                </a:solidFill>
                <a:latin typeface="Calibri" pitchFamily="34" charset="0"/>
                <a:ea typeface="Calibri" pitchFamily="34" charset="-122"/>
                <a:cs typeface="Calibri" pitchFamily="34" charset="-120"/>
              </a:rPr>
              <a:t>Three headline findings that warrant immediate executive attention</a:t>
            </a:r>
            <a:endParaRPr lang="en-US" sz="1200" dirty="0"/>
          </a:p>
        </p:txBody>
      </p:sp>
      <p:sp>
        <p:nvSpPr>
          <p:cNvPr id="18" name="Text 16"/>
          <p:cNvSpPr/>
          <p:nvPr/>
        </p:nvSpPr>
        <p:spPr>
          <a:xfrm>
            <a:off x="640080" y="3200400"/>
            <a:ext cx="822960" cy="457200"/>
          </a:xfrm>
          <a:prstGeom prst="rect">
            <a:avLst/>
          </a:prstGeom>
          <a:noFill/>
          <a:ln/>
        </p:spPr>
        <p:txBody>
          <a:bodyPr wrap="square" lIns="0" tIns="0" rIns="0" bIns="0" rtlCol="0" anchor="ctr"/>
          <a:lstStyle/>
          <a:p>
            <a:pPr indent="0" marL="0">
              <a:buNone/>
            </a:pPr>
            <a:r>
              <a:rPr lang="en-US" sz="2200" b="1" dirty="0">
                <a:solidFill>
                  <a:srgbClr val="3FE0E0"/>
                </a:solidFill>
                <a:latin typeface="Calibri" pitchFamily="34" charset="0"/>
                <a:ea typeface="Calibri" pitchFamily="34" charset="-122"/>
                <a:cs typeface="Calibri" pitchFamily="34" charset="-120"/>
              </a:rPr>
              <a:t>03</a:t>
            </a:r>
            <a:endParaRPr lang="en-US" sz="2200" dirty="0"/>
          </a:p>
        </p:txBody>
      </p:sp>
      <p:sp>
        <p:nvSpPr>
          <p:cNvPr id="19" name="Text 17"/>
          <p:cNvSpPr/>
          <p:nvPr/>
        </p:nvSpPr>
        <p:spPr>
          <a:xfrm>
            <a:off x="1554480" y="320040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How We Built the Answer</a:t>
            </a:r>
            <a:endParaRPr lang="en-US" sz="1600" dirty="0"/>
          </a:p>
        </p:txBody>
      </p:sp>
      <p:sp>
        <p:nvSpPr>
          <p:cNvPr id="20" name="Text 18"/>
          <p:cNvSpPr/>
          <p:nvPr/>
        </p:nvSpPr>
        <p:spPr>
          <a:xfrm>
            <a:off x="1554480" y="3520440"/>
            <a:ext cx="10058400" cy="320040"/>
          </a:xfrm>
          <a:prstGeom prst="rect">
            <a:avLst/>
          </a:prstGeom>
          <a:noFill/>
          <a:ln/>
        </p:spPr>
        <p:txBody>
          <a:bodyPr wrap="square" lIns="0" tIns="0" rIns="0" bIns="0" rtlCol="0" anchor="ctr"/>
          <a:lstStyle/>
          <a:p>
            <a:pPr indent="0" marL="0">
              <a:buNone/>
            </a:pPr>
            <a:r>
              <a:rPr lang="en-US" sz="1200" dirty="0">
                <a:solidFill>
                  <a:srgbClr val="B7D7DC"/>
                </a:solidFill>
                <a:latin typeface="Calibri" pitchFamily="34" charset="0"/>
                <a:ea typeface="Calibri" pitchFamily="34" charset="-122"/>
                <a:cs typeface="Calibri" pitchFamily="34" charset="-120"/>
              </a:rPr>
              <a:t>Architecture, technology choices, and production readiness</a:t>
            </a:r>
            <a:endParaRPr lang="en-US" sz="1200" dirty="0"/>
          </a:p>
        </p:txBody>
      </p:sp>
      <p:sp>
        <p:nvSpPr>
          <p:cNvPr id="21" name="Text 19"/>
          <p:cNvSpPr/>
          <p:nvPr/>
        </p:nvSpPr>
        <p:spPr>
          <a:xfrm>
            <a:off x="640080" y="3886200"/>
            <a:ext cx="822960" cy="457200"/>
          </a:xfrm>
          <a:prstGeom prst="rect">
            <a:avLst/>
          </a:prstGeom>
          <a:noFill/>
          <a:ln/>
        </p:spPr>
        <p:txBody>
          <a:bodyPr wrap="square" lIns="0" tIns="0" rIns="0" bIns="0" rtlCol="0" anchor="ctr"/>
          <a:lstStyle/>
          <a:p>
            <a:pPr indent="0" marL="0">
              <a:buNone/>
            </a:pPr>
            <a:r>
              <a:rPr lang="en-US" sz="2200" b="1" dirty="0">
                <a:solidFill>
                  <a:srgbClr val="3FE0E0"/>
                </a:solidFill>
                <a:latin typeface="Calibri" pitchFamily="34" charset="0"/>
                <a:ea typeface="Calibri" pitchFamily="34" charset="-122"/>
                <a:cs typeface="Calibri" pitchFamily="34" charset="-120"/>
              </a:rPr>
              <a:t>04</a:t>
            </a:r>
            <a:endParaRPr lang="en-US" sz="2200" dirty="0"/>
          </a:p>
        </p:txBody>
      </p:sp>
      <p:sp>
        <p:nvSpPr>
          <p:cNvPr id="22" name="Text 20"/>
          <p:cNvSpPr/>
          <p:nvPr/>
        </p:nvSpPr>
        <p:spPr>
          <a:xfrm>
            <a:off x="1554480" y="388620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the Data Reveals</a:t>
            </a:r>
            <a:endParaRPr lang="en-US" sz="1600" dirty="0"/>
          </a:p>
        </p:txBody>
      </p:sp>
      <p:sp>
        <p:nvSpPr>
          <p:cNvPr id="23" name="Text 21"/>
          <p:cNvSpPr/>
          <p:nvPr/>
        </p:nvSpPr>
        <p:spPr>
          <a:xfrm>
            <a:off x="1554480" y="4206240"/>
            <a:ext cx="10058400" cy="320040"/>
          </a:xfrm>
          <a:prstGeom prst="rect">
            <a:avLst/>
          </a:prstGeom>
          <a:noFill/>
          <a:ln/>
        </p:spPr>
        <p:txBody>
          <a:bodyPr wrap="square" lIns="0" tIns="0" rIns="0" bIns="0" rtlCol="0" anchor="ctr"/>
          <a:lstStyle/>
          <a:p>
            <a:pPr indent="0" marL="0">
              <a:buNone/>
            </a:pPr>
            <a:r>
              <a:rPr lang="en-US" sz="1200" dirty="0">
                <a:solidFill>
                  <a:srgbClr val="B7D7DC"/>
                </a:solidFill>
                <a:latin typeface="Calibri" pitchFamily="34" charset="0"/>
                <a:ea typeface="Calibri" pitchFamily="34" charset="-122"/>
                <a:cs typeface="Calibri" pitchFamily="34" charset="-120"/>
              </a:rPr>
              <a:t>Four specific insights with quantified business impact</a:t>
            </a:r>
            <a:endParaRPr lang="en-US" sz="1200" dirty="0"/>
          </a:p>
        </p:txBody>
      </p:sp>
      <p:sp>
        <p:nvSpPr>
          <p:cNvPr id="24" name="Text 22"/>
          <p:cNvSpPr/>
          <p:nvPr/>
        </p:nvSpPr>
        <p:spPr>
          <a:xfrm>
            <a:off x="640080" y="4572000"/>
            <a:ext cx="822960" cy="457200"/>
          </a:xfrm>
          <a:prstGeom prst="rect">
            <a:avLst/>
          </a:prstGeom>
          <a:noFill/>
          <a:ln/>
        </p:spPr>
        <p:txBody>
          <a:bodyPr wrap="square" lIns="0" tIns="0" rIns="0" bIns="0" rtlCol="0" anchor="ctr"/>
          <a:lstStyle/>
          <a:p>
            <a:pPr indent="0" marL="0">
              <a:buNone/>
            </a:pPr>
            <a:r>
              <a:rPr lang="en-US" sz="2200" b="1" dirty="0">
                <a:solidFill>
                  <a:srgbClr val="3FE0E0"/>
                </a:solidFill>
                <a:latin typeface="Calibri" pitchFamily="34" charset="0"/>
                <a:ea typeface="Calibri" pitchFamily="34" charset="-122"/>
                <a:cs typeface="Calibri" pitchFamily="34" charset="-120"/>
              </a:rPr>
              <a:t>05</a:t>
            </a:r>
            <a:endParaRPr lang="en-US" sz="2200" dirty="0"/>
          </a:p>
        </p:txBody>
      </p:sp>
      <p:sp>
        <p:nvSpPr>
          <p:cNvPr id="25" name="Text 23"/>
          <p:cNvSpPr/>
          <p:nvPr/>
        </p:nvSpPr>
        <p:spPr>
          <a:xfrm>
            <a:off x="1554480" y="457200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Recommended Actions</a:t>
            </a:r>
            <a:endParaRPr lang="en-US" sz="1600" dirty="0"/>
          </a:p>
        </p:txBody>
      </p:sp>
      <p:sp>
        <p:nvSpPr>
          <p:cNvPr id="26" name="Text 24"/>
          <p:cNvSpPr/>
          <p:nvPr/>
        </p:nvSpPr>
        <p:spPr>
          <a:xfrm>
            <a:off x="1554480" y="4892040"/>
            <a:ext cx="10058400" cy="320040"/>
          </a:xfrm>
          <a:prstGeom prst="rect">
            <a:avLst/>
          </a:prstGeom>
          <a:noFill/>
          <a:ln/>
        </p:spPr>
        <p:txBody>
          <a:bodyPr wrap="square" lIns="0" tIns="0" rIns="0" bIns="0" rtlCol="0" anchor="ctr"/>
          <a:lstStyle/>
          <a:p>
            <a:pPr indent="0" marL="0">
              <a:buNone/>
            </a:pPr>
            <a:r>
              <a:rPr lang="en-US" sz="1200" dirty="0">
                <a:solidFill>
                  <a:srgbClr val="B7D7DC"/>
                </a:solidFill>
                <a:latin typeface="Calibri" pitchFamily="34" charset="0"/>
                <a:ea typeface="Calibri" pitchFamily="34" charset="-122"/>
                <a:cs typeface="Calibri" pitchFamily="34" charset="-120"/>
              </a:rPr>
              <a:t>Prioritized roadmap with expected outcomes and time-to-implement</a:t>
            </a:r>
            <a:endParaRPr lang="en-US" sz="1200" dirty="0"/>
          </a:p>
        </p:txBody>
      </p:sp>
      <p:sp>
        <p:nvSpPr>
          <p:cNvPr id="27" name="Text 25"/>
          <p:cNvSpPr/>
          <p:nvPr/>
        </p:nvSpPr>
        <p:spPr>
          <a:xfrm>
            <a:off x="640080" y="5257800"/>
            <a:ext cx="822960" cy="457200"/>
          </a:xfrm>
          <a:prstGeom prst="rect">
            <a:avLst/>
          </a:prstGeom>
          <a:noFill/>
          <a:ln/>
        </p:spPr>
        <p:txBody>
          <a:bodyPr wrap="square" lIns="0" tIns="0" rIns="0" bIns="0" rtlCol="0" anchor="ctr"/>
          <a:lstStyle/>
          <a:p>
            <a:pPr indent="0" marL="0">
              <a:buNone/>
            </a:pPr>
            <a:r>
              <a:rPr lang="en-US" sz="2200" b="1" dirty="0">
                <a:solidFill>
                  <a:srgbClr val="3FE0E0"/>
                </a:solidFill>
                <a:latin typeface="Calibri" pitchFamily="34" charset="0"/>
                <a:ea typeface="Calibri" pitchFamily="34" charset="-122"/>
                <a:cs typeface="Calibri" pitchFamily="34" charset="-120"/>
              </a:rPr>
              <a:t>06</a:t>
            </a:r>
            <a:endParaRPr lang="en-US" sz="2200" dirty="0"/>
          </a:p>
        </p:txBody>
      </p:sp>
      <p:sp>
        <p:nvSpPr>
          <p:cNvPr id="28" name="Text 26"/>
          <p:cNvSpPr/>
          <p:nvPr/>
        </p:nvSpPr>
        <p:spPr>
          <a:xfrm>
            <a:off x="1554480" y="525780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Scaling the Solution</a:t>
            </a:r>
            <a:endParaRPr lang="en-US" sz="1600" dirty="0"/>
          </a:p>
        </p:txBody>
      </p:sp>
      <p:sp>
        <p:nvSpPr>
          <p:cNvPr id="29" name="Text 27"/>
          <p:cNvSpPr/>
          <p:nvPr/>
        </p:nvSpPr>
        <p:spPr>
          <a:xfrm>
            <a:off x="1554480" y="5577840"/>
            <a:ext cx="10058400" cy="320040"/>
          </a:xfrm>
          <a:prstGeom prst="rect">
            <a:avLst/>
          </a:prstGeom>
          <a:noFill/>
          <a:ln/>
        </p:spPr>
        <p:txBody>
          <a:bodyPr wrap="square" lIns="0" tIns="0" rIns="0" bIns="0" rtlCol="0" anchor="ctr"/>
          <a:lstStyle/>
          <a:p>
            <a:pPr indent="0" marL="0">
              <a:buNone/>
            </a:pPr>
            <a:r>
              <a:rPr lang="en-US" sz="1200" dirty="0">
                <a:solidFill>
                  <a:srgbClr val="B7D7DC"/>
                </a:solidFill>
                <a:latin typeface="Calibri" pitchFamily="34" charset="0"/>
                <a:ea typeface="Calibri" pitchFamily="34" charset="-122"/>
                <a:cs typeface="Calibri" pitchFamily="34" charset="-120"/>
              </a:rPr>
              <a:t>Path to 10× and 100× volume with cloud-equivalent services</a:t>
            </a:r>
            <a:endParaRPr lang="en-US" sz="1200" dirty="0"/>
          </a:p>
        </p:txBody>
      </p:sp>
      <p:sp>
        <p:nvSpPr>
          <p:cNvPr id="30" name="Text 28"/>
          <p:cNvSpPr/>
          <p:nvPr/>
        </p:nvSpPr>
        <p:spPr>
          <a:xfrm>
            <a:off x="11338560" y="6446520"/>
            <a:ext cx="640080" cy="274320"/>
          </a:xfrm>
          <a:prstGeom prst="rect">
            <a:avLst/>
          </a:prstGeom>
          <a:noFill/>
          <a:ln/>
        </p:spPr>
        <p:txBody>
          <a:bodyPr wrap="square" lIns="0" tIns="0" rIns="0" bIns="0" rtlCol="0" anchor="ctr"/>
          <a:lstStyle/>
          <a:p>
            <a:pPr algn="r" indent="0" marL="0">
              <a:buNone/>
            </a:pPr>
            <a:r>
              <a:rPr lang="en-US" sz="900" dirty="0">
                <a:solidFill>
                  <a:srgbClr val="7FA8AE"/>
                </a:solidFill>
                <a:latin typeface="Calibri" pitchFamily="34" charset="0"/>
                <a:ea typeface="Calibri" pitchFamily="34" charset="-122"/>
                <a:cs typeface="Calibri" pitchFamily="34" charset="-120"/>
              </a:rPr>
              <a:t>03 / 22</a:t>
            </a:r>
            <a:endParaRPr lang="en-US" sz="900" dirty="0"/>
          </a:p>
        </p:txBody>
      </p:sp>
      <p:sp>
        <p:nvSpPr>
          <p:cNvPr id="31" name="Text 29"/>
          <p:cNvSpPr/>
          <p:nvPr/>
        </p:nvSpPr>
        <p:spPr>
          <a:xfrm>
            <a:off x="365760" y="6446520"/>
            <a:ext cx="7315200" cy="274320"/>
          </a:xfrm>
          <a:prstGeom prst="rect">
            <a:avLst/>
          </a:prstGeom>
          <a:noFill/>
          <a:ln/>
        </p:spPr>
        <p:txBody>
          <a:bodyPr wrap="square" lIns="0" tIns="0" rIns="0" bIns="0" rtlCol="0" anchor="ctr"/>
          <a:lstStyle/>
          <a:p>
            <a:pPr algn="l" indent="0" marL="0">
              <a:buNone/>
            </a:pPr>
            <a:r>
              <a:rPr lang="en-US" sz="900" spc="200" kern="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731520" y="2377440"/>
            <a:ext cx="1828800" cy="1645920"/>
          </a:xfrm>
          <a:prstGeom prst="rect">
            <a:avLst/>
          </a:prstGeom>
          <a:noFill/>
          <a:ln/>
        </p:spPr>
        <p:txBody>
          <a:bodyPr wrap="square" lIns="0" tIns="0" rIns="0" bIns="0" rtlCol="0" anchor="ctr"/>
          <a:lstStyle/>
          <a:p>
            <a:pPr algn="l" indent="0" marL="0">
              <a:buNone/>
            </a:pPr>
            <a:r>
              <a:rPr lang="en-US" sz="10000" b="1" dirty="0">
                <a:solidFill>
                  <a:srgbClr val="FFFFFF"/>
                </a:solidFill>
                <a:latin typeface="Calibri" pitchFamily="34" charset="0"/>
                <a:ea typeface="Calibri" pitchFamily="34" charset="-122"/>
                <a:cs typeface="Calibri" pitchFamily="34" charset="-120"/>
              </a:rPr>
              <a:t>01</a:t>
            </a:r>
            <a:endParaRPr lang="en-US" sz="10000" dirty="0"/>
          </a:p>
        </p:txBody>
      </p:sp>
      <p:sp>
        <p:nvSpPr>
          <p:cNvPr id="10" name="Shape 8"/>
          <p:cNvSpPr/>
          <p:nvPr/>
        </p:nvSpPr>
        <p:spPr>
          <a:xfrm>
            <a:off x="2651760" y="2606040"/>
            <a:ext cx="0" cy="1371600"/>
          </a:xfrm>
          <a:prstGeom prst="line">
            <a:avLst/>
          </a:prstGeom>
          <a:noFill/>
          <a:ln w="25400">
            <a:solidFill>
              <a:srgbClr val="3FE0E0"/>
            </a:solidFill>
            <a:prstDash val="solid"/>
          </a:ln>
        </p:spPr>
      </p:sp>
      <p:sp>
        <p:nvSpPr>
          <p:cNvPr id="11" name="Text 9"/>
          <p:cNvSpPr/>
          <p:nvPr/>
        </p:nvSpPr>
        <p:spPr>
          <a:xfrm>
            <a:off x="2926080" y="2468880"/>
            <a:ext cx="777240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The Engagement Problem</a:t>
            </a:r>
            <a:endParaRPr lang="en-US" sz="4400" dirty="0"/>
          </a:p>
        </p:txBody>
      </p:sp>
      <p:sp>
        <p:nvSpPr>
          <p:cNvPr id="12" name="Text 10"/>
          <p:cNvSpPr/>
          <p:nvPr/>
        </p:nvSpPr>
        <p:spPr>
          <a:xfrm>
            <a:off x="2926080" y="3520440"/>
            <a:ext cx="7772400" cy="457200"/>
          </a:xfrm>
          <a:prstGeom prst="rect">
            <a:avLst/>
          </a:prstGeom>
          <a:noFill/>
          <a:ln/>
        </p:spPr>
        <p:txBody>
          <a:bodyPr wrap="square" lIns="0" tIns="0" rIns="0" bIns="0" rtlCol="0" anchor="ctr"/>
          <a:lstStyle/>
          <a:p>
            <a:pPr indent="0" marL="0">
              <a:buNone/>
            </a:pPr>
            <a:r>
              <a:rPr lang="en-US" sz="1600" i="1" spc="200" kern="0" dirty="0">
                <a:solidFill>
                  <a:srgbClr val="3FE0E0"/>
                </a:solidFill>
                <a:latin typeface="Calibri" pitchFamily="34" charset="0"/>
                <a:ea typeface="Calibri" pitchFamily="34" charset="-122"/>
                <a:cs typeface="Calibri" pitchFamily="34" charset="-120"/>
              </a:rPr>
              <a:t>WHY MEDIAWAVE NEEDS A UNIFIED DATA PLATFORM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457200" y="365760"/>
            <a:ext cx="1124712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Five data sources. The questions they should answer cross every boundary.</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indent="0" marL="0">
              <a:buNone/>
            </a:pPr>
            <a:r>
              <a:rPr lang="en-US" sz="1400" i="1" spc="100" kern="0" dirty="0">
                <a:solidFill>
                  <a:srgbClr val="3FE0E0"/>
                </a:solidFill>
                <a:latin typeface="Calibri" pitchFamily="34" charset="0"/>
                <a:ea typeface="Calibri" pitchFamily="34" charset="-122"/>
                <a:cs typeface="Calibri" pitchFamily="34" charset="-120"/>
              </a:rPr>
              <a:t>MediaWave's current data architecture forces analysts to ignore connections that matter most</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sp>
      <p:sp>
        <p:nvSpPr>
          <p:cNvPr id="12" name="Text 10"/>
          <p:cNvSpPr/>
          <p:nvPr/>
        </p:nvSpPr>
        <p:spPr>
          <a:xfrm>
            <a:off x="457200" y="1691640"/>
            <a:ext cx="5029200" cy="274320"/>
          </a:xfrm>
          <a:prstGeom prst="rect">
            <a:avLst/>
          </a:prstGeom>
          <a:noFill/>
          <a:ln/>
        </p:spPr>
        <p:txBody>
          <a:bodyPr wrap="square" lIns="0" tIns="0" rIns="0" bIns="0" rtlCol="0" anchor="ctr"/>
          <a:lstStyle/>
          <a:p>
            <a:pPr indent="0" marL="0">
              <a:buNone/>
            </a:pPr>
            <a:r>
              <a:rPr lang="en-US" sz="1100" spc="300" kern="0" dirty="0">
                <a:solidFill>
                  <a:srgbClr val="3FE0E0"/>
                </a:solidFill>
                <a:latin typeface="Calibri" pitchFamily="34" charset="0"/>
                <a:ea typeface="Calibri" pitchFamily="34" charset="-122"/>
                <a:cs typeface="Calibri" pitchFamily="34" charset="-120"/>
              </a:rPr>
              <a:t>DATA SOURCES TODAY</a:t>
            </a:r>
            <a:endParaRPr lang="en-US" sz="1100" dirty="0"/>
          </a:p>
        </p:txBody>
      </p:sp>
      <p:sp>
        <p:nvSpPr>
          <p:cNvPr id="13" name="Shape 11"/>
          <p:cNvSpPr/>
          <p:nvPr/>
        </p:nvSpPr>
        <p:spPr>
          <a:xfrm>
            <a:off x="457200" y="2057400"/>
            <a:ext cx="5029200" cy="411480"/>
          </a:xfrm>
          <a:prstGeom prst="rect">
            <a:avLst/>
          </a:prstGeom>
          <a:solidFill>
            <a:srgbClr val="0A4250"/>
          </a:solidFill>
          <a:ln w="12700">
            <a:solidFill>
              <a:srgbClr val="1E5A6B"/>
            </a:solidFill>
            <a:prstDash val="solid"/>
          </a:ln>
        </p:spPr>
      </p:sp>
      <p:sp>
        <p:nvSpPr>
          <p:cNvPr id="14" name="Text 12"/>
          <p:cNvSpPr/>
          <p:nvPr/>
        </p:nvSpPr>
        <p:spPr>
          <a:xfrm>
            <a:off x="640080" y="2057400"/>
            <a:ext cx="4846320" cy="41148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user-profiles.csv.gz</a:t>
            </a:r>
            <a:endParaRPr lang="en-US" sz="1300" dirty="0"/>
          </a:p>
        </p:txBody>
      </p:sp>
      <p:sp>
        <p:nvSpPr>
          <p:cNvPr id="15" name="Shape 13"/>
          <p:cNvSpPr/>
          <p:nvPr/>
        </p:nvSpPr>
        <p:spPr>
          <a:xfrm>
            <a:off x="457200" y="2560320"/>
            <a:ext cx="5029200" cy="411480"/>
          </a:xfrm>
          <a:prstGeom prst="rect">
            <a:avLst/>
          </a:prstGeom>
          <a:solidFill>
            <a:srgbClr val="0A4250"/>
          </a:solidFill>
          <a:ln w="12700">
            <a:solidFill>
              <a:srgbClr val="1E5A6B"/>
            </a:solidFill>
            <a:prstDash val="solid"/>
          </a:ln>
        </p:spPr>
      </p:sp>
      <p:sp>
        <p:nvSpPr>
          <p:cNvPr id="16" name="Text 14"/>
          <p:cNvSpPr/>
          <p:nvPr/>
        </p:nvSpPr>
        <p:spPr>
          <a:xfrm>
            <a:off x="640080" y="2560320"/>
            <a:ext cx="4846320" cy="41148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viewing-history.csv.gz</a:t>
            </a:r>
            <a:endParaRPr lang="en-US" sz="1300" dirty="0"/>
          </a:p>
        </p:txBody>
      </p:sp>
      <p:sp>
        <p:nvSpPr>
          <p:cNvPr id="17" name="Shape 15"/>
          <p:cNvSpPr/>
          <p:nvPr/>
        </p:nvSpPr>
        <p:spPr>
          <a:xfrm>
            <a:off x="457200" y="3063240"/>
            <a:ext cx="5029200" cy="411480"/>
          </a:xfrm>
          <a:prstGeom prst="rect">
            <a:avLst/>
          </a:prstGeom>
          <a:solidFill>
            <a:srgbClr val="0A4250"/>
          </a:solidFill>
          <a:ln w="12700">
            <a:solidFill>
              <a:srgbClr val="1E5A6B"/>
            </a:solidFill>
            <a:prstDash val="solid"/>
          </a:ln>
        </p:spPr>
      </p:sp>
      <p:sp>
        <p:nvSpPr>
          <p:cNvPr id="18" name="Text 16"/>
          <p:cNvSpPr/>
          <p:nvPr/>
        </p:nvSpPr>
        <p:spPr>
          <a:xfrm>
            <a:off x="640080" y="3063240"/>
            <a:ext cx="4846320" cy="41148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content-catalog.json.gz</a:t>
            </a:r>
            <a:endParaRPr lang="en-US" sz="1300" dirty="0"/>
          </a:p>
        </p:txBody>
      </p:sp>
      <p:sp>
        <p:nvSpPr>
          <p:cNvPr id="19" name="Shape 17"/>
          <p:cNvSpPr/>
          <p:nvPr/>
        </p:nvSpPr>
        <p:spPr>
          <a:xfrm>
            <a:off x="457200" y="3566160"/>
            <a:ext cx="5029200" cy="411480"/>
          </a:xfrm>
          <a:prstGeom prst="rect">
            <a:avLst/>
          </a:prstGeom>
          <a:solidFill>
            <a:srgbClr val="0A4250"/>
          </a:solidFill>
          <a:ln w="12700">
            <a:solidFill>
              <a:srgbClr val="1E5A6B"/>
            </a:solidFill>
            <a:prstDash val="solid"/>
          </a:ln>
        </p:spPr>
      </p:sp>
      <p:sp>
        <p:nvSpPr>
          <p:cNvPr id="20" name="Text 18"/>
          <p:cNvSpPr/>
          <p:nvPr/>
        </p:nvSpPr>
        <p:spPr>
          <a:xfrm>
            <a:off x="640080" y="3566160"/>
            <a:ext cx="4846320" cy="41148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user-interactions.json.gz</a:t>
            </a:r>
            <a:endParaRPr lang="en-US" sz="1300" dirty="0"/>
          </a:p>
        </p:txBody>
      </p:sp>
      <p:sp>
        <p:nvSpPr>
          <p:cNvPr id="21" name="Shape 19"/>
          <p:cNvSpPr/>
          <p:nvPr/>
        </p:nvSpPr>
        <p:spPr>
          <a:xfrm>
            <a:off x="457200" y="4069080"/>
            <a:ext cx="5029200" cy="411480"/>
          </a:xfrm>
          <a:prstGeom prst="rect">
            <a:avLst/>
          </a:prstGeom>
          <a:solidFill>
            <a:srgbClr val="0A4250"/>
          </a:solidFill>
          <a:ln w="12700">
            <a:solidFill>
              <a:srgbClr val="1E5A6B"/>
            </a:solidFill>
            <a:prstDash val="solid"/>
          </a:ln>
        </p:spPr>
      </p:sp>
      <p:sp>
        <p:nvSpPr>
          <p:cNvPr id="22" name="Text 20"/>
          <p:cNvSpPr/>
          <p:nvPr/>
        </p:nvSpPr>
        <p:spPr>
          <a:xfrm>
            <a:off x="640080" y="4069080"/>
            <a:ext cx="4846320" cy="41148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streaming-quality.csv.gz</a:t>
            </a:r>
            <a:endParaRPr lang="en-US" sz="1300" dirty="0"/>
          </a:p>
        </p:txBody>
      </p:sp>
      <p:sp>
        <p:nvSpPr>
          <p:cNvPr id="23" name="Text 21"/>
          <p:cNvSpPr/>
          <p:nvPr/>
        </p:nvSpPr>
        <p:spPr>
          <a:xfrm>
            <a:off x="6126480" y="1691640"/>
            <a:ext cx="5486400" cy="274320"/>
          </a:xfrm>
          <a:prstGeom prst="rect">
            <a:avLst/>
          </a:prstGeom>
          <a:noFill/>
          <a:ln/>
        </p:spPr>
        <p:txBody>
          <a:bodyPr wrap="square" lIns="0" tIns="0" rIns="0" bIns="0" rtlCol="0" anchor="ctr"/>
          <a:lstStyle/>
          <a:p>
            <a:pPr indent="0" marL="0">
              <a:buNone/>
            </a:pPr>
            <a:r>
              <a:rPr lang="en-US" sz="1100" spc="300" kern="0" dirty="0">
                <a:solidFill>
                  <a:srgbClr val="3FE0E0"/>
                </a:solidFill>
                <a:latin typeface="Calibri" pitchFamily="34" charset="0"/>
                <a:ea typeface="Calibri" pitchFamily="34" charset="-122"/>
                <a:cs typeface="Calibri" pitchFamily="34" charset="-120"/>
              </a:rPr>
              <a:t>QUESTIONS THAT GO UNANSWERED</a:t>
            </a:r>
            <a:endParaRPr lang="en-US" sz="1100" dirty="0"/>
          </a:p>
        </p:txBody>
      </p:sp>
      <p:sp>
        <p:nvSpPr>
          <p:cNvPr id="24" name="Shape 22"/>
          <p:cNvSpPr/>
          <p:nvPr/>
        </p:nvSpPr>
        <p:spPr>
          <a:xfrm>
            <a:off x="6126480" y="2057400"/>
            <a:ext cx="5486400" cy="868680"/>
          </a:xfrm>
          <a:prstGeom prst="rect">
            <a:avLst/>
          </a:prstGeom>
          <a:solidFill>
            <a:srgbClr val="0A4250"/>
          </a:solidFill>
          <a:ln w="12700">
            <a:solidFill>
              <a:srgbClr val="1E5A6B"/>
            </a:solidFill>
            <a:prstDash val="solid"/>
          </a:ln>
        </p:spPr>
      </p:sp>
      <p:sp>
        <p:nvSpPr>
          <p:cNvPr id="25" name="Shape 23"/>
          <p:cNvSpPr/>
          <p:nvPr/>
        </p:nvSpPr>
        <p:spPr>
          <a:xfrm>
            <a:off x="6126480" y="2057400"/>
            <a:ext cx="73152" cy="868680"/>
          </a:xfrm>
          <a:prstGeom prst="rect">
            <a:avLst/>
          </a:prstGeom>
          <a:solidFill>
            <a:srgbClr val="E8654A"/>
          </a:solidFill>
          <a:ln w="12700">
            <a:solidFill>
              <a:srgbClr val="E8654A"/>
            </a:solidFill>
            <a:prstDash val="solid"/>
          </a:ln>
        </p:spPr>
      </p:sp>
      <p:sp>
        <p:nvSpPr>
          <p:cNvPr id="26" name="Text 24"/>
          <p:cNvSpPr/>
          <p:nvPr/>
        </p:nvSpPr>
        <p:spPr>
          <a:xfrm>
            <a:off x="6355080" y="2103120"/>
            <a:ext cx="5212080" cy="45720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"Which titles cost more in licensing than they earn in viewing hours?"</a:t>
            </a:r>
            <a:endParaRPr lang="en-US" sz="1300" dirty="0"/>
          </a:p>
        </p:txBody>
      </p:sp>
      <p:sp>
        <p:nvSpPr>
          <p:cNvPr id="27" name="Text 25"/>
          <p:cNvSpPr/>
          <p:nvPr/>
        </p:nvSpPr>
        <p:spPr>
          <a:xfrm>
            <a:off x="6355080" y="2606040"/>
            <a:ext cx="5212080" cy="274320"/>
          </a:xfrm>
          <a:prstGeom prst="rect">
            <a:avLst/>
          </a:prstGeom>
          <a:noFill/>
          <a:ln/>
        </p:spPr>
        <p:txBody>
          <a:bodyPr wrap="square" lIns="0" tIns="0" rIns="0" bIns="0" rtlCol="0" anchor="ctr"/>
          <a:lstStyle/>
          <a:p>
            <a:pPr indent="0" marL="0">
              <a:buNone/>
            </a:pPr>
            <a:r>
              <a:rPr lang="en-US" sz="1000" spc="200" kern="0" dirty="0">
                <a:solidFill>
                  <a:srgbClr val="E8654A"/>
                </a:solidFill>
                <a:latin typeface="Calibri" pitchFamily="34" charset="0"/>
                <a:ea typeface="Calibri" pitchFamily="34" charset="-122"/>
                <a:cs typeface="Calibri" pitchFamily="34" charset="-120"/>
              </a:rPr>
              <a:t>BUSINESS RISK · Annual content waste</a:t>
            </a:r>
            <a:endParaRPr lang="en-US" sz="1000" dirty="0"/>
          </a:p>
        </p:txBody>
      </p:sp>
      <p:sp>
        <p:nvSpPr>
          <p:cNvPr id="28" name="Shape 26"/>
          <p:cNvSpPr/>
          <p:nvPr/>
        </p:nvSpPr>
        <p:spPr>
          <a:xfrm>
            <a:off x="6126480" y="3063240"/>
            <a:ext cx="5486400" cy="868680"/>
          </a:xfrm>
          <a:prstGeom prst="rect">
            <a:avLst/>
          </a:prstGeom>
          <a:solidFill>
            <a:srgbClr val="0A4250"/>
          </a:solidFill>
          <a:ln w="12700">
            <a:solidFill>
              <a:srgbClr val="1E5A6B"/>
            </a:solidFill>
            <a:prstDash val="solid"/>
          </a:ln>
        </p:spPr>
      </p:sp>
      <p:sp>
        <p:nvSpPr>
          <p:cNvPr id="29" name="Shape 27"/>
          <p:cNvSpPr/>
          <p:nvPr/>
        </p:nvSpPr>
        <p:spPr>
          <a:xfrm>
            <a:off x="6126480" y="3063240"/>
            <a:ext cx="73152" cy="868680"/>
          </a:xfrm>
          <a:prstGeom prst="rect">
            <a:avLst/>
          </a:prstGeom>
          <a:solidFill>
            <a:srgbClr val="E8654A"/>
          </a:solidFill>
          <a:ln w="12700">
            <a:solidFill>
              <a:srgbClr val="E8654A"/>
            </a:solidFill>
            <a:prstDash val="solid"/>
          </a:ln>
        </p:spPr>
      </p:sp>
      <p:sp>
        <p:nvSpPr>
          <p:cNvPr id="30" name="Text 28"/>
          <p:cNvSpPr/>
          <p:nvPr/>
        </p:nvSpPr>
        <p:spPr>
          <a:xfrm>
            <a:off x="6355080" y="3108960"/>
            <a:ext cx="5212080" cy="45720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"Does buffering rate predict cancellation among Premium users?"</a:t>
            </a:r>
            <a:endParaRPr lang="en-US" sz="1300" dirty="0"/>
          </a:p>
        </p:txBody>
      </p:sp>
      <p:sp>
        <p:nvSpPr>
          <p:cNvPr id="31" name="Text 29"/>
          <p:cNvSpPr/>
          <p:nvPr/>
        </p:nvSpPr>
        <p:spPr>
          <a:xfrm>
            <a:off x="6355080" y="3611880"/>
            <a:ext cx="5212080" cy="274320"/>
          </a:xfrm>
          <a:prstGeom prst="rect">
            <a:avLst/>
          </a:prstGeom>
          <a:noFill/>
          <a:ln/>
        </p:spPr>
        <p:txBody>
          <a:bodyPr wrap="square" lIns="0" tIns="0" rIns="0" bIns="0" rtlCol="0" anchor="ctr"/>
          <a:lstStyle/>
          <a:p>
            <a:pPr indent="0" marL="0">
              <a:buNone/>
            </a:pPr>
            <a:r>
              <a:rPr lang="en-US" sz="1000" spc="200" kern="0" dirty="0">
                <a:solidFill>
                  <a:srgbClr val="E8654A"/>
                </a:solidFill>
                <a:latin typeface="Calibri" pitchFamily="34" charset="0"/>
                <a:ea typeface="Calibri" pitchFamily="34" charset="-122"/>
                <a:cs typeface="Calibri" pitchFamily="34" charset="-120"/>
              </a:rPr>
              <a:t>BUSINESS RISK · Avoidable churn</a:t>
            </a:r>
            <a:endParaRPr lang="en-US" sz="1000" dirty="0"/>
          </a:p>
        </p:txBody>
      </p:sp>
      <p:sp>
        <p:nvSpPr>
          <p:cNvPr id="32" name="Shape 30"/>
          <p:cNvSpPr/>
          <p:nvPr/>
        </p:nvSpPr>
        <p:spPr>
          <a:xfrm>
            <a:off x="6126480" y="4069080"/>
            <a:ext cx="5486400" cy="868680"/>
          </a:xfrm>
          <a:prstGeom prst="rect">
            <a:avLst/>
          </a:prstGeom>
          <a:solidFill>
            <a:srgbClr val="0A4250"/>
          </a:solidFill>
          <a:ln w="12700">
            <a:solidFill>
              <a:srgbClr val="1E5A6B"/>
            </a:solidFill>
            <a:prstDash val="solid"/>
          </a:ln>
        </p:spPr>
      </p:sp>
      <p:sp>
        <p:nvSpPr>
          <p:cNvPr id="33" name="Shape 31"/>
          <p:cNvSpPr/>
          <p:nvPr/>
        </p:nvSpPr>
        <p:spPr>
          <a:xfrm>
            <a:off x="6126480" y="4069080"/>
            <a:ext cx="73152" cy="868680"/>
          </a:xfrm>
          <a:prstGeom prst="rect">
            <a:avLst/>
          </a:prstGeom>
          <a:solidFill>
            <a:srgbClr val="E8654A"/>
          </a:solidFill>
          <a:ln w="12700">
            <a:solidFill>
              <a:srgbClr val="E8654A"/>
            </a:solidFill>
            <a:prstDash val="solid"/>
          </a:ln>
        </p:spPr>
      </p:sp>
      <p:sp>
        <p:nvSpPr>
          <p:cNvPr id="34" name="Text 32"/>
          <p:cNvSpPr/>
          <p:nvPr/>
        </p:nvSpPr>
        <p:spPr>
          <a:xfrm>
            <a:off x="6355080" y="4114800"/>
            <a:ext cx="5212080" cy="45720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"Which engagement signals appear before a user disengages?"</a:t>
            </a:r>
            <a:endParaRPr lang="en-US" sz="1300" dirty="0"/>
          </a:p>
        </p:txBody>
      </p:sp>
      <p:sp>
        <p:nvSpPr>
          <p:cNvPr id="35" name="Text 33"/>
          <p:cNvSpPr/>
          <p:nvPr/>
        </p:nvSpPr>
        <p:spPr>
          <a:xfrm>
            <a:off x="6355080" y="4617720"/>
            <a:ext cx="5212080" cy="274320"/>
          </a:xfrm>
          <a:prstGeom prst="rect">
            <a:avLst/>
          </a:prstGeom>
          <a:noFill/>
          <a:ln/>
        </p:spPr>
        <p:txBody>
          <a:bodyPr wrap="square" lIns="0" tIns="0" rIns="0" bIns="0" rtlCol="0" anchor="ctr"/>
          <a:lstStyle/>
          <a:p>
            <a:pPr indent="0" marL="0">
              <a:buNone/>
            </a:pPr>
            <a:r>
              <a:rPr lang="en-US" sz="1000" spc="200" kern="0" dirty="0">
                <a:solidFill>
                  <a:srgbClr val="E8654A"/>
                </a:solidFill>
                <a:latin typeface="Calibri" pitchFamily="34" charset="0"/>
                <a:ea typeface="Calibri" pitchFamily="34" charset="-122"/>
                <a:cs typeface="Calibri" pitchFamily="34" charset="-120"/>
              </a:rPr>
              <a:t>BUSINESS RISK · Late retention response</a:t>
            </a:r>
            <a:endParaRPr lang="en-US" sz="1000" dirty="0"/>
          </a:p>
        </p:txBody>
      </p:sp>
      <p:sp>
        <p:nvSpPr>
          <p:cNvPr id="36" name="Shape 34"/>
          <p:cNvSpPr/>
          <p:nvPr/>
        </p:nvSpPr>
        <p:spPr>
          <a:xfrm>
            <a:off x="457200" y="5440680"/>
            <a:ext cx="11247120" cy="640080"/>
          </a:xfrm>
          <a:prstGeom prst="rect">
            <a:avLst/>
          </a:prstGeom>
          <a:solidFill>
            <a:srgbClr val="0A4250"/>
          </a:solidFill>
          <a:ln w="25400">
            <a:solidFill>
              <a:srgbClr val="3FE0E0"/>
            </a:solidFill>
            <a:prstDash val="solid"/>
          </a:ln>
        </p:spPr>
      </p:sp>
      <p:sp>
        <p:nvSpPr>
          <p:cNvPr id="37" name="Text 35"/>
          <p:cNvSpPr/>
          <p:nvPr/>
        </p:nvSpPr>
        <p:spPr>
          <a:xfrm>
            <a:off x="640080" y="5440680"/>
            <a:ext cx="1088136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MediaWave is not data-poor. It is integration-poor. Every cross-source question represents a recurring blind spot.</a:t>
            </a:r>
            <a:endParaRPr lang="en-US" sz="1400" dirty="0"/>
          </a:p>
        </p:txBody>
      </p:sp>
      <p:sp>
        <p:nvSpPr>
          <p:cNvPr id="38" name="Text 36"/>
          <p:cNvSpPr/>
          <p:nvPr/>
        </p:nvSpPr>
        <p:spPr>
          <a:xfrm>
            <a:off x="11338560" y="6446520"/>
            <a:ext cx="640080" cy="274320"/>
          </a:xfrm>
          <a:prstGeom prst="rect">
            <a:avLst/>
          </a:prstGeom>
          <a:noFill/>
          <a:ln/>
        </p:spPr>
        <p:txBody>
          <a:bodyPr wrap="square" lIns="0" tIns="0" rIns="0" bIns="0" rtlCol="0" anchor="ctr"/>
          <a:lstStyle/>
          <a:p>
            <a:pPr algn="r" indent="0" marL="0">
              <a:buNone/>
            </a:pPr>
            <a:r>
              <a:rPr lang="en-US" sz="900" dirty="0">
                <a:solidFill>
                  <a:srgbClr val="7FA8AE"/>
                </a:solidFill>
                <a:latin typeface="Calibri" pitchFamily="34" charset="0"/>
                <a:ea typeface="Calibri" pitchFamily="34" charset="-122"/>
                <a:cs typeface="Calibri" pitchFamily="34" charset="-120"/>
              </a:rPr>
              <a:t>05 / 22</a:t>
            </a:r>
            <a:endParaRPr lang="en-US" sz="900" dirty="0"/>
          </a:p>
        </p:txBody>
      </p:sp>
      <p:sp>
        <p:nvSpPr>
          <p:cNvPr id="39" name="Text 37"/>
          <p:cNvSpPr/>
          <p:nvPr/>
        </p:nvSpPr>
        <p:spPr>
          <a:xfrm>
            <a:off x="365760" y="6446520"/>
            <a:ext cx="7315200" cy="274320"/>
          </a:xfrm>
          <a:prstGeom prst="rect">
            <a:avLst/>
          </a:prstGeom>
          <a:noFill/>
          <a:ln/>
        </p:spPr>
        <p:txBody>
          <a:bodyPr wrap="square" lIns="0" tIns="0" rIns="0" bIns="0" rtlCol="0" anchor="ctr"/>
          <a:lstStyle/>
          <a:p>
            <a:pPr algn="l" indent="0" marL="0">
              <a:buNone/>
            </a:pPr>
            <a:r>
              <a:rPr lang="en-US" sz="900" spc="200" kern="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731520" y="2377440"/>
            <a:ext cx="1828800" cy="1645920"/>
          </a:xfrm>
          <a:prstGeom prst="rect">
            <a:avLst/>
          </a:prstGeom>
          <a:noFill/>
          <a:ln/>
        </p:spPr>
        <p:txBody>
          <a:bodyPr wrap="square" lIns="0" tIns="0" rIns="0" bIns="0" rtlCol="0" anchor="ctr"/>
          <a:lstStyle/>
          <a:p>
            <a:pPr algn="l" indent="0" marL="0">
              <a:buNone/>
            </a:pPr>
            <a:r>
              <a:rPr lang="en-US" sz="10000" b="1" dirty="0">
                <a:solidFill>
                  <a:srgbClr val="FFFFFF"/>
                </a:solidFill>
                <a:latin typeface="Calibri" pitchFamily="34" charset="0"/>
                <a:ea typeface="Calibri" pitchFamily="34" charset="-122"/>
                <a:cs typeface="Calibri" pitchFamily="34" charset="-120"/>
              </a:rPr>
              <a:t>02</a:t>
            </a:r>
            <a:endParaRPr lang="en-US" sz="10000" dirty="0"/>
          </a:p>
        </p:txBody>
      </p:sp>
      <p:sp>
        <p:nvSpPr>
          <p:cNvPr id="10" name="Shape 8"/>
          <p:cNvSpPr/>
          <p:nvPr/>
        </p:nvSpPr>
        <p:spPr>
          <a:xfrm>
            <a:off x="2651760" y="2606040"/>
            <a:ext cx="0" cy="1371600"/>
          </a:xfrm>
          <a:prstGeom prst="line">
            <a:avLst/>
          </a:prstGeom>
          <a:noFill/>
          <a:ln w="25400">
            <a:solidFill>
              <a:srgbClr val="3FE0E0"/>
            </a:solidFill>
            <a:prstDash val="solid"/>
          </a:ln>
        </p:spPr>
      </p:sp>
      <p:sp>
        <p:nvSpPr>
          <p:cNvPr id="11" name="Text 9"/>
          <p:cNvSpPr/>
          <p:nvPr/>
        </p:nvSpPr>
        <p:spPr>
          <a:xfrm>
            <a:off x="2926080" y="2468880"/>
            <a:ext cx="777240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What We Found</a:t>
            </a:r>
            <a:endParaRPr lang="en-US" sz="4400" dirty="0"/>
          </a:p>
        </p:txBody>
      </p:sp>
      <p:sp>
        <p:nvSpPr>
          <p:cNvPr id="12" name="Text 10"/>
          <p:cNvSpPr/>
          <p:nvPr/>
        </p:nvSpPr>
        <p:spPr>
          <a:xfrm>
            <a:off x="2926080" y="3520440"/>
            <a:ext cx="7772400" cy="457200"/>
          </a:xfrm>
          <a:prstGeom prst="rect">
            <a:avLst/>
          </a:prstGeom>
          <a:noFill/>
          <a:ln/>
        </p:spPr>
        <p:txBody>
          <a:bodyPr wrap="square" lIns="0" tIns="0" rIns="0" bIns="0" rtlCol="0" anchor="ctr"/>
          <a:lstStyle/>
          <a:p>
            <a:pPr indent="0" marL="0">
              <a:buNone/>
            </a:pPr>
            <a:r>
              <a:rPr lang="en-US" sz="1600" i="1" spc="200" kern="0" dirty="0">
                <a:solidFill>
                  <a:srgbClr val="3FE0E0"/>
                </a:solidFill>
                <a:latin typeface="Calibri" pitchFamily="34" charset="0"/>
                <a:ea typeface="Calibri" pitchFamily="34" charset="-122"/>
                <a:cs typeface="Calibri" pitchFamily="34" charset="-120"/>
              </a:rPr>
              <a:t>THREE FINDINGS THAT WARRANT IMMEDIATE ATTENTION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457200" y="365760"/>
            <a:ext cx="1124712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Three findings. Each maps to a specific recommendation.</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indent="0" marL="0">
              <a:buNone/>
            </a:pPr>
            <a:r>
              <a:rPr lang="en-US" sz="1400" i="1" spc="100" kern="0" dirty="0">
                <a:solidFill>
                  <a:srgbClr val="3FE0E0"/>
                </a:solidFill>
                <a:latin typeface="Calibri" pitchFamily="34" charset="0"/>
                <a:ea typeface="Calibri" pitchFamily="34" charset="-122"/>
                <a:cs typeface="Calibri" pitchFamily="34" charset="-120"/>
              </a:rPr>
              <a:t>Numbers shown are placeholders pending final analytics run</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sp>
      <p:sp>
        <p:nvSpPr>
          <p:cNvPr id="12" name="Shape 10"/>
          <p:cNvSpPr/>
          <p:nvPr/>
        </p:nvSpPr>
        <p:spPr>
          <a:xfrm>
            <a:off x="457200" y="1828800"/>
            <a:ext cx="3703320" cy="4251960"/>
          </a:xfrm>
          <a:prstGeom prst="rect">
            <a:avLst/>
          </a:prstGeom>
          <a:solidFill>
            <a:srgbClr val="0A4250"/>
          </a:solidFill>
          <a:ln w="12700">
            <a:solidFill>
              <a:srgbClr val="1E5A6B"/>
            </a:solidFill>
            <a:prstDash val="solid"/>
          </a:ln>
        </p:spPr>
      </p:sp>
      <p:sp>
        <p:nvSpPr>
          <p:cNvPr id="13" name="Shape 11"/>
          <p:cNvSpPr/>
          <p:nvPr/>
        </p:nvSpPr>
        <p:spPr>
          <a:xfrm>
            <a:off x="457200" y="1828800"/>
            <a:ext cx="73152" cy="4251960"/>
          </a:xfrm>
          <a:prstGeom prst="rect">
            <a:avLst/>
          </a:prstGeom>
          <a:solidFill>
            <a:srgbClr val="3FE0E0"/>
          </a:solidFill>
          <a:ln w="12700">
            <a:solidFill>
              <a:srgbClr val="3FE0E0"/>
            </a:solidFill>
            <a:prstDash val="solid"/>
          </a:ln>
        </p:spPr>
      </p:sp>
      <p:sp>
        <p:nvSpPr>
          <p:cNvPr id="14" name="Text 12"/>
          <p:cNvSpPr/>
          <p:nvPr/>
        </p:nvSpPr>
        <p:spPr>
          <a:xfrm>
            <a:off x="731520" y="1965960"/>
            <a:ext cx="3383280" cy="274320"/>
          </a:xfrm>
          <a:prstGeom prst="rect">
            <a:avLst/>
          </a:prstGeom>
          <a:noFill/>
          <a:ln/>
        </p:spPr>
        <p:txBody>
          <a:bodyPr wrap="square" lIns="0" tIns="0" rIns="0" bIns="0" rtlCol="0" anchor="ctr"/>
          <a:lstStyle/>
          <a:p>
            <a:pPr indent="0" marL="0">
              <a:buNone/>
            </a:pPr>
            <a:r>
              <a:rPr lang="en-US" sz="1000" spc="300" kern="0" dirty="0">
                <a:solidFill>
                  <a:srgbClr val="3FE0E0"/>
                </a:solidFill>
                <a:latin typeface="Calibri" pitchFamily="34" charset="0"/>
                <a:ea typeface="Calibri" pitchFamily="34" charset="-122"/>
                <a:cs typeface="Calibri" pitchFamily="34" charset="-120"/>
              </a:rPr>
              <a:t>CONTENT ROI</a:t>
            </a:r>
            <a:endParaRPr lang="en-US" sz="1000" dirty="0"/>
          </a:p>
        </p:txBody>
      </p:sp>
      <p:sp>
        <p:nvSpPr>
          <p:cNvPr id="15" name="Text 13"/>
          <p:cNvSpPr/>
          <p:nvPr/>
        </p:nvSpPr>
        <p:spPr>
          <a:xfrm>
            <a:off x="731520" y="2331720"/>
            <a:ext cx="3383280" cy="109728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 X% ]</a:t>
            </a:r>
            <a:endParaRPr lang="en-US" sz="5400" dirty="0"/>
          </a:p>
        </p:txBody>
      </p:sp>
      <p:sp>
        <p:nvSpPr>
          <p:cNvPr id="16" name="Text 14"/>
          <p:cNvSpPr/>
          <p:nvPr/>
        </p:nvSpPr>
        <p:spPr>
          <a:xfrm>
            <a:off x="731520" y="3520440"/>
            <a:ext cx="338328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of catalog cost is concentrated in titles below median ROI</a:t>
            </a:r>
            <a:endParaRPr lang="en-US" sz="1400" dirty="0"/>
          </a:p>
        </p:txBody>
      </p:sp>
      <p:sp>
        <p:nvSpPr>
          <p:cNvPr id="17" name="Shape 15"/>
          <p:cNvSpPr/>
          <p:nvPr/>
        </p:nvSpPr>
        <p:spPr>
          <a:xfrm>
            <a:off x="731520" y="4526280"/>
            <a:ext cx="914400" cy="0"/>
          </a:xfrm>
          <a:prstGeom prst="line">
            <a:avLst/>
          </a:prstGeom>
          <a:noFill/>
          <a:ln w="25400">
            <a:solidFill>
              <a:srgbClr val="3FE0E0"/>
            </a:solidFill>
            <a:prstDash val="solid"/>
          </a:ln>
        </p:spPr>
      </p:sp>
      <p:sp>
        <p:nvSpPr>
          <p:cNvPr id="18" name="Text 16"/>
          <p:cNvSpPr/>
          <p:nvPr/>
        </p:nvSpPr>
        <p:spPr>
          <a:xfrm>
            <a:off x="731520" y="4663440"/>
            <a:ext cx="3383280" cy="1371600"/>
          </a:xfrm>
          <a:prstGeom prst="rect">
            <a:avLst/>
          </a:prstGeom>
          <a:noFill/>
          <a:ln/>
        </p:spPr>
        <p:txBody>
          <a:bodyPr wrap="square" lIns="0" tIns="0" rIns="0" bIns="0" rtlCol="0" anchor="ctr"/>
          <a:lstStyle/>
          <a:p>
            <a:pPr indent="0" marL="0">
              <a:buNone/>
            </a:pPr>
            <a:r>
              <a:rPr lang="en-US" sz="1100" dirty="0">
                <a:solidFill>
                  <a:srgbClr val="B7D7DC"/>
                </a:solidFill>
                <a:latin typeface="Calibri" pitchFamily="34" charset="0"/>
                <a:ea typeface="Calibri" pitchFamily="34" charset="-122"/>
                <a:cs typeface="Calibri" pitchFamily="34" charset="-120"/>
              </a:rPr>
              <a:t>Calculated as cost_per_viewing_hour across the catalog. The bottom decile drives disproportionate license cost without proportional engagement.</a:t>
            </a:r>
            <a:endParaRPr lang="en-US" sz="1100" dirty="0"/>
          </a:p>
        </p:txBody>
      </p:sp>
      <p:sp>
        <p:nvSpPr>
          <p:cNvPr id="19" name="Shape 17"/>
          <p:cNvSpPr/>
          <p:nvPr/>
        </p:nvSpPr>
        <p:spPr>
          <a:xfrm>
            <a:off x="4361688" y="1828800"/>
            <a:ext cx="3703320" cy="4251960"/>
          </a:xfrm>
          <a:prstGeom prst="rect">
            <a:avLst/>
          </a:prstGeom>
          <a:solidFill>
            <a:srgbClr val="0A4250"/>
          </a:solidFill>
          <a:ln w="12700">
            <a:solidFill>
              <a:srgbClr val="1E5A6B"/>
            </a:solidFill>
            <a:prstDash val="solid"/>
          </a:ln>
        </p:spPr>
      </p:sp>
      <p:sp>
        <p:nvSpPr>
          <p:cNvPr id="20" name="Shape 18"/>
          <p:cNvSpPr/>
          <p:nvPr/>
        </p:nvSpPr>
        <p:spPr>
          <a:xfrm>
            <a:off x="4361688" y="1828800"/>
            <a:ext cx="73152" cy="4251960"/>
          </a:xfrm>
          <a:prstGeom prst="rect">
            <a:avLst/>
          </a:prstGeom>
          <a:solidFill>
            <a:srgbClr val="F0A23E"/>
          </a:solidFill>
          <a:ln w="12700">
            <a:solidFill>
              <a:srgbClr val="F0A23E"/>
            </a:solidFill>
            <a:prstDash val="solid"/>
          </a:ln>
        </p:spPr>
      </p:sp>
      <p:sp>
        <p:nvSpPr>
          <p:cNvPr id="21" name="Text 19"/>
          <p:cNvSpPr/>
          <p:nvPr/>
        </p:nvSpPr>
        <p:spPr>
          <a:xfrm>
            <a:off x="4636008" y="1965960"/>
            <a:ext cx="3383280" cy="274320"/>
          </a:xfrm>
          <a:prstGeom prst="rect">
            <a:avLst/>
          </a:prstGeom>
          <a:noFill/>
          <a:ln/>
        </p:spPr>
        <p:txBody>
          <a:bodyPr wrap="square" lIns="0" tIns="0" rIns="0" bIns="0" rtlCol="0" anchor="ctr"/>
          <a:lstStyle/>
          <a:p>
            <a:pPr indent="0" marL="0">
              <a:buNone/>
            </a:pPr>
            <a:r>
              <a:rPr lang="en-US" sz="1000" spc="300" kern="0" dirty="0">
                <a:solidFill>
                  <a:srgbClr val="F0A23E"/>
                </a:solidFill>
                <a:latin typeface="Calibri" pitchFamily="34" charset="0"/>
                <a:ea typeface="Calibri" pitchFamily="34" charset="-122"/>
                <a:cs typeface="Calibri" pitchFamily="34" charset="-120"/>
              </a:rPr>
              <a:t>ENGAGEMENT</a:t>
            </a:r>
            <a:endParaRPr lang="en-US" sz="1000" dirty="0"/>
          </a:p>
        </p:txBody>
      </p:sp>
      <p:sp>
        <p:nvSpPr>
          <p:cNvPr id="22" name="Text 20"/>
          <p:cNvSpPr/>
          <p:nvPr/>
        </p:nvSpPr>
        <p:spPr>
          <a:xfrm>
            <a:off x="4636008" y="2331720"/>
            <a:ext cx="3383280" cy="109728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 X pp ]</a:t>
            </a:r>
            <a:endParaRPr lang="en-US" sz="5400" dirty="0"/>
          </a:p>
        </p:txBody>
      </p:sp>
      <p:sp>
        <p:nvSpPr>
          <p:cNvPr id="23" name="Text 21"/>
          <p:cNvSpPr/>
          <p:nvPr/>
        </p:nvSpPr>
        <p:spPr>
          <a:xfrm>
            <a:off x="4636008" y="3520440"/>
            <a:ext cx="338328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completion-rate gap between Premium and Basic tiers</a:t>
            </a:r>
            <a:endParaRPr lang="en-US" sz="1400" dirty="0"/>
          </a:p>
        </p:txBody>
      </p:sp>
      <p:sp>
        <p:nvSpPr>
          <p:cNvPr id="24" name="Shape 22"/>
          <p:cNvSpPr/>
          <p:nvPr/>
        </p:nvSpPr>
        <p:spPr>
          <a:xfrm>
            <a:off x="4636008" y="4526280"/>
            <a:ext cx="914400" cy="0"/>
          </a:xfrm>
          <a:prstGeom prst="line">
            <a:avLst/>
          </a:prstGeom>
          <a:noFill/>
          <a:ln w="25400">
            <a:solidFill>
              <a:srgbClr val="F0A23E"/>
            </a:solidFill>
            <a:prstDash val="solid"/>
          </a:ln>
        </p:spPr>
      </p:sp>
      <p:sp>
        <p:nvSpPr>
          <p:cNvPr id="25" name="Text 23"/>
          <p:cNvSpPr/>
          <p:nvPr/>
        </p:nvSpPr>
        <p:spPr>
          <a:xfrm>
            <a:off x="4636008" y="4663440"/>
            <a:ext cx="3383280" cy="1371600"/>
          </a:xfrm>
          <a:prstGeom prst="rect">
            <a:avLst/>
          </a:prstGeom>
          <a:noFill/>
          <a:ln/>
        </p:spPr>
        <p:txBody>
          <a:bodyPr wrap="square" lIns="0" tIns="0" rIns="0" bIns="0" rtlCol="0" anchor="ctr"/>
          <a:lstStyle/>
          <a:p>
            <a:pPr indent="0" marL="0">
              <a:buNone/>
            </a:pPr>
            <a:r>
              <a:rPr lang="en-US" sz="1100" dirty="0">
                <a:solidFill>
                  <a:srgbClr val="B7D7DC"/>
                </a:solidFill>
                <a:latin typeface="Calibri" pitchFamily="34" charset="0"/>
                <a:ea typeface="Calibri" pitchFamily="34" charset="-122"/>
                <a:cs typeface="Calibri" pitchFamily="34" charset="-120"/>
              </a:rPr>
              <a:t>Premium subscribers complete a higher share of titles they start. Either tier-aware recommendation algorithms or content commitment effects.</a:t>
            </a:r>
            <a:endParaRPr lang="en-US" sz="1100" dirty="0"/>
          </a:p>
        </p:txBody>
      </p:sp>
      <p:sp>
        <p:nvSpPr>
          <p:cNvPr id="26" name="Shape 24"/>
          <p:cNvSpPr/>
          <p:nvPr/>
        </p:nvSpPr>
        <p:spPr>
          <a:xfrm>
            <a:off x="8266176" y="1828800"/>
            <a:ext cx="3703320" cy="4251960"/>
          </a:xfrm>
          <a:prstGeom prst="rect">
            <a:avLst/>
          </a:prstGeom>
          <a:solidFill>
            <a:srgbClr val="0A4250"/>
          </a:solidFill>
          <a:ln w="12700">
            <a:solidFill>
              <a:srgbClr val="1E5A6B"/>
            </a:solidFill>
            <a:prstDash val="solid"/>
          </a:ln>
        </p:spPr>
      </p:sp>
      <p:sp>
        <p:nvSpPr>
          <p:cNvPr id="27" name="Shape 25"/>
          <p:cNvSpPr/>
          <p:nvPr/>
        </p:nvSpPr>
        <p:spPr>
          <a:xfrm>
            <a:off x="8266176" y="1828800"/>
            <a:ext cx="73152" cy="4251960"/>
          </a:xfrm>
          <a:prstGeom prst="rect">
            <a:avLst/>
          </a:prstGeom>
          <a:solidFill>
            <a:srgbClr val="E8654A"/>
          </a:solidFill>
          <a:ln w="12700">
            <a:solidFill>
              <a:srgbClr val="E8654A"/>
            </a:solidFill>
            <a:prstDash val="solid"/>
          </a:ln>
        </p:spPr>
      </p:sp>
      <p:sp>
        <p:nvSpPr>
          <p:cNvPr id="28" name="Text 26"/>
          <p:cNvSpPr/>
          <p:nvPr/>
        </p:nvSpPr>
        <p:spPr>
          <a:xfrm>
            <a:off x="8540496" y="1965960"/>
            <a:ext cx="3383280" cy="274320"/>
          </a:xfrm>
          <a:prstGeom prst="rect">
            <a:avLst/>
          </a:prstGeom>
          <a:noFill/>
          <a:ln/>
        </p:spPr>
        <p:txBody>
          <a:bodyPr wrap="square" lIns="0" tIns="0" rIns="0" bIns="0" rtlCol="0" anchor="ctr"/>
          <a:lstStyle/>
          <a:p>
            <a:pPr indent="0" marL="0">
              <a:buNone/>
            </a:pPr>
            <a:r>
              <a:rPr lang="en-US" sz="1000" spc="300" kern="0" dirty="0">
                <a:solidFill>
                  <a:srgbClr val="E8654A"/>
                </a:solidFill>
                <a:latin typeface="Calibri" pitchFamily="34" charset="0"/>
                <a:ea typeface="Calibri" pitchFamily="34" charset="-122"/>
                <a:cs typeface="Calibri" pitchFamily="34" charset="-120"/>
              </a:rPr>
              <a:t>RETENTION RISK</a:t>
            </a:r>
            <a:endParaRPr lang="en-US" sz="1000" dirty="0"/>
          </a:p>
        </p:txBody>
      </p:sp>
      <p:sp>
        <p:nvSpPr>
          <p:cNvPr id="29" name="Text 27"/>
          <p:cNvSpPr/>
          <p:nvPr/>
        </p:nvSpPr>
        <p:spPr>
          <a:xfrm>
            <a:off x="8540496" y="2331720"/>
            <a:ext cx="3383280" cy="109728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 X× ]</a:t>
            </a:r>
            <a:endParaRPr lang="en-US" sz="5400" dirty="0"/>
          </a:p>
        </p:txBody>
      </p:sp>
      <p:sp>
        <p:nvSpPr>
          <p:cNvPr id="30" name="Text 28"/>
          <p:cNvSpPr/>
          <p:nvPr/>
        </p:nvSpPr>
        <p:spPr>
          <a:xfrm>
            <a:off x="8540496" y="3520440"/>
            <a:ext cx="338328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higher buffering events among users in the 30 days before churn</a:t>
            </a:r>
            <a:endParaRPr lang="en-US" sz="1400" dirty="0"/>
          </a:p>
        </p:txBody>
      </p:sp>
      <p:sp>
        <p:nvSpPr>
          <p:cNvPr id="31" name="Shape 29"/>
          <p:cNvSpPr/>
          <p:nvPr/>
        </p:nvSpPr>
        <p:spPr>
          <a:xfrm>
            <a:off x="8540496" y="4526280"/>
            <a:ext cx="914400" cy="0"/>
          </a:xfrm>
          <a:prstGeom prst="line">
            <a:avLst/>
          </a:prstGeom>
          <a:noFill/>
          <a:ln w="25400">
            <a:solidFill>
              <a:srgbClr val="E8654A"/>
            </a:solidFill>
            <a:prstDash val="solid"/>
          </a:ln>
        </p:spPr>
      </p:sp>
      <p:sp>
        <p:nvSpPr>
          <p:cNvPr id="32" name="Text 30"/>
          <p:cNvSpPr/>
          <p:nvPr/>
        </p:nvSpPr>
        <p:spPr>
          <a:xfrm>
            <a:off x="8540496" y="4663440"/>
            <a:ext cx="3383280" cy="1371600"/>
          </a:xfrm>
          <a:prstGeom prst="rect">
            <a:avLst/>
          </a:prstGeom>
          <a:noFill/>
          <a:ln/>
        </p:spPr>
        <p:txBody>
          <a:bodyPr wrap="square" lIns="0" tIns="0" rIns="0" bIns="0" rtlCol="0" anchor="ctr"/>
          <a:lstStyle/>
          <a:p>
            <a:pPr indent="0" marL="0">
              <a:buNone/>
            </a:pPr>
            <a:r>
              <a:rPr lang="en-US" sz="1100" dirty="0">
                <a:solidFill>
                  <a:srgbClr val="B7D7DC"/>
                </a:solidFill>
                <a:latin typeface="Calibri" pitchFamily="34" charset="0"/>
                <a:ea typeface="Calibri" pitchFamily="34" charset="-122"/>
                <a:cs typeface="Calibri" pitchFamily="34" charset="-120"/>
              </a:rPr>
              <a:t>Streaming quality is a measurable churn precursor. Three signals together (buffering, completion drop, interaction drop) predict churn 30 days early.</a:t>
            </a:r>
            <a:endParaRPr lang="en-US" sz="1100" dirty="0"/>
          </a:p>
        </p:txBody>
      </p:sp>
      <p:sp>
        <p:nvSpPr>
          <p:cNvPr id="33" name="Text 31"/>
          <p:cNvSpPr/>
          <p:nvPr/>
        </p:nvSpPr>
        <p:spPr>
          <a:xfrm>
            <a:off x="11338560" y="6446520"/>
            <a:ext cx="640080" cy="274320"/>
          </a:xfrm>
          <a:prstGeom prst="rect">
            <a:avLst/>
          </a:prstGeom>
          <a:noFill/>
          <a:ln/>
        </p:spPr>
        <p:txBody>
          <a:bodyPr wrap="square" lIns="0" tIns="0" rIns="0" bIns="0" rtlCol="0" anchor="ctr"/>
          <a:lstStyle/>
          <a:p>
            <a:pPr algn="r" indent="0" marL="0">
              <a:buNone/>
            </a:pPr>
            <a:r>
              <a:rPr lang="en-US" sz="900" dirty="0">
                <a:solidFill>
                  <a:srgbClr val="7FA8AE"/>
                </a:solidFill>
                <a:latin typeface="Calibri" pitchFamily="34" charset="0"/>
                <a:ea typeface="Calibri" pitchFamily="34" charset="-122"/>
                <a:cs typeface="Calibri" pitchFamily="34" charset="-120"/>
              </a:rPr>
              <a:t>07 / 22</a:t>
            </a:r>
            <a:endParaRPr lang="en-US" sz="900" dirty="0"/>
          </a:p>
        </p:txBody>
      </p:sp>
      <p:sp>
        <p:nvSpPr>
          <p:cNvPr id="34" name="Text 32"/>
          <p:cNvSpPr/>
          <p:nvPr/>
        </p:nvSpPr>
        <p:spPr>
          <a:xfrm>
            <a:off x="365760" y="6446520"/>
            <a:ext cx="7315200" cy="274320"/>
          </a:xfrm>
          <a:prstGeom prst="rect">
            <a:avLst/>
          </a:prstGeom>
          <a:noFill/>
          <a:ln/>
        </p:spPr>
        <p:txBody>
          <a:bodyPr wrap="square" lIns="0" tIns="0" rIns="0" bIns="0" rtlCol="0" anchor="ctr"/>
          <a:lstStyle/>
          <a:p>
            <a:pPr algn="l" indent="0" marL="0">
              <a:buNone/>
            </a:pPr>
            <a:r>
              <a:rPr lang="en-US" sz="900" spc="200" kern="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731520" y="2377440"/>
            <a:ext cx="1828800" cy="1645920"/>
          </a:xfrm>
          <a:prstGeom prst="rect">
            <a:avLst/>
          </a:prstGeom>
          <a:noFill/>
          <a:ln/>
        </p:spPr>
        <p:txBody>
          <a:bodyPr wrap="square" lIns="0" tIns="0" rIns="0" bIns="0" rtlCol="0" anchor="ctr"/>
          <a:lstStyle/>
          <a:p>
            <a:pPr algn="l" indent="0" marL="0">
              <a:buNone/>
            </a:pPr>
            <a:r>
              <a:rPr lang="en-US" sz="10000" b="1" dirty="0">
                <a:solidFill>
                  <a:srgbClr val="FFFFFF"/>
                </a:solidFill>
                <a:latin typeface="Calibri" pitchFamily="34" charset="0"/>
                <a:ea typeface="Calibri" pitchFamily="34" charset="-122"/>
                <a:cs typeface="Calibri" pitchFamily="34" charset="-120"/>
              </a:rPr>
              <a:t>03</a:t>
            </a:r>
            <a:endParaRPr lang="en-US" sz="10000" dirty="0"/>
          </a:p>
        </p:txBody>
      </p:sp>
      <p:sp>
        <p:nvSpPr>
          <p:cNvPr id="10" name="Shape 8"/>
          <p:cNvSpPr/>
          <p:nvPr/>
        </p:nvSpPr>
        <p:spPr>
          <a:xfrm>
            <a:off x="2651760" y="2606040"/>
            <a:ext cx="0" cy="1371600"/>
          </a:xfrm>
          <a:prstGeom prst="line">
            <a:avLst/>
          </a:prstGeom>
          <a:noFill/>
          <a:ln w="25400">
            <a:solidFill>
              <a:srgbClr val="3FE0E0"/>
            </a:solidFill>
            <a:prstDash val="solid"/>
          </a:ln>
        </p:spPr>
      </p:sp>
      <p:sp>
        <p:nvSpPr>
          <p:cNvPr id="11" name="Text 9"/>
          <p:cNvSpPr/>
          <p:nvPr/>
        </p:nvSpPr>
        <p:spPr>
          <a:xfrm>
            <a:off x="2926080" y="2468880"/>
            <a:ext cx="777240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How We Built the Answer</a:t>
            </a:r>
            <a:endParaRPr lang="en-US" sz="4400" dirty="0"/>
          </a:p>
        </p:txBody>
      </p:sp>
      <p:sp>
        <p:nvSpPr>
          <p:cNvPr id="12" name="Text 10"/>
          <p:cNvSpPr/>
          <p:nvPr/>
        </p:nvSpPr>
        <p:spPr>
          <a:xfrm>
            <a:off x="2926080" y="3520440"/>
            <a:ext cx="7772400" cy="457200"/>
          </a:xfrm>
          <a:prstGeom prst="rect">
            <a:avLst/>
          </a:prstGeom>
          <a:noFill/>
          <a:ln/>
        </p:spPr>
        <p:txBody>
          <a:bodyPr wrap="square" lIns="0" tIns="0" rIns="0" bIns="0" rtlCol="0" anchor="ctr"/>
          <a:lstStyle/>
          <a:p>
            <a:pPr indent="0" marL="0">
              <a:buNone/>
            </a:pPr>
            <a:r>
              <a:rPr lang="en-US" sz="1600" i="1" spc="200" kern="0" dirty="0">
                <a:solidFill>
                  <a:srgbClr val="3FE0E0"/>
                </a:solidFill>
                <a:latin typeface="Calibri" pitchFamily="34" charset="0"/>
                <a:ea typeface="Calibri" pitchFamily="34" charset="-122"/>
                <a:cs typeface="Calibri" pitchFamily="34" charset="-120"/>
              </a:rPr>
              <a:t>ARCHITECTURE, CHOICES, AND PRODUCTION READINESS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457200" y="365760"/>
            <a:ext cx="1124712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 four-layer pipeline reproducible from a single command</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indent="0" marL="0">
              <a:buNone/>
            </a:pPr>
            <a:r>
              <a:rPr lang="en-US" sz="1400" i="1" spc="100" kern="0" dirty="0">
                <a:solidFill>
                  <a:srgbClr val="3FE0E0"/>
                </a:solidFill>
                <a:latin typeface="Calibri" pitchFamily="34" charset="0"/>
                <a:ea typeface="Calibri" pitchFamily="34" charset="-122"/>
                <a:cs typeface="Calibri" pitchFamily="34" charset="-120"/>
              </a:rPr>
              <a:t>All services orchestrate via Docker; full stack deploys in approximately three minutes</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sp>
      <p:sp>
        <p:nvSpPr>
          <p:cNvPr id="12" name="Shape 10"/>
          <p:cNvSpPr/>
          <p:nvPr/>
        </p:nvSpPr>
        <p:spPr>
          <a:xfrm>
            <a:off x="457200" y="1828800"/>
            <a:ext cx="11247120" cy="777240"/>
          </a:xfrm>
          <a:prstGeom prst="rect">
            <a:avLst/>
          </a:prstGeom>
          <a:solidFill>
            <a:srgbClr val="0A4250"/>
          </a:solidFill>
          <a:ln w="12700">
            <a:solidFill>
              <a:srgbClr val="1E5A6B"/>
            </a:solidFill>
            <a:prstDash val="solid"/>
          </a:ln>
        </p:spPr>
      </p:sp>
      <p:sp>
        <p:nvSpPr>
          <p:cNvPr id="13" name="Shape 11"/>
          <p:cNvSpPr/>
          <p:nvPr/>
        </p:nvSpPr>
        <p:spPr>
          <a:xfrm>
            <a:off x="457200" y="1828800"/>
            <a:ext cx="914400" cy="777240"/>
          </a:xfrm>
          <a:prstGeom prst="rect">
            <a:avLst/>
          </a:prstGeom>
          <a:solidFill>
            <a:srgbClr val="001D24"/>
          </a:solidFill>
          <a:ln w="12700">
            <a:solidFill>
              <a:srgbClr val="1E5A6B"/>
            </a:solidFill>
            <a:prstDash val="solid"/>
          </a:ln>
        </p:spPr>
      </p:sp>
      <p:sp>
        <p:nvSpPr>
          <p:cNvPr id="14" name="Text 12"/>
          <p:cNvSpPr/>
          <p:nvPr/>
        </p:nvSpPr>
        <p:spPr>
          <a:xfrm>
            <a:off x="457200" y="1828800"/>
            <a:ext cx="914400" cy="777240"/>
          </a:xfrm>
          <a:prstGeom prst="rect">
            <a:avLst/>
          </a:prstGeom>
          <a:noFill/>
          <a:ln/>
        </p:spPr>
        <p:txBody>
          <a:bodyPr wrap="square" lIns="0" tIns="0" rIns="0" bIns="0" rtlCol="0" anchor="ctr"/>
          <a:lstStyle/>
          <a:p>
            <a:pPr algn="ctr" indent="0" marL="0">
              <a:buNone/>
            </a:pPr>
            <a:r>
              <a:rPr lang="en-US" sz="2400" b="1" dirty="0">
                <a:solidFill>
                  <a:srgbClr val="3FE0E0"/>
                </a:solidFill>
                <a:latin typeface="Calibri" pitchFamily="34" charset="0"/>
                <a:ea typeface="Calibri" pitchFamily="34" charset="-122"/>
                <a:cs typeface="Calibri" pitchFamily="34" charset="-120"/>
              </a:rPr>
              <a:t>01</a:t>
            </a:r>
            <a:endParaRPr lang="en-US" sz="2400" dirty="0"/>
          </a:p>
        </p:txBody>
      </p:sp>
      <p:sp>
        <p:nvSpPr>
          <p:cNvPr id="15" name="Text 13"/>
          <p:cNvSpPr/>
          <p:nvPr/>
        </p:nvSpPr>
        <p:spPr>
          <a:xfrm>
            <a:off x="1554480" y="1828800"/>
            <a:ext cx="2286000" cy="777240"/>
          </a:xfrm>
          <a:prstGeom prst="rect">
            <a:avLst/>
          </a:prstGeom>
          <a:noFill/>
          <a:ln/>
        </p:spPr>
        <p:txBody>
          <a:bodyPr wrap="square" lIns="0" tIns="0" rIns="0" bIns="0" rtlCol="0" anchor="ctr"/>
          <a:lstStyle/>
          <a:p>
            <a:pPr indent="0" marL="0">
              <a:buNone/>
            </a:pPr>
            <a:r>
              <a:rPr lang="en-US" sz="1500" b="1" spc="300" kern="0" dirty="0">
                <a:solidFill>
                  <a:srgbClr val="FFFFFF"/>
                </a:solidFill>
                <a:latin typeface="Calibri" pitchFamily="34" charset="0"/>
                <a:ea typeface="Calibri" pitchFamily="34" charset="-122"/>
                <a:cs typeface="Calibri" pitchFamily="34" charset="-120"/>
              </a:rPr>
              <a:t>STORE</a:t>
            </a:r>
            <a:endParaRPr lang="en-US" sz="1500" dirty="0"/>
          </a:p>
        </p:txBody>
      </p:sp>
      <p:sp>
        <p:nvSpPr>
          <p:cNvPr id="16" name="Text 14"/>
          <p:cNvSpPr/>
          <p:nvPr/>
        </p:nvSpPr>
        <p:spPr>
          <a:xfrm>
            <a:off x="3931920" y="1828800"/>
            <a:ext cx="2468880" cy="777240"/>
          </a:xfrm>
          <a:prstGeom prst="rect">
            <a:avLst/>
          </a:prstGeom>
          <a:noFill/>
          <a:ln/>
        </p:spPr>
        <p:txBody>
          <a:bodyPr wrap="square" lIns="0" tIns="0" rIns="0" bIns="0" rtlCol="0" anchor="ctr"/>
          <a:lstStyle/>
          <a:p>
            <a:pPr indent="0" marL="0">
              <a:buNone/>
            </a:pPr>
            <a:r>
              <a:rPr lang="en-US" sz="1400" b="1" dirty="0">
                <a:solidFill>
                  <a:srgbClr val="3FE0E0"/>
                </a:solidFill>
                <a:latin typeface="Calibri" pitchFamily="34" charset="0"/>
                <a:ea typeface="Calibri" pitchFamily="34" charset="-122"/>
                <a:cs typeface="Calibri" pitchFamily="34" charset="-120"/>
              </a:rPr>
              <a:t>HDFS</a:t>
            </a:r>
            <a:endParaRPr lang="en-US" sz="1400" dirty="0"/>
          </a:p>
        </p:txBody>
      </p:sp>
      <p:sp>
        <p:nvSpPr>
          <p:cNvPr id="17" name="Text 15"/>
          <p:cNvSpPr/>
          <p:nvPr/>
        </p:nvSpPr>
        <p:spPr>
          <a:xfrm>
            <a:off x="6492240" y="1828800"/>
            <a:ext cx="5120640" cy="777240"/>
          </a:xfrm>
          <a:prstGeom prst="rect">
            <a:avLst/>
          </a:prstGeom>
          <a:noFill/>
          <a:ln/>
        </p:spPr>
        <p:txBody>
          <a:bodyPr wrap="square" lIns="0" tIns="0" rIns="0" bIns="0" rtlCol="0" anchor="ctr"/>
          <a:lstStyle/>
          <a:p>
            <a:pPr indent="0" marL="0">
              <a:buNone/>
            </a:pPr>
            <a:r>
              <a:rPr lang="en-US" sz="1200" dirty="0">
                <a:solidFill>
                  <a:srgbClr val="B7D7DC"/>
                </a:solidFill>
                <a:latin typeface="Calibri" pitchFamily="34" charset="0"/>
                <a:ea typeface="Calibri" pitchFamily="34" charset="-122"/>
                <a:cs typeface="Calibri" pitchFamily="34" charset="-120"/>
              </a:rPr>
              <a:t>Three-zone data lake: landing, curated, analytics</a:t>
            </a:r>
            <a:endParaRPr lang="en-US" sz="1200" dirty="0"/>
          </a:p>
        </p:txBody>
      </p:sp>
      <p:sp>
        <p:nvSpPr>
          <p:cNvPr id="18" name="Shape 16"/>
          <p:cNvSpPr/>
          <p:nvPr/>
        </p:nvSpPr>
        <p:spPr>
          <a:xfrm>
            <a:off x="457200" y="2697480"/>
            <a:ext cx="11247120" cy="777240"/>
          </a:xfrm>
          <a:prstGeom prst="rect">
            <a:avLst/>
          </a:prstGeom>
          <a:solidFill>
            <a:srgbClr val="0A4250"/>
          </a:solidFill>
          <a:ln w="12700">
            <a:solidFill>
              <a:srgbClr val="1E5A6B"/>
            </a:solidFill>
            <a:prstDash val="solid"/>
          </a:ln>
        </p:spPr>
      </p:sp>
      <p:sp>
        <p:nvSpPr>
          <p:cNvPr id="19" name="Shape 17"/>
          <p:cNvSpPr/>
          <p:nvPr/>
        </p:nvSpPr>
        <p:spPr>
          <a:xfrm>
            <a:off x="457200" y="2697480"/>
            <a:ext cx="914400" cy="777240"/>
          </a:xfrm>
          <a:prstGeom prst="rect">
            <a:avLst/>
          </a:prstGeom>
          <a:solidFill>
            <a:srgbClr val="001D24"/>
          </a:solidFill>
          <a:ln w="12700">
            <a:solidFill>
              <a:srgbClr val="1E5A6B"/>
            </a:solidFill>
            <a:prstDash val="solid"/>
          </a:ln>
        </p:spPr>
      </p:sp>
      <p:sp>
        <p:nvSpPr>
          <p:cNvPr id="20" name="Text 18"/>
          <p:cNvSpPr/>
          <p:nvPr/>
        </p:nvSpPr>
        <p:spPr>
          <a:xfrm>
            <a:off x="457200" y="2697480"/>
            <a:ext cx="914400" cy="777240"/>
          </a:xfrm>
          <a:prstGeom prst="rect">
            <a:avLst/>
          </a:prstGeom>
          <a:noFill/>
          <a:ln/>
        </p:spPr>
        <p:txBody>
          <a:bodyPr wrap="square" lIns="0" tIns="0" rIns="0" bIns="0" rtlCol="0" anchor="ctr"/>
          <a:lstStyle/>
          <a:p>
            <a:pPr algn="ctr" indent="0" marL="0">
              <a:buNone/>
            </a:pPr>
            <a:r>
              <a:rPr lang="en-US" sz="2400" b="1" dirty="0">
                <a:solidFill>
                  <a:srgbClr val="3FE0E0"/>
                </a:solidFill>
                <a:latin typeface="Calibri" pitchFamily="34" charset="0"/>
                <a:ea typeface="Calibri" pitchFamily="34" charset="-122"/>
                <a:cs typeface="Calibri" pitchFamily="34" charset="-120"/>
              </a:rPr>
              <a:t>02</a:t>
            </a:r>
            <a:endParaRPr lang="en-US" sz="2400" dirty="0"/>
          </a:p>
        </p:txBody>
      </p:sp>
      <p:sp>
        <p:nvSpPr>
          <p:cNvPr id="21" name="Text 19"/>
          <p:cNvSpPr/>
          <p:nvPr/>
        </p:nvSpPr>
        <p:spPr>
          <a:xfrm>
            <a:off x="1554480" y="2697480"/>
            <a:ext cx="2286000" cy="777240"/>
          </a:xfrm>
          <a:prstGeom prst="rect">
            <a:avLst/>
          </a:prstGeom>
          <a:noFill/>
          <a:ln/>
        </p:spPr>
        <p:txBody>
          <a:bodyPr wrap="square" lIns="0" tIns="0" rIns="0" bIns="0" rtlCol="0" anchor="ctr"/>
          <a:lstStyle/>
          <a:p>
            <a:pPr indent="0" marL="0">
              <a:buNone/>
            </a:pPr>
            <a:r>
              <a:rPr lang="en-US" sz="1500" b="1" spc="300" kern="0" dirty="0">
                <a:solidFill>
                  <a:srgbClr val="FFFFFF"/>
                </a:solidFill>
                <a:latin typeface="Calibri" pitchFamily="34" charset="0"/>
                <a:ea typeface="Calibri" pitchFamily="34" charset="-122"/>
                <a:cs typeface="Calibri" pitchFamily="34" charset="-120"/>
              </a:rPr>
              <a:t>TRANSFORM</a:t>
            </a:r>
            <a:endParaRPr lang="en-US" sz="1500" dirty="0"/>
          </a:p>
        </p:txBody>
      </p:sp>
      <p:sp>
        <p:nvSpPr>
          <p:cNvPr id="22" name="Text 20"/>
          <p:cNvSpPr/>
          <p:nvPr/>
        </p:nvSpPr>
        <p:spPr>
          <a:xfrm>
            <a:off x="3931920" y="2697480"/>
            <a:ext cx="2468880" cy="777240"/>
          </a:xfrm>
          <a:prstGeom prst="rect">
            <a:avLst/>
          </a:prstGeom>
          <a:noFill/>
          <a:ln/>
        </p:spPr>
        <p:txBody>
          <a:bodyPr wrap="square" lIns="0" tIns="0" rIns="0" bIns="0" rtlCol="0" anchor="ctr"/>
          <a:lstStyle/>
          <a:p>
            <a:pPr indent="0" marL="0">
              <a:buNone/>
            </a:pPr>
            <a:r>
              <a:rPr lang="en-US" sz="1400" b="1" dirty="0">
                <a:solidFill>
                  <a:srgbClr val="3FE0E0"/>
                </a:solidFill>
                <a:latin typeface="Calibri" pitchFamily="34" charset="0"/>
                <a:ea typeface="Calibri" pitchFamily="34" charset="-122"/>
                <a:cs typeface="Calibri" pitchFamily="34" charset="-120"/>
              </a:rPr>
              <a:t>PySpark</a:t>
            </a:r>
            <a:endParaRPr lang="en-US" sz="1400" dirty="0"/>
          </a:p>
        </p:txBody>
      </p:sp>
      <p:sp>
        <p:nvSpPr>
          <p:cNvPr id="23" name="Text 21"/>
          <p:cNvSpPr/>
          <p:nvPr/>
        </p:nvSpPr>
        <p:spPr>
          <a:xfrm>
            <a:off x="6492240" y="2697480"/>
            <a:ext cx="5120640" cy="777240"/>
          </a:xfrm>
          <a:prstGeom prst="rect">
            <a:avLst/>
          </a:prstGeom>
          <a:noFill/>
          <a:ln/>
        </p:spPr>
        <p:txBody>
          <a:bodyPr wrap="square" lIns="0" tIns="0" rIns="0" bIns="0" rtlCol="0" anchor="ctr"/>
          <a:lstStyle/>
          <a:p>
            <a:pPr indent="0" marL="0">
              <a:buNone/>
            </a:pPr>
            <a:r>
              <a:rPr lang="en-US" sz="1200" dirty="0">
                <a:solidFill>
                  <a:srgbClr val="B7D7DC"/>
                </a:solidFill>
                <a:latin typeface="Calibri" pitchFamily="34" charset="0"/>
                <a:ea typeface="Calibri" pitchFamily="34" charset="-122"/>
                <a:cs typeface="Calibri" pitchFamily="34" charset="-120"/>
              </a:rPr>
              <a:t>Cleaning, three-way joins, business aggregations</a:t>
            </a:r>
            <a:endParaRPr lang="en-US" sz="1200" dirty="0"/>
          </a:p>
        </p:txBody>
      </p:sp>
      <p:sp>
        <p:nvSpPr>
          <p:cNvPr id="24" name="Shape 22"/>
          <p:cNvSpPr/>
          <p:nvPr/>
        </p:nvSpPr>
        <p:spPr>
          <a:xfrm>
            <a:off x="457200" y="3566160"/>
            <a:ext cx="11247120" cy="777240"/>
          </a:xfrm>
          <a:prstGeom prst="rect">
            <a:avLst/>
          </a:prstGeom>
          <a:solidFill>
            <a:srgbClr val="0A4250"/>
          </a:solidFill>
          <a:ln w="12700">
            <a:solidFill>
              <a:srgbClr val="1E5A6B"/>
            </a:solidFill>
            <a:prstDash val="solid"/>
          </a:ln>
        </p:spPr>
      </p:sp>
      <p:sp>
        <p:nvSpPr>
          <p:cNvPr id="25" name="Shape 23"/>
          <p:cNvSpPr/>
          <p:nvPr/>
        </p:nvSpPr>
        <p:spPr>
          <a:xfrm>
            <a:off x="457200" y="3566160"/>
            <a:ext cx="914400" cy="777240"/>
          </a:xfrm>
          <a:prstGeom prst="rect">
            <a:avLst/>
          </a:prstGeom>
          <a:solidFill>
            <a:srgbClr val="001D24"/>
          </a:solidFill>
          <a:ln w="12700">
            <a:solidFill>
              <a:srgbClr val="1E5A6B"/>
            </a:solidFill>
            <a:prstDash val="solid"/>
          </a:ln>
        </p:spPr>
      </p:sp>
      <p:sp>
        <p:nvSpPr>
          <p:cNvPr id="26" name="Text 24"/>
          <p:cNvSpPr/>
          <p:nvPr/>
        </p:nvSpPr>
        <p:spPr>
          <a:xfrm>
            <a:off x="457200" y="3566160"/>
            <a:ext cx="914400" cy="777240"/>
          </a:xfrm>
          <a:prstGeom prst="rect">
            <a:avLst/>
          </a:prstGeom>
          <a:noFill/>
          <a:ln/>
        </p:spPr>
        <p:txBody>
          <a:bodyPr wrap="square" lIns="0" tIns="0" rIns="0" bIns="0" rtlCol="0" anchor="ctr"/>
          <a:lstStyle/>
          <a:p>
            <a:pPr algn="ctr" indent="0" marL="0">
              <a:buNone/>
            </a:pPr>
            <a:r>
              <a:rPr lang="en-US" sz="2400" b="1" dirty="0">
                <a:solidFill>
                  <a:srgbClr val="3FE0E0"/>
                </a:solidFill>
                <a:latin typeface="Calibri" pitchFamily="34" charset="0"/>
                <a:ea typeface="Calibri" pitchFamily="34" charset="-122"/>
                <a:cs typeface="Calibri" pitchFamily="34" charset="-120"/>
              </a:rPr>
              <a:t>03</a:t>
            </a:r>
            <a:endParaRPr lang="en-US" sz="2400" dirty="0"/>
          </a:p>
        </p:txBody>
      </p:sp>
      <p:sp>
        <p:nvSpPr>
          <p:cNvPr id="27" name="Text 25"/>
          <p:cNvSpPr/>
          <p:nvPr/>
        </p:nvSpPr>
        <p:spPr>
          <a:xfrm>
            <a:off x="1554480" y="3566160"/>
            <a:ext cx="2286000" cy="777240"/>
          </a:xfrm>
          <a:prstGeom prst="rect">
            <a:avLst/>
          </a:prstGeom>
          <a:noFill/>
          <a:ln/>
        </p:spPr>
        <p:txBody>
          <a:bodyPr wrap="square" lIns="0" tIns="0" rIns="0" bIns="0" rtlCol="0" anchor="ctr"/>
          <a:lstStyle/>
          <a:p>
            <a:pPr indent="0" marL="0">
              <a:buNone/>
            </a:pPr>
            <a:r>
              <a:rPr lang="en-US" sz="1500" b="1" spc="300" kern="0" dirty="0">
                <a:solidFill>
                  <a:srgbClr val="FFFFFF"/>
                </a:solidFill>
                <a:latin typeface="Calibri" pitchFamily="34" charset="0"/>
                <a:ea typeface="Calibri" pitchFamily="34" charset="-122"/>
                <a:cs typeface="Calibri" pitchFamily="34" charset="-120"/>
              </a:rPr>
              <a:t>STREAM</a:t>
            </a:r>
            <a:endParaRPr lang="en-US" sz="1500" dirty="0"/>
          </a:p>
        </p:txBody>
      </p:sp>
      <p:sp>
        <p:nvSpPr>
          <p:cNvPr id="28" name="Text 26"/>
          <p:cNvSpPr/>
          <p:nvPr/>
        </p:nvSpPr>
        <p:spPr>
          <a:xfrm>
            <a:off x="3931920" y="3566160"/>
            <a:ext cx="2468880" cy="777240"/>
          </a:xfrm>
          <a:prstGeom prst="rect">
            <a:avLst/>
          </a:prstGeom>
          <a:noFill/>
          <a:ln/>
        </p:spPr>
        <p:txBody>
          <a:bodyPr wrap="square" lIns="0" tIns="0" rIns="0" bIns="0" rtlCol="0" anchor="ctr"/>
          <a:lstStyle/>
          <a:p>
            <a:pPr indent="0" marL="0">
              <a:buNone/>
            </a:pPr>
            <a:r>
              <a:rPr lang="en-US" sz="1400" b="1" dirty="0">
                <a:solidFill>
                  <a:srgbClr val="3FE0E0"/>
                </a:solidFill>
                <a:latin typeface="Calibri" pitchFamily="34" charset="0"/>
                <a:ea typeface="Calibri" pitchFamily="34" charset="-122"/>
                <a:cs typeface="Calibri" pitchFamily="34" charset="-120"/>
              </a:rPr>
              <a:t>Kafka + Spark</a:t>
            </a:r>
            <a:endParaRPr lang="en-US" sz="1400" dirty="0"/>
          </a:p>
        </p:txBody>
      </p:sp>
      <p:sp>
        <p:nvSpPr>
          <p:cNvPr id="29" name="Text 27"/>
          <p:cNvSpPr/>
          <p:nvPr/>
        </p:nvSpPr>
        <p:spPr>
          <a:xfrm>
            <a:off x="6492240" y="3566160"/>
            <a:ext cx="5120640" cy="777240"/>
          </a:xfrm>
          <a:prstGeom prst="rect">
            <a:avLst/>
          </a:prstGeom>
          <a:noFill/>
          <a:ln/>
        </p:spPr>
        <p:txBody>
          <a:bodyPr wrap="square" lIns="0" tIns="0" rIns="0" bIns="0" rtlCol="0" anchor="ctr"/>
          <a:lstStyle/>
          <a:p>
            <a:pPr indent="0" marL="0">
              <a:buNone/>
            </a:pPr>
            <a:r>
              <a:rPr lang="en-US" sz="1200" dirty="0">
                <a:solidFill>
                  <a:srgbClr val="B7D7DC"/>
                </a:solidFill>
                <a:latin typeface="Calibri" pitchFamily="34" charset="0"/>
                <a:ea typeface="Calibri" pitchFamily="34" charset="-122"/>
                <a:cs typeface="Calibri" pitchFamily="34" charset="-120"/>
              </a:rPr>
              <a:t>Real-time event processing with windowed alerts</a:t>
            </a:r>
            <a:endParaRPr lang="en-US" sz="1200" dirty="0"/>
          </a:p>
        </p:txBody>
      </p:sp>
      <p:sp>
        <p:nvSpPr>
          <p:cNvPr id="30" name="Shape 28"/>
          <p:cNvSpPr/>
          <p:nvPr/>
        </p:nvSpPr>
        <p:spPr>
          <a:xfrm>
            <a:off x="457200" y="4434840"/>
            <a:ext cx="11247120" cy="777240"/>
          </a:xfrm>
          <a:prstGeom prst="rect">
            <a:avLst/>
          </a:prstGeom>
          <a:solidFill>
            <a:srgbClr val="0A4250"/>
          </a:solidFill>
          <a:ln w="12700">
            <a:solidFill>
              <a:srgbClr val="1E5A6B"/>
            </a:solidFill>
            <a:prstDash val="solid"/>
          </a:ln>
        </p:spPr>
      </p:sp>
      <p:sp>
        <p:nvSpPr>
          <p:cNvPr id="31" name="Shape 29"/>
          <p:cNvSpPr/>
          <p:nvPr/>
        </p:nvSpPr>
        <p:spPr>
          <a:xfrm>
            <a:off x="457200" y="4434840"/>
            <a:ext cx="914400" cy="777240"/>
          </a:xfrm>
          <a:prstGeom prst="rect">
            <a:avLst/>
          </a:prstGeom>
          <a:solidFill>
            <a:srgbClr val="001D24"/>
          </a:solidFill>
          <a:ln w="12700">
            <a:solidFill>
              <a:srgbClr val="1E5A6B"/>
            </a:solidFill>
            <a:prstDash val="solid"/>
          </a:ln>
        </p:spPr>
      </p:sp>
      <p:sp>
        <p:nvSpPr>
          <p:cNvPr id="32" name="Text 30"/>
          <p:cNvSpPr/>
          <p:nvPr/>
        </p:nvSpPr>
        <p:spPr>
          <a:xfrm>
            <a:off x="457200" y="4434840"/>
            <a:ext cx="914400" cy="777240"/>
          </a:xfrm>
          <a:prstGeom prst="rect">
            <a:avLst/>
          </a:prstGeom>
          <a:noFill/>
          <a:ln/>
        </p:spPr>
        <p:txBody>
          <a:bodyPr wrap="square" lIns="0" tIns="0" rIns="0" bIns="0" rtlCol="0" anchor="ctr"/>
          <a:lstStyle/>
          <a:p>
            <a:pPr algn="ctr" indent="0" marL="0">
              <a:buNone/>
            </a:pPr>
            <a:r>
              <a:rPr lang="en-US" sz="2400" b="1" dirty="0">
                <a:solidFill>
                  <a:srgbClr val="3FE0E0"/>
                </a:solidFill>
                <a:latin typeface="Calibri" pitchFamily="34" charset="0"/>
                <a:ea typeface="Calibri" pitchFamily="34" charset="-122"/>
                <a:cs typeface="Calibri" pitchFamily="34" charset="-120"/>
              </a:rPr>
              <a:t>04</a:t>
            </a:r>
            <a:endParaRPr lang="en-US" sz="2400" dirty="0"/>
          </a:p>
        </p:txBody>
      </p:sp>
      <p:sp>
        <p:nvSpPr>
          <p:cNvPr id="33" name="Text 31"/>
          <p:cNvSpPr/>
          <p:nvPr/>
        </p:nvSpPr>
        <p:spPr>
          <a:xfrm>
            <a:off x="1554480" y="4434840"/>
            <a:ext cx="2286000" cy="777240"/>
          </a:xfrm>
          <a:prstGeom prst="rect">
            <a:avLst/>
          </a:prstGeom>
          <a:noFill/>
          <a:ln/>
        </p:spPr>
        <p:txBody>
          <a:bodyPr wrap="square" lIns="0" tIns="0" rIns="0" bIns="0" rtlCol="0" anchor="ctr"/>
          <a:lstStyle/>
          <a:p>
            <a:pPr indent="0" marL="0">
              <a:buNone/>
            </a:pPr>
            <a:r>
              <a:rPr lang="en-US" sz="1500" b="1" spc="300" kern="0" dirty="0">
                <a:solidFill>
                  <a:srgbClr val="FFFFFF"/>
                </a:solidFill>
                <a:latin typeface="Calibri" pitchFamily="34" charset="0"/>
                <a:ea typeface="Calibri" pitchFamily="34" charset="-122"/>
                <a:cs typeface="Calibri" pitchFamily="34" charset="-120"/>
              </a:rPr>
              <a:t>ORCHESTRATE</a:t>
            </a:r>
            <a:endParaRPr lang="en-US" sz="1500" dirty="0"/>
          </a:p>
        </p:txBody>
      </p:sp>
      <p:sp>
        <p:nvSpPr>
          <p:cNvPr id="34" name="Text 32"/>
          <p:cNvSpPr/>
          <p:nvPr/>
        </p:nvSpPr>
        <p:spPr>
          <a:xfrm>
            <a:off x="3931920" y="4434840"/>
            <a:ext cx="2468880" cy="777240"/>
          </a:xfrm>
          <a:prstGeom prst="rect">
            <a:avLst/>
          </a:prstGeom>
          <a:noFill/>
          <a:ln/>
        </p:spPr>
        <p:txBody>
          <a:bodyPr wrap="square" lIns="0" tIns="0" rIns="0" bIns="0" rtlCol="0" anchor="ctr"/>
          <a:lstStyle/>
          <a:p>
            <a:pPr indent="0" marL="0">
              <a:buNone/>
            </a:pPr>
            <a:r>
              <a:rPr lang="en-US" sz="1400" b="1" dirty="0">
                <a:solidFill>
                  <a:srgbClr val="3FE0E0"/>
                </a:solidFill>
                <a:latin typeface="Calibri" pitchFamily="34" charset="0"/>
                <a:ea typeface="Calibri" pitchFamily="34" charset="-122"/>
                <a:cs typeface="Calibri" pitchFamily="34" charset="-120"/>
              </a:rPr>
              <a:t>Apache Airflow</a:t>
            </a:r>
            <a:endParaRPr lang="en-US" sz="1400" dirty="0"/>
          </a:p>
        </p:txBody>
      </p:sp>
      <p:sp>
        <p:nvSpPr>
          <p:cNvPr id="35" name="Text 33"/>
          <p:cNvSpPr/>
          <p:nvPr/>
        </p:nvSpPr>
        <p:spPr>
          <a:xfrm>
            <a:off x="6492240" y="4434840"/>
            <a:ext cx="5120640" cy="777240"/>
          </a:xfrm>
          <a:prstGeom prst="rect">
            <a:avLst/>
          </a:prstGeom>
          <a:noFill/>
          <a:ln/>
        </p:spPr>
        <p:txBody>
          <a:bodyPr wrap="square" lIns="0" tIns="0" rIns="0" bIns="0" rtlCol="0" anchor="ctr"/>
          <a:lstStyle/>
          <a:p>
            <a:pPr indent="0" marL="0">
              <a:buNone/>
            </a:pPr>
            <a:r>
              <a:rPr lang="en-US" sz="1200" dirty="0">
                <a:solidFill>
                  <a:srgbClr val="B7D7DC"/>
                </a:solidFill>
                <a:latin typeface="Calibri" pitchFamily="34" charset="0"/>
                <a:ea typeface="Calibri" pitchFamily="34" charset="-122"/>
                <a:cs typeface="Calibri" pitchFamily="34" charset="-120"/>
              </a:rPr>
              <a:t>Quality gates, retries, idempotent re-runs</a:t>
            </a:r>
            <a:endParaRPr lang="en-US" sz="1200" dirty="0"/>
          </a:p>
        </p:txBody>
      </p:sp>
      <p:sp>
        <p:nvSpPr>
          <p:cNvPr id="36" name="Shape 34"/>
          <p:cNvSpPr/>
          <p:nvPr/>
        </p:nvSpPr>
        <p:spPr>
          <a:xfrm>
            <a:off x="457200" y="5486400"/>
            <a:ext cx="11247120" cy="594360"/>
          </a:xfrm>
          <a:prstGeom prst="rect">
            <a:avLst/>
          </a:prstGeom>
          <a:solidFill>
            <a:srgbClr val="001D24"/>
          </a:solidFill>
          <a:ln w="12700">
            <a:solidFill>
              <a:srgbClr val="3FE0E0"/>
            </a:solidFill>
            <a:prstDash val="solid"/>
          </a:ln>
        </p:spPr>
      </p:sp>
      <p:sp>
        <p:nvSpPr>
          <p:cNvPr id="37" name="Text 35"/>
          <p:cNvSpPr/>
          <p:nvPr/>
        </p:nvSpPr>
        <p:spPr>
          <a:xfrm>
            <a:off x="640080" y="5486400"/>
            <a:ext cx="4572000" cy="594360"/>
          </a:xfrm>
          <a:prstGeom prst="rect">
            <a:avLst/>
          </a:prstGeom>
          <a:noFill/>
          <a:ln/>
        </p:spPr>
        <p:txBody>
          <a:bodyPr wrap="square" lIns="0" tIns="0" rIns="0" bIns="0" rtlCol="0" anchor="ctr"/>
          <a:lstStyle/>
          <a:p>
            <a:pPr indent="0" marL="0">
              <a:buNone/>
            </a:pPr>
            <a:r>
              <a:rPr lang="en-US" sz="1600" b="1" dirty="0">
                <a:solidFill>
                  <a:srgbClr val="3FE0E0"/>
                </a:solidFill>
                <a:latin typeface="Consolas" pitchFamily="34" charset="0"/>
                <a:ea typeface="Consolas" pitchFamily="34" charset="-122"/>
                <a:cs typeface="Consolas" pitchFamily="34" charset="-120"/>
              </a:rPr>
              <a:t>$ docker compose up -d</a:t>
            </a:r>
            <a:endParaRPr lang="en-US" sz="1600" dirty="0"/>
          </a:p>
        </p:txBody>
      </p:sp>
      <p:sp>
        <p:nvSpPr>
          <p:cNvPr id="38" name="Text 36"/>
          <p:cNvSpPr/>
          <p:nvPr/>
        </p:nvSpPr>
        <p:spPr>
          <a:xfrm>
            <a:off x="5212080" y="5486400"/>
            <a:ext cx="6400800" cy="594360"/>
          </a:xfrm>
          <a:prstGeom prst="rect">
            <a:avLst/>
          </a:prstGeom>
          <a:noFill/>
          <a:ln/>
        </p:spPr>
        <p:txBody>
          <a:bodyPr wrap="square" lIns="0" tIns="0" rIns="0" bIns="0" rtlCol="0" anchor="ctr"/>
          <a:lstStyle/>
          <a:p>
            <a:pPr algn="r" indent="0" marL="0">
              <a:buNone/>
            </a:pPr>
            <a:r>
              <a:rPr lang="en-US" sz="1200" i="1" dirty="0">
                <a:solidFill>
                  <a:srgbClr val="B7D7DC"/>
                </a:solidFill>
                <a:latin typeface="Calibri" pitchFamily="34" charset="0"/>
                <a:ea typeface="Calibri" pitchFamily="34" charset="-122"/>
                <a:cs typeface="Calibri" pitchFamily="34" charset="-120"/>
              </a:rPr>
              <a:t>Eleven services, four layers, full pipeline · 3-minute boot time</a:t>
            </a:r>
            <a:endParaRPr lang="en-US" sz="1200" dirty="0"/>
          </a:p>
        </p:txBody>
      </p:sp>
      <p:sp>
        <p:nvSpPr>
          <p:cNvPr id="39" name="Text 37"/>
          <p:cNvSpPr/>
          <p:nvPr/>
        </p:nvSpPr>
        <p:spPr>
          <a:xfrm>
            <a:off x="11338560" y="6446520"/>
            <a:ext cx="640080" cy="274320"/>
          </a:xfrm>
          <a:prstGeom prst="rect">
            <a:avLst/>
          </a:prstGeom>
          <a:noFill/>
          <a:ln/>
        </p:spPr>
        <p:txBody>
          <a:bodyPr wrap="square" lIns="0" tIns="0" rIns="0" bIns="0" rtlCol="0" anchor="ctr"/>
          <a:lstStyle/>
          <a:p>
            <a:pPr algn="r" indent="0" marL="0">
              <a:buNone/>
            </a:pPr>
            <a:r>
              <a:rPr lang="en-US" sz="900" dirty="0">
                <a:solidFill>
                  <a:srgbClr val="7FA8AE"/>
                </a:solidFill>
                <a:latin typeface="Calibri" pitchFamily="34" charset="0"/>
                <a:ea typeface="Calibri" pitchFamily="34" charset="-122"/>
                <a:cs typeface="Calibri" pitchFamily="34" charset="-120"/>
              </a:rPr>
              <a:t>09 / 22</a:t>
            </a:r>
            <a:endParaRPr lang="en-US" sz="900" dirty="0"/>
          </a:p>
        </p:txBody>
      </p:sp>
      <p:sp>
        <p:nvSpPr>
          <p:cNvPr id="40" name="Text 38"/>
          <p:cNvSpPr/>
          <p:nvPr/>
        </p:nvSpPr>
        <p:spPr>
          <a:xfrm>
            <a:off x="365760" y="6446520"/>
            <a:ext cx="7315200" cy="274320"/>
          </a:xfrm>
          <a:prstGeom prst="rect">
            <a:avLst/>
          </a:prstGeom>
          <a:noFill/>
          <a:ln/>
        </p:spPr>
        <p:txBody>
          <a:bodyPr wrap="square" lIns="0" tIns="0" rIns="0" bIns="0" rtlCol="0" anchor="ctr"/>
          <a:lstStyle/>
          <a:p>
            <a:pPr algn="l" indent="0" marL="0">
              <a:buNone/>
            </a:pPr>
            <a:r>
              <a:rPr lang="en-US" sz="900" spc="200" kern="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457200" y="365760"/>
            <a:ext cx="1124712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Why these four technologies, specifically</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indent="0" marL="0">
              <a:buNone/>
            </a:pPr>
            <a:r>
              <a:rPr lang="en-US" sz="1400" i="1" spc="100" kern="0" dirty="0">
                <a:solidFill>
                  <a:srgbClr val="3FE0E0"/>
                </a:solidFill>
                <a:latin typeface="Calibri" pitchFamily="34" charset="0"/>
                <a:ea typeface="Calibri" pitchFamily="34" charset="-122"/>
                <a:cs typeface="Calibri" pitchFamily="34" charset="-120"/>
              </a:rPr>
              <a:t>Each choice was evaluated against a primary alternative</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sp>
      <p:sp>
        <p:nvSpPr>
          <p:cNvPr id="12" name="Shape 10"/>
          <p:cNvSpPr/>
          <p:nvPr/>
        </p:nvSpPr>
        <p:spPr>
          <a:xfrm>
            <a:off x="457200" y="1828800"/>
            <a:ext cx="5532120" cy="2011680"/>
          </a:xfrm>
          <a:prstGeom prst="rect">
            <a:avLst/>
          </a:prstGeom>
          <a:solidFill>
            <a:srgbClr val="0A4250"/>
          </a:solidFill>
          <a:ln w="12700">
            <a:solidFill>
              <a:srgbClr val="1E5A6B"/>
            </a:solidFill>
            <a:prstDash val="solid"/>
          </a:ln>
        </p:spPr>
      </p:sp>
      <p:sp>
        <p:nvSpPr>
          <p:cNvPr id="13" name="Shape 11"/>
          <p:cNvSpPr/>
          <p:nvPr/>
        </p:nvSpPr>
        <p:spPr>
          <a:xfrm>
            <a:off x="457200" y="1828800"/>
            <a:ext cx="73152" cy="2011680"/>
          </a:xfrm>
          <a:prstGeom prst="rect">
            <a:avLst/>
          </a:prstGeom>
          <a:solidFill>
            <a:srgbClr val="3FE0E0"/>
          </a:solidFill>
          <a:ln w="12700">
            <a:solidFill>
              <a:srgbClr val="3FE0E0"/>
            </a:solidFill>
            <a:prstDash val="solid"/>
          </a:ln>
        </p:spPr>
      </p:sp>
      <p:sp>
        <p:nvSpPr>
          <p:cNvPr id="14" name="Text 12"/>
          <p:cNvSpPr/>
          <p:nvPr/>
        </p:nvSpPr>
        <p:spPr>
          <a:xfrm>
            <a:off x="731520" y="1965960"/>
            <a:ext cx="41148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HDFS</a:t>
            </a:r>
            <a:endParaRPr lang="en-US" sz="2200" dirty="0"/>
          </a:p>
        </p:txBody>
      </p:sp>
      <p:sp>
        <p:nvSpPr>
          <p:cNvPr id="15" name="Text 13"/>
          <p:cNvSpPr/>
          <p:nvPr/>
        </p:nvSpPr>
        <p:spPr>
          <a:xfrm>
            <a:off x="731520" y="2468880"/>
            <a:ext cx="5029200" cy="365760"/>
          </a:xfrm>
          <a:prstGeom prst="rect">
            <a:avLst/>
          </a:prstGeom>
          <a:noFill/>
          <a:ln/>
        </p:spPr>
        <p:txBody>
          <a:bodyPr wrap="square" lIns="0" tIns="0" rIns="0" bIns="0" rtlCol="0" anchor="ctr"/>
          <a:lstStyle/>
          <a:p>
            <a:pPr indent="0" marL="0">
              <a:buNone/>
            </a:pPr>
            <a:r>
              <a:rPr lang="en-US" sz="1100" i="1" spc="200" kern="0" dirty="0">
                <a:solidFill>
                  <a:srgbClr val="3FE0E0"/>
                </a:solidFill>
                <a:latin typeface="Calibri" pitchFamily="34" charset="0"/>
                <a:ea typeface="Calibri" pitchFamily="34" charset="-122"/>
                <a:cs typeface="Calibri" pitchFamily="34" charset="-120"/>
              </a:rPr>
              <a:t>vs. raw S3</a:t>
            </a:r>
            <a:endParaRPr lang="en-US" sz="1100" dirty="0"/>
          </a:p>
        </p:txBody>
      </p:sp>
      <p:sp>
        <p:nvSpPr>
          <p:cNvPr id="16" name="Text 14"/>
          <p:cNvSpPr/>
          <p:nvPr/>
        </p:nvSpPr>
        <p:spPr>
          <a:xfrm>
            <a:off x="731520" y="2880360"/>
            <a:ext cx="5029200" cy="914400"/>
          </a:xfrm>
          <a:prstGeom prst="rect">
            <a:avLst/>
          </a:prstGeom>
          <a:noFill/>
          <a:ln/>
        </p:spPr>
        <p:txBody>
          <a:bodyPr wrap="square" lIns="0" tIns="0" rIns="0" bIns="0" rtlCol="0" anchor="ctr"/>
          <a:lstStyle/>
          <a:p>
            <a:pPr indent="0" marL="0">
              <a:buNone/>
            </a:pPr>
            <a:r>
              <a:rPr lang="en-US" sz="1200" dirty="0">
                <a:solidFill>
                  <a:srgbClr val="B7D7DC"/>
                </a:solidFill>
                <a:latin typeface="Calibri" pitchFamily="34" charset="0"/>
                <a:ea typeface="Calibri" pitchFamily="34" charset="-122"/>
                <a:cs typeface="Calibri" pitchFamily="34" charset="-120"/>
              </a:rPr>
              <a:t>Built-in replication, native Spark integration, and a clear migration path to S3 + EMRFS in production.</a:t>
            </a:r>
            <a:endParaRPr lang="en-US" sz="1200" dirty="0"/>
          </a:p>
        </p:txBody>
      </p:sp>
      <p:sp>
        <p:nvSpPr>
          <p:cNvPr id="17" name="Shape 15"/>
          <p:cNvSpPr/>
          <p:nvPr/>
        </p:nvSpPr>
        <p:spPr>
          <a:xfrm>
            <a:off x="6080760" y="1828800"/>
            <a:ext cx="5532120" cy="2011680"/>
          </a:xfrm>
          <a:prstGeom prst="rect">
            <a:avLst/>
          </a:prstGeom>
          <a:solidFill>
            <a:srgbClr val="0A4250"/>
          </a:solidFill>
          <a:ln w="12700">
            <a:solidFill>
              <a:srgbClr val="1E5A6B"/>
            </a:solidFill>
            <a:prstDash val="solid"/>
          </a:ln>
        </p:spPr>
      </p:sp>
      <p:sp>
        <p:nvSpPr>
          <p:cNvPr id="18" name="Shape 16"/>
          <p:cNvSpPr/>
          <p:nvPr/>
        </p:nvSpPr>
        <p:spPr>
          <a:xfrm>
            <a:off x="6080760" y="1828800"/>
            <a:ext cx="73152" cy="2011680"/>
          </a:xfrm>
          <a:prstGeom prst="rect">
            <a:avLst/>
          </a:prstGeom>
          <a:solidFill>
            <a:srgbClr val="3FE0E0"/>
          </a:solidFill>
          <a:ln w="12700">
            <a:solidFill>
              <a:srgbClr val="3FE0E0"/>
            </a:solidFill>
            <a:prstDash val="solid"/>
          </a:ln>
        </p:spPr>
      </p:sp>
      <p:sp>
        <p:nvSpPr>
          <p:cNvPr id="19" name="Text 17"/>
          <p:cNvSpPr/>
          <p:nvPr/>
        </p:nvSpPr>
        <p:spPr>
          <a:xfrm>
            <a:off x="6355080" y="1965960"/>
            <a:ext cx="41148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PySpark</a:t>
            </a:r>
            <a:endParaRPr lang="en-US" sz="2200" dirty="0"/>
          </a:p>
        </p:txBody>
      </p:sp>
      <p:sp>
        <p:nvSpPr>
          <p:cNvPr id="20" name="Text 18"/>
          <p:cNvSpPr/>
          <p:nvPr/>
        </p:nvSpPr>
        <p:spPr>
          <a:xfrm>
            <a:off x="6355080" y="2468880"/>
            <a:ext cx="5029200" cy="365760"/>
          </a:xfrm>
          <a:prstGeom prst="rect">
            <a:avLst/>
          </a:prstGeom>
          <a:noFill/>
          <a:ln/>
        </p:spPr>
        <p:txBody>
          <a:bodyPr wrap="square" lIns="0" tIns="0" rIns="0" bIns="0" rtlCol="0" anchor="ctr"/>
          <a:lstStyle/>
          <a:p>
            <a:pPr indent="0" marL="0">
              <a:buNone/>
            </a:pPr>
            <a:r>
              <a:rPr lang="en-US" sz="1100" i="1" spc="200" kern="0" dirty="0">
                <a:solidFill>
                  <a:srgbClr val="3FE0E0"/>
                </a:solidFill>
                <a:latin typeface="Calibri" pitchFamily="34" charset="0"/>
                <a:ea typeface="Calibri" pitchFamily="34" charset="-122"/>
                <a:cs typeface="Calibri" pitchFamily="34" charset="-120"/>
              </a:rPr>
              <a:t>vs. pandas</a:t>
            </a:r>
            <a:endParaRPr lang="en-US" sz="1100" dirty="0"/>
          </a:p>
        </p:txBody>
      </p:sp>
      <p:sp>
        <p:nvSpPr>
          <p:cNvPr id="21" name="Text 19"/>
          <p:cNvSpPr/>
          <p:nvPr/>
        </p:nvSpPr>
        <p:spPr>
          <a:xfrm>
            <a:off x="6355080" y="2880360"/>
            <a:ext cx="5029200" cy="914400"/>
          </a:xfrm>
          <a:prstGeom prst="rect">
            <a:avLst/>
          </a:prstGeom>
          <a:noFill/>
          <a:ln/>
        </p:spPr>
        <p:txBody>
          <a:bodyPr wrap="square" lIns="0" tIns="0" rIns="0" bIns="0" rtlCol="0" anchor="ctr"/>
          <a:lstStyle/>
          <a:p>
            <a:pPr indent="0" marL="0">
              <a:buNone/>
            </a:pPr>
            <a:r>
              <a:rPr lang="en-US" sz="1200" dirty="0">
                <a:solidFill>
                  <a:srgbClr val="B7D7DC"/>
                </a:solidFill>
                <a:latin typeface="Calibri" pitchFamily="34" charset="0"/>
                <a:ea typeface="Calibri" pitchFamily="34" charset="-122"/>
                <a:cs typeface="Calibri" pitchFamily="34" charset="-120"/>
              </a:rPr>
              <a:t>Distributed shuffle handles the three-way join. Same code scales from 50M rows today to 5B rows at production volume.</a:t>
            </a:r>
            <a:endParaRPr lang="en-US" sz="1200" dirty="0"/>
          </a:p>
        </p:txBody>
      </p:sp>
      <p:sp>
        <p:nvSpPr>
          <p:cNvPr id="22" name="Shape 20"/>
          <p:cNvSpPr/>
          <p:nvPr/>
        </p:nvSpPr>
        <p:spPr>
          <a:xfrm>
            <a:off x="457200" y="4023360"/>
            <a:ext cx="5532120" cy="2011680"/>
          </a:xfrm>
          <a:prstGeom prst="rect">
            <a:avLst/>
          </a:prstGeom>
          <a:solidFill>
            <a:srgbClr val="0A4250"/>
          </a:solidFill>
          <a:ln w="12700">
            <a:solidFill>
              <a:srgbClr val="1E5A6B"/>
            </a:solidFill>
            <a:prstDash val="solid"/>
          </a:ln>
        </p:spPr>
      </p:sp>
      <p:sp>
        <p:nvSpPr>
          <p:cNvPr id="23" name="Shape 21"/>
          <p:cNvSpPr/>
          <p:nvPr/>
        </p:nvSpPr>
        <p:spPr>
          <a:xfrm>
            <a:off x="457200" y="4023360"/>
            <a:ext cx="73152" cy="2011680"/>
          </a:xfrm>
          <a:prstGeom prst="rect">
            <a:avLst/>
          </a:prstGeom>
          <a:solidFill>
            <a:srgbClr val="3FE0E0"/>
          </a:solidFill>
          <a:ln w="12700">
            <a:solidFill>
              <a:srgbClr val="3FE0E0"/>
            </a:solidFill>
            <a:prstDash val="solid"/>
          </a:ln>
        </p:spPr>
      </p:sp>
      <p:sp>
        <p:nvSpPr>
          <p:cNvPr id="24" name="Text 22"/>
          <p:cNvSpPr/>
          <p:nvPr/>
        </p:nvSpPr>
        <p:spPr>
          <a:xfrm>
            <a:off x="731520" y="4160520"/>
            <a:ext cx="41148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Kafka</a:t>
            </a:r>
            <a:endParaRPr lang="en-US" sz="2200" dirty="0"/>
          </a:p>
        </p:txBody>
      </p:sp>
      <p:sp>
        <p:nvSpPr>
          <p:cNvPr id="25" name="Text 23"/>
          <p:cNvSpPr/>
          <p:nvPr/>
        </p:nvSpPr>
        <p:spPr>
          <a:xfrm>
            <a:off x="731520" y="4663440"/>
            <a:ext cx="5029200" cy="365760"/>
          </a:xfrm>
          <a:prstGeom prst="rect">
            <a:avLst/>
          </a:prstGeom>
          <a:noFill/>
          <a:ln/>
        </p:spPr>
        <p:txBody>
          <a:bodyPr wrap="square" lIns="0" tIns="0" rIns="0" bIns="0" rtlCol="0" anchor="ctr"/>
          <a:lstStyle/>
          <a:p>
            <a:pPr indent="0" marL="0">
              <a:buNone/>
            </a:pPr>
            <a:r>
              <a:rPr lang="en-US" sz="1100" i="1" spc="200" kern="0" dirty="0">
                <a:solidFill>
                  <a:srgbClr val="3FE0E0"/>
                </a:solidFill>
                <a:latin typeface="Calibri" pitchFamily="34" charset="0"/>
                <a:ea typeface="Calibri" pitchFamily="34" charset="-122"/>
                <a:cs typeface="Calibri" pitchFamily="34" charset="-120"/>
              </a:rPr>
              <a:t>vs. Kinesis</a:t>
            </a:r>
            <a:endParaRPr lang="en-US" sz="1100" dirty="0"/>
          </a:p>
        </p:txBody>
      </p:sp>
      <p:sp>
        <p:nvSpPr>
          <p:cNvPr id="26" name="Text 24"/>
          <p:cNvSpPr/>
          <p:nvPr/>
        </p:nvSpPr>
        <p:spPr>
          <a:xfrm>
            <a:off x="731520" y="5074920"/>
            <a:ext cx="5029200" cy="914400"/>
          </a:xfrm>
          <a:prstGeom prst="rect">
            <a:avLst/>
          </a:prstGeom>
          <a:noFill/>
          <a:ln/>
        </p:spPr>
        <p:txBody>
          <a:bodyPr wrap="square" lIns="0" tIns="0" rIns="0" bIns="0" rtlCol="0" anchor="ctr"/>
          <a:lstStyle/>
          <a:p>
            <a:pPr indent="0" marL="0">
              <a:buNone/>
            </a:pPr>
            <a:r>
              <a:rPr lang="en-US" sz="1200" dirty="0">
                <a:solidFill>
                  <a:srgbClr val="B7D7DC"/>
                </a:solidFill>
                <a:latin typeface="Calibri" pitchFamily="34" charset="0"/>
                <a:ea typeface="Calibri" pitchFamily="34" charset="-122"/>
                <a:cs typeface="Calibri" pitchFamily="34" charset="-120"/>
              </a:rPr>
              <a:t>Open-source, no vendor lock-in. Direct migration path to managed MSK if MediaWave commits to AWS.</a:t>
            </a:r>
            <a:endParaRPr lang="en-US" sz="1200" dirty="0"/>
          </a:p>
        </p:txBody>
      </p:sp>
      <p:sp>
        <p:nvSpPr>
          <p:cNvPr id="27" name="Shape 25"/>
          <p:cNvSpPr/>
          <p:nvPr/>
        </p:nvSpPr>
        <p:spPr>
          <a:xfrm>
            <a:off x="6080760" y="4023360"/>
            <a:ext cx="5532120" cy="2011680"/>
          </a:xfrm>
          <a:prstGeom prst="rect">
            <a:avLst/>
          </a:prstGeom>
          <a:solidFill>
            <a:srgbClr val="0A4250"/>
          </a:solidFill>
          <a:ln w="12700">
            <a:solidFill>
              <a:srgbClr val="1E5A6B"/>
            </a:solidFill>
            <a:prstDash val="solid"/>
          </a:ln>
        </p:spPr>
      </p:sp>
      <p:sp>
        <p:nvSpPr>
          <p:cNvPr id="28" name="Shape 26"/>
          <p:cNvSpPr/>
          <p:nvPr/>
        </p:nvSpPr>
        <p:spPr>
          <a:xfrm>
            <a:off x="6080760" y="4023360"/>
            <a:ext cx="73152" cy="2011680"/>
          </a:xfrm>
          <a:prstGeom prst="rect">
            <a:avLst/>
          </a:prstGeom>
          <a:solidFill>
            <a:srgbClr val="3FE0E0"/>
          </a:solidFill>
          <a:ln w="12700">
            <a:solidFill>
              <a:srgbClr val="3FE0E0"/>
            </a:solidFill>
            <a:prstDash val="solid"/>
          </a:ln>
        </p:spPr>
      </p:sp>
      <p:sp>
        <p:nvSpPr>
          <p:cNvPr id="29" name="Text 27"/>
          <p:cNvSpPr/>
          <p:nvPr/>
        </p:nvSpPr>
        <p:spPr>
          <a:xfrm>
            <a:off x="6355080" y="4160520"/>
            <a:ext cx="41148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Apache Airflow</a:t>
            </a:r>
            <a:endParaRPr lang="en-US" sz="2200" dirty="0"/>
          </a:p>
        </p:txBody>
      </p:sp>
      <p:sp>
        <p:nvSpPr>
          <p:cNvPr id="30" name="Text 28"/>
          <p:cNvSpPr/>
          <p:nvPr/>
        </p:nvSpPr>
        <p:spPr>
          <a:xfrm>
            <a:off x="6355080" y="4663440"/>
            <a:ext cx="5029200" cy="365760"/>
          </a:xfrm>
          <a:prstGeom prst="rect">
            <a:avLst/>
          </a:prstGeom>
          <a:noFill/>
          <a:ln/>
        </p:spPr>
        <p:txBody>
          <a:bodyPr wrap="square" lIns="0" tIns="0" rIns="0" bIns="0" rtlCol="0" anchor="ctr"/>
          <a:lstStyle/>
          <a:p>
            <a:pPr indent="0" marL="0">
              <a:buNone/>
            </a:pPr>
            <a:r>
              <a:rPr lang="en-US" sz="1100" i="1" spc="200" kern="0" dirty="0">
                <a:solidFill>
                  <a:srgbClr val="3FE0E0"/>
                </a:solidFill>
                <a:latin typeface="Calibri" pitchFamily="34" charset="0"/>
                <a:ea typeface="Calibri" pitchFamily="34" charset="-122"/>
                <a:cs typeface="Calibri" pitchFamily="34" charset="-120"/>
              </a:rPr>
              <a:t>vs. cron + scripts</a:t>
            </a:r>
            <a:endParaRPr lang="en-US" sz="1100" dirty="0"/>
          </a:p>
        </p:txBody>
      </p:sp>
      <p:sp>
        <p:nvSpPr>
          <p:cNvPr id="31" name="Text 29"/>
          <p:cNvSpPr/>
          <p:nvPr/>
        </p:nvSpPr>
        <p:spPr>
          <a:xfrm>
            <a:off x="6355080" y="5074920"/>
            <a:ext cx="5029200" cy="914400"/>
          </a:xfrm>
          <a:prstGeom prst="rect">
            <a:avLst/>
          </a:prstGeom>
          <a:noFill/>
          <a:ln/>
        </p:spPr>
        <p:txBody>
          <a:bodyPr wrap="square" lIns="0" tIns="0" rIns="0" bIns="0" rtlCol="0" anchor="ctr"/>
          <a:lstStyle/>
          <a:p>
            <a:pPr indent="0" marL="0">
              <a:buNone/>
            </a:pPr>
            <a:r>
              <a:rPr lang="en-US" sz="1200" dirty="0">
                <a:solidFill>
                  <a:srgbClr val="B7D7DC"/>
                </a:solidFill>
                <a:latin typeface="Calibri" pitchFamily="34" charset="0"/>
                <a:ea typeface="Calibri" pitchFamily="34" charset="-122"/>
                <a:cs typeface="Calibri" pitchFamily="34" charset="-120"/>
              </a:rPr>
              <a:t>DAG abstraction, retry logic, quality gates, and SLA monitoring out of the box. Operational maturity for production scheduling.</a:t>
            </a:r>
            <a:endParaRPr lang="en-US" sz="1200" dirty="0"/>
          </a:p>
        </p:txBody>
      </p:sp>
      <p:sp>
        <p:nvSpPr>
          <p:cNvPr id="32" name="Text 30"/>
          <p:cNvSpPr/>
          <p:nvPr/>
        </p:nvSpPr>
        <p:spPr>
          <a:xfrm>
            <a:off x="11338560" y="6446520"/>
            <a:ext cx="640080" cy="274320"/>
          </a:xfrm>
          <a:prstGeom prst="rect">
            <a:avLst/>
          </a:prstGeom>
          <a:noFill/>
          <a:ln/>
        </p:spPr>
        <p:txBody>
          <a:bodyPr wrap="square" lIns="0" tIns="0" rIns="0" bIns="0" rtlCol="0" anchor="ctr"/>
          <a:lstStyle/>
          <a:p>
            <a:pPr algn="r" indent="0" marL="0">
              <a:buNone/>
            </a:pPr>
            <a:r>
              <a:rPr lang="en-US" sz="900" dirty="0">
                <a:solidFill>
                  <a:srgbClr val="7FA8AE"/>
                </a:solidFill>
                <a:latin typeface="Calibri" pitchFamily="34" charset="0"/>
                <a:ea typeface="Calibri" pitchFamily="34" charset="-122"/>
                <a:cs typeface="Calibri" pitchFamily="34" charset="-120"/>
              </a:rPr>
              <a:t>10 / 22</a:t>
            </a:r>
            <a:endParaRPr lang="en-US" sz="900" dirty="0"/>
          </a:p>
        </p:txBody>
      </p:sp>
      <p:sp>
        <p:nvSpPr>
          <p:cNvPr id="33" name="Text 31"/>
          <p:cNvSpPr/>
          <p:nvPr/>
        </p:nvSpPr>
        <p:spPr>
          <a:xfrm>
            <a:off x="365760" y="6446520"/>
            <a:ext cx="7315200" cy="274320"/>
          </a:xfrm>
          <a:prstGeom prst="rect">
            <a:avLst/>
          </a:prstGeom>
          <a:noFill/>
          <a:ln/>
        </p:spPr>
        <p:txBody>
          <a:bodyPr wrap="square" lIns="0" tIns="0" rIns="0" bIns="0" rtlCol="0" anchor="ctr"/>
          <a:lstStyle/>
          <a:p>
            <a:pPr algn="l" indent="0" marL="0">
              <a:buNone/>
            </a:pPr>
            <a:r>
              <a:rPr lang="en-US" sz="900" spc="200" kern="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457200" y="365760"/>
            <a:ext cx="1124712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Production-ready: quality, idempotency, and fault tolerance</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indent="0" marL="0">
              <a:buNone/>
            </a:pPr>
            <a:r>
              <a:rPr lang="en-US" sz="1400" i="1" spc="100" kern="0" dirty="0">
                <a:solidFill>
                  <a:srgbClr val="3FE0E0"/>
                </a:solidFill>
                <a:latin typeface="Calibri" pitchFamily="34" charset="0"/>
                <a:ea typeface="Calibri" pitchFamily="34" charset="-122"/>
                <a:cs typeface="Calibri" pitchFamily="34" charset="-120"/>
              </a:rPr>
              <a:t>Three controls make the pipeline operational, not academic</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sp>
      <p:sp>
        <p:nvSpPr>
          <p:cNvPr id="12" name="Shape 10"/>
          <p:cNvSpPr/>
          <p:nvPr/>
        </p:nvSpPr>
        <p:spPr>
          <a:xfrm>
            <a:off x="457200" y="1828800"/>
            <a:ext cx="3703320" cy="4251960"/>
          </a:xfrm>
          <a:prstGeom prst="rect">
            <a:avLst/>
          </a:prstGeom>
          <a:solidFill>
            <a:srgbClr val="0A4250"/>
          </a:solidFill>
          <a:ln w="12700">
            <a:solidFill>
              <a:srgbClr val="1E5A6B"/>
            </a:solidFill>
            <a:prstDash val="solid"/>
          </a:ln>
        </p:spPr>
      </p:sp>
      <p:sp>
        <p:nvSpPr>
          <p:cNvPr id="13" name="Shape 11"/>
          <p:cNvSpPr/>
          <p:nvPr/>
        </p:nvSpPr>
        <p:spPr>
          <a:xfrm>
            <a:off x="457200" y="1828800"/>
            <a:ext cx="3703320" cy="411480"/>
          </a:xfrm>
          <a:prstGeom prst="rect">
            <a:avLst/>
          </a:prstGeom>
          <a:solidFill>
            <a:srgbClr val="3FE0E0"/>
          </a:solidFill>
          <a:ln w="12700">
            <a:solidFill>
              <a:srgbClr val="3FE0E0"/>
            </a:solidFill>
            <a:prstDash val="solid"/>
          </a:ln>
        </p:spPr>
      </p:sp>
      <p:sp>
        <p:nvSpPr>
          <p:cNvPr id="14" name="Text 12"/>
          <p:cNvSpPr/>
          <p:nvPr/>
        </p:nvSpPr>
        <p:spPr>
          <a:xfrm>
            <a:off x="731520" y="1828800"/>
            <a:ext cx="640080" cy="411480"/>
          </a:xfrm>
          <a:prstGeom prst="rect">
            <a:avLst/>
          </a:prstGeom>
          <a:noFill/>
          <a:ln/>
        </p:spPr>
        <p:txBody>
          <a:bodyPr wrap="square" lIns="0" tIns="0" rIns="0" bIns="0" rtlCol="0" anchor="ctr"/>
          <a:lstStyle/>
          <a:p>
            <a:pPr indent="0" marL="0">
              <a:buNone/>
            </a:pPr>
            <a:r>
              <a:rPr lang="en-US" sz="1400" b="1" dirty="0">
                <a:solidFill>
                  <a:srgbClr val="001D24"/>
                </a:solidFill>
                <a:latin typeface="Calibri" pitchFamily="34" charset="0"/>
                <a:ea typeface="Calibri" pitchFamily="34" charset="-122"/>
                <a:cs typeface="Calibri" pitchFamily="34" charset="-120"/>
              </a:rPr>
              <a:t>01</a:t>
            </a:r>
            <a:endParaRPr lang="en-US" sz="1400" dirty="0"/>
          </a:p>
        </p:txBody>
      </p:sp>
      <p:sp>
        <p:nvSpPr>
          <p:cNvPr id="15" name="Text 13"/>
          <p:cNvSpPr/>
          <p:nvPr/>
        </p:nvSpPr>
        <p:spPr>
          <a:xfrm>
            <a:off x="731520" y="2423160"/>
            <a:ext cx="3200400" cy="457200"/>
          </a:xfrm>
          <a:prstGeom prst="rect">
            <a:avLst/>
          </a:prstGeom>
          <a:noFill/>
          <a:ln/>
        </p:spPr>
        <p:txBody>
          <a:bodyPr wrap="square" lIns="0" tIns="0" rIns="0" bIns="0" rtlCol="0" anchor="ctr"/>
          <a:lstStyle/>
          <a:p>
            <a:pPr indent="0" marL="0">
              <a:buNone/>
            </a:pPr>
            <a:r>
              <a:rPr lang="en-US" sz="1600" b="1" spc="100" kern="0" dirty="0">
                <a:solidFill>
                  <a:srgbClr val="FFFFFF"/>
                </a:solidFill>
                <a:latin typeface="Calibri" pitchFamily="34" charset="0"/>
                <a:ea typeface="Calibri" pitchFamily="34" charset="-122"/>
                <a:cs typeface="Calibri" pitchFamily="34" charset="-120"/>
              </a:rPr>
              <a:t>DATA QUALITY GATES</a:t>
            </a:r>
            <a:endParaRPr lang="en-US" sz="1600" dirty="0"/>
          </a:p>
        </p:txBody>
      </p:sp>
      <p:sp>
        <p:nvSpPr>
          <p:cNvPr id="16" name="Shape 14"/>
          <p:cNvSpPr/>
          <p:nvPr/>
        </p:nvSpPr>
        <p:spPr>
          <a:xfrm>
            <a:off x="731520" y="2971800"/>
            <a:ext cx="731520" cy="0"/>
          </a:xfrm>
          <a:prstGeom prst="line">
            <a:avLst/>
          </a:prstGeom>
          <a:noFill/>
          <a:ln w="25400">
            <a:solidFill>
              <a:srgbClr val="3FE0E0"/>
            </a:solidFill>
            <a:prstDash val="solid"/>
          </a:ln>
        </p:spPr>
      </p:sp>
      <p:sp>
        <p:nvSpPr>
          <p:cNvPr id="17" name="Text 15"/>
          <p:cNvSpPr/>
          <p:nvPr/>
        </p:nvSpPr>
        <p:spPr>
          <a:xfrm>
            <a:off x="731520" y="3108960"/>
            <a:ext cx="3200400" cy="2194560"/>
          </a:xfrm>
          <a:prstGeom prst="rect">
            <a:avLst/>
          </a:prstGeom>
          <a:noFill/>
          <a:ln/>
        </p:spPr>
        <p:txBody>
          <a:bodyPr wrap="square" lIns="0" tIns="0" rIns="0" bIns="0" rtlCol="0" anchor="ctr"/>
          <a:lstStyle/>
          <a:p>
            <a:pPr indent="0" marL="0">
              <a:buNone/>
            </a:pPr>
            <a:r>
              <a:rPr lang="en-US" sz="1200" dirty="0">
                <a:solidFill>
                  <a:srgbClr val="B7D7DC"/>
                </a:solidFill>
                <a:latin typeface="Calibri" pitchFamily="34" charset="0"/>
                <a:ea typeface="Calibri" pitchFamily="34" charset="-122"/>
                <a:cs typeface="Calibri" pitchFamily="34" charset="-120"/>
              </a:rPr>
              <a:t>Row count and null checks run between every stage. Failures stop the DAG and surface to operations before bad data contaminates analytics.</a:t>
            </a:r>
            <a:endParaRPr lang="en-US" sz="1200" dirty="0"/>
          </a:p>
        </p:txBody>
      </p:sp>
      <p:sp>
        <p:nvSpPr>
          <p:cNvPr id="18" name="Shape 16"/>
          <p:cNvSpPr/>
          <p:nvPr/>
        </p:nvSpPr>
        <p:spPr>
          <a:xfrm>
            <a:off x="731520" y="5440680"/>
            <a:ext cx="3154680" cy="502920"/>
          </a:xfrm>
          <a:prstGeom prst="rect">
            <a:avLst/>
          </a:prstGeom>
          <a:solidFill>
            <a:srgbClr val="001D24"/>
          </a:solidFill>
          <a:ln w="12700">
            <a:solidFill>
              <a:srgbClr val="3FE0E0"/>
            </a:solidFill>
            <a:prstDash val="solid"/>
          </a:ln>
        </p:spPr>
      </p:sp>
      <p:sp>
        <p:nvSpPr>
          <p:cNvPr id="19" name="Text 17"/>
          <p:cNvSpPr/>
          <p:nvPr/>
        </p:nvSpPr>
        <p:spPr>
          <a:xfrm>
            <a:off x="731520" y="5440680"/>
            <a:ext cx="3154680" cy="502920"/>
          </a:xfrm>
          <a:prstGeom prst="rect">
            <a:avLst/>
          </a:prstGeom>
          <a:noFill/>
          <a:ln/>
        </p:spPr>
        <p:txBody>
          <a:bodyPr wrap="square" lIns="0" tIns="0" rIns="0" bIns="0" rtlCol="0" anchor="ctr"/>
          <a:lstStyle/>
          <a:p>
            <a:pPr algn="ctr" indent="0" marL="0">
              <a:buNone/>
            </a:pPr>
            <a:r>
              <a:rPr lang="en-US" sz="1100" i="1" dirty="0">
                <a:solidFill>
                  <a:srgbClr val="3FE0E0"/>
                </a:solidFill>
                <a:latin typeface="Calibri" pitchFamily="34" charset="0"/>
                <a:ea typeface="Calibri" pitchFamily="34" charset="-122"/>
                <a:cs typeface="Calibri" pitchFamily="34" charset="-120"/>
              </a:rPr>
              <a:t>Validates curated data before joins</a:t>
            </a:r>
            <a:endParaRPr lang="en-US" sz="1100" dirty="0"/>
          </a:p>
        </p:txBody>
      </p:sp>
      <p:sp>
        <p:nvSpPr>
          <p:cNvPr id="20" name="Shape 18"/>
          <p:cNvSpPr/>
          <p:nvPr/>
        </p:nvSpPr>
        <p:spPr>
          <a:xfrm>
            <a:off x="4361688" y="1828800"/>
            <a:ext cx="3703320" cy="4251960"/>
          </a:xfrm>
          <a:prstGeom prst="rect">
            <a:avLst/>
          </a:prstGeom>
          <a:solidFill>
            <a:srgbClr val="0A4250"/>
          </a:solidFill>
          <a:ln w="12700">
            <a:solidFill>
              <a:srgbClr val="1E5A6B"/>
            </a:solidFill>
            <a:prstDash val="solid"/>
          </a:ln>
        </p:spPr>
      </p:sp>
      <p:sp>
        <p:nvSpPr>
          <p:cNvPr id="21" name="Shape 19"/>
          <p:cNvSpPr/>
          <p:nvPr/>
        </p:nvSpPr>
        <p:spPr>
          <a:xfrm>
            <a:off x="4361688" y="1828800"/>
            <a:ext cx="3703320" cy="411480"/>
          </a:xfrm>
          <a:prstGeom prst="rect">
            <a:avLst/>
          </a:prstGeom>
          <a:solidFill>
            <a:srgbClr val="5FBE7D"/>
          </a:solidFill>
          <a:ln w="12700">
            <a:solidFill>
              <a:srgbClr val="5FBE7D"/>
            </a:solidFill>
            <a:prstDash val="solid"/>
          </a:ln>
        </p:spPr>
      </p:sp>
      <p:sp>
        <p:nvSpPr>
          <p:cNvPr id="22" name="Text 20"/>
          <p:cNvSpPr/>
          <p:nvPr/>
        </p:nvSpPr>
        <p:spPr>
          <a:xfrm>
            <a:off x="4636008" y="1828800"/>
            <a:ext cx="640080" cy="411480"/>
          </a:xfrm>
          <a:prstGeom prst="rect">
            <a:avLst/>
          </a:prstGeom>
          <a:noFill/>
          <a:ln/>
        </p:spPr>
        <p:txBody>
          <a:bodyPr wrap="square" lIns="0" tIns="0" rIns="0" bIns="0" rtlCol="0" anchor="ctr"/>
          <a:lstStyle/>
          <a:p>
            <a:pPr indent="0" marL="0">
              <a:buNone/>
            </a:pPr>
            <a:r>
              <a:rPr lang="en-US" sz="1400" b="1" dirty="0">
                <a:solidFill>
                  <a:srgbClr val="001D24"/>
                </a:solidFill>
                <a:latin typeface="Calibri" pitchFamily="34" charset="0"/>
                <a:ea typeface="Calibri" pitchFamily="34" charset="-122"/>
                <a:cs typeface="Calibri" pitchFamily="34" charset="-120"/>
              </a:rPr>
              <a:t>02</a:t>
            </a:r>
            <a:endParaRPr lang="en-US" sz="1400" dirty="0"/>
          </a:p>
        </p:txBody>
      </p:sp>
      <p:sp>
        <p:nvSpPr>
          <p:cNvPr id="23" name="Text 21"/>
          <p:cNvSpPr/>
          <p:nvPr/>
        </p:nvSpPr>
        <p:spPr>
          <a:xfrm>
            <a:off x="4636008" y="2423160"/>
            <a:ext cx="3200400" cy="457200"/>
          </a:xfrm>
          <a:prstGeom prst="rect">
            <a:avLst/>
          </a:prstGeom>
          <a:noFill/>
          <a:ln/>
        </p:spPr>
        <p:txBody>
          <a:bodyPr wrap="square" lIns="0" tIns="0" rIns="0" bIns="0" rtlCol="0" anchor="ctr"/>
          <a:lstStyle/>
          <a:p>
            <a:pPr indent="0" marL="0">
              <a:buNone/>
            </a:pPr>
            <a:r>
              <a:rPr lang="en-US" sz="1600" b="1" spc="100" kern="0" dirty="0">
                <a:solidFill>
                  <a:srgbClr val="FFFFFF"/>
                </a:solidFill>
                <a:latin typeface="Calibri" pitchFamily="34" charset="0"/>
                <a:ea typeface="Calibri" pitchFamily="34" charset="-122"/>
                <a:cs typeface="Calibri" pitchFamily="34" charset="-120"/>
              </a:rPr>
              <a:t>IDEMPOTENT RE-RUNS</a:t>
            </a:r>
            <a:endParaRPr lang="en-US" sz="1600" dirty="0"/>
          </a:p>
        </p:txBody>
      </p:sp>
      <p:sp>
        <p:nvSpPr>
          <p:cNvPr id="24" name="Shape 22"/>
          <p:cNvSpPr/>
          <p:nvPr/>
        </p:nvSpPr>
        <p:spPr>
          <a:xfrm>
            <a:off x="4636008" y="2971800"/>
            <a:ext cx="731520" cy="0"/>
          </a:xfrm>
          <a:prstGeom prst="line">
            <a:avLst/>
          </a:prstGeom>
          <a:noFill/>
          <a:ln w="25400">
            <a:solidFill>
              <a:srgbClr val="5FBE7D"/>
            </a:solidFill>
            <a:prstDash val="solid"/>
          </a:ln>
        </p:spPr>
      </p:sp>
      <p:sp>
        <p:nvSpPr>
          <p:cNvPr id="25" name="Text 23"/>
          <p:cNvSpPr/>
          <p:nvPr/>
        </p:nvSpPr>
        <p:spPr>
          <a:xfrm>
            <a:off x="4636008" y="3108960"/>
            <a:ext cx="3200400" cy="2194560"/>
          </a:xfrm>
          <a:prstGeom prst="rect">
            <a:avLst/>
          </a:prstGeom>
          <a:noFill/>
          <a:ln/>
        </p:spPr>
        <p:txBody>
          <a:bodyPr wrap="square" lIns="0" tIns="0" rIns="0" bIns="0" rtlCol="0" anchor="ctr"/>
          <a:lstStyle/>
          <a:p>
            <a:pPr indent="0" marL="0">
              <a:buNone/>
            </a:pPr>
            <a:r>
              <a:rPr lang="en-US" sz="1200" dirty="0">
                <a:solidFill>
                  <a:srgbClr val="B7D7DC"/>
                </a:solidFill>
                <a:latin typeface="Calibri" pitchFamily="34" charset="0"/>
                <a:ea typeface="Calibri" pitchFamily="34" charset="-122"/>
                <a:cs typeface="Calibri" pitchFamily="34" charset="-120"/>
              </a:rPr>
              <a:t>All Parquet writes use overwrite mode. Re-running the pipeline produces identical output with no duplicate rows. Safe replay from any task.</a:t>
            </a:r>
            <a:endParaRPr lang="en-US" sz="1200" dirty="0"/>
          </a:p>
        </p:txBody>
      </p:sp>
      <p:sp>
        <p:nvSpPr>
          <p:cNvPr id="26" name="Shape 24"/>
          <p:cNvSpPr/>
          <p:nvPr/>
        </p:nvSpPr>
        <p:spPr>
          <a:xfrm>
            <a:off x="4636008" y="5440680"/>
            <a:ext cx="3154680" cy="502920"/>
          </a:xfrm>
          <a:prstGeom prst="rect">
            <a:avLst/>
          </a:prstGeom>
          <a:solidFill>
            <a:srgbClr val="001D24"/>
          </a:solidFill>
          <a:ln w="12700">
            <a:solidFill>
              <a:srgbClr val="5FBE7D"/>
            </a:solidFill>
            <a:prstDash val="solid"/>
          </a:ln>
        </p:spPr>
      </p:sp>
      <p:sp>
        <p:nvSpPr>
          <p:cNvPr id="27" name="Text 25"/>
          <p:cNvSpPr/>
          <p:nvPr/>
        </p:nvSpPr>
        <p:spPr>
          <a:xfrm>
            <a:off x="4636008" y="5440680"/>
            <a:ext cx="3154680" cy="502920"/>
          </a:xfrm>
          <a:prstGeom prst="rect">
            <a:avLst/>
          </a:prstGeom>
          <a:noFill/>
          <a:ln/>
        </p:spPr>
        <p:txBody>
          <a:bodyPr wrap="square" lIns="0" tIns="0" rIns="0" bIns="0" rtlCol="0" anchor="ctr"/>
          <a:lstStyle/>
          <a:p>
            <a:pPr algn="ctr" indent="0" marL="0">
              <a:buNone/>
            </a:pPr>
            <a:r>
              <a:rPr lang="en-US" sz="1100" i="1" dirty="0">
                <a:solidFill>
                  <a:srgbClr val="5FBE7D"/>
                </a:solidFill>
                <a:latin typeface="Calibri" pitchFamily="34" charset="0"/>
                <a:ea typeface="Calibri" pitchFamily="34" charset="-122"/>
                <a:cs typeface="Calibri" pitchFamily="34" charset="-120"/>
              </a:rPr>
              <a:t>Verified across 5 test re-runs</a:t>
            </a:r>
            <a:endParaRPr lang="en-US" sz="1100" dirty="0"/>
          </a:p>
        </p:txBody>
      </p:sp>
      <p:sp>
        <p:nvSpPr>
          <p:cNvPr id="28" name="Shape 26"/>
          <p:cNvSpPr/>
          <p:nvPr/>
        </p:nvSpPr>
        <p:spPr>
          <a:xfrm>
            <a:off x="8266176" y="1828800"/>
            <a:ext cx="3703320" cy="4251960"/>
          </a:xfrm>
          <a:prstGeom prst="rect">
            <a:avLst/>
          </a:prstGeom>
          <a:solidFill>
            <a:srgbClr val="0A4250"/>
          </a:solidFill>
          <a:ln w="12700">
            <a:solidFill>
              <a:srgbClr val="1E5A6B"/>
            </a:solidFill>
            <a:prstDash val="solid"/>
          </a:ln>
        </p:spPr>
      </p:sp>
      <p:sp>
        <p:nvSpPr>
          <p:cNvPr id="29" name="Shape 27"/>
          <p:cNvSpPr/>
          <p:nvPr/>
        </p:nvSpPr>
        <p:spPr>
          <a:xfrm>
            <a:off x="8266176" y="1828800"/>
            <a:ext cx="3703320" cy="411480"/>
          </a:xfrm>
          <a:prstGeom prst="rect">
            <a:avLst/>
          </a:prstGeom>
          <a:solidFill>
            <a:srgbClr val="F0A23E"/>
          </a:solidFill>
          <a:ln w="12700">
            <a:solidFill>
              <a:srgbClr val="F0A23E"/>
            </a:solidFill>
            <a:prstDash val="solid"/>
          </a:ln>
        </p:spPr>
      </p:sp>
      <p:sp>
        <p:nvSpPr>
          <p:cNvPr id="30" name="Text 28"/>
          <p:cNvSpPr/>
          <p:nvPr/>
        </p:nvSpPr>
        <p:spPr>
          <a:xfrm>
            <a:off x="8540496" y="1828800"/>
            <a:ext cx="640080" cy="411480"/>
          </a:xfrm>
          <a:prstGeom prst="rect">
            <a:avLst/>
          </a:prstGeom>
          <a:noFill/>
          <a:ln/>
        </p:spPr>
        <p:txBody>
          <a:bodyPr wrap="square" lIns="0" tIns="0" rIns="0" bIns="0" rtlCol="0" anchor="ctr"/>
          <a:lstStyle/>
          <a:p>
            <a:pPr indent="0" marL="0">
              <a:buNone/>
            </a:pPr>
            <a:r>
              <a:rPr lang="en-US" sz="1400" b="1" dirty="0">
                <a:solidFill>
                  <a:srgbClr val="001D24"/>
                </a:solidFill>
                <a:latin typeface="Calibri" pitchFamily="34" charset="0"/>
                <a:ea typeface="Calibri" pitchFamily="34" charset="-122"/>
                <a:cs typeface="Calibri" pitchFamily="34" charset="-120"/>
              </a:rPr>
              <a:t>03</a:t>
            </a:r>
            <a:endParaRPr lang="en-US" sz="1400" dirty="0"/>
          </a:p>
        </p:txBody>
      </p:sp>
      <p:sp>
        <p:nvSpPr>
          <p:cNvPr id="31" name="Text 29"/>
          <p:cNvSpPr/>
          <p:nvPr/>
        </p:nvSpPr>
        <p:spPr>
          <a:xfrm>
            <a:off x="8540496" y="2423160"/>
            <a:ext cx="3200400" cy="457200"/>
          </a:xfrm>
          <a:prstGeom prst="rect">
            <a:avLst/>
          </a:prstGeom>
          <a:noFill/>
          <a:ln/>
        </p:spPr>
        <p:txBody>
          <a:bodyPr wrap="square" lIns="0" tIns="0" rIns="0" bIns="0" rtlCol="0" anchor="ctr"/>
          <a:lstStyle/>
          <a:p>
            <a:pPr indent="0" marL="0">
              <a:buNone/>
            </a:pPr>
            <a:r>
              <a:rPr lang="en-US" sz="1600" b="1" spc="100" kern="0" dirty="0">
                <a:solidFill>
                  <a:srgbClr val="FFFFFF"/>
                </a:solidFill>
                <a:latin typeface="Calibri" pitchFamily="34" charset="0"/>
                <a:ea typeface="Calibri" pitchFamily="34" charset="-122"/>
                <a:cs typeface="Calibri" pitchFamily="34" charset="-120"/>
              </a:rPr>
              <a:t>RETRY &amp; MONITORING</a:t>
            </a:r>
            <a:endParaRPr lang="en-US" sz="1600" dirty="0"/>
          </a:p>
        </p:txBody>
      </p:sp>
      <p:sp>
        <p:nvSpPr>
          <p:cNvPr id="32" name="Shape 30"/>
          <p:cNvSpPr/>
          <p:nvPr/>
        </p:nvSpPr>
        <p:spPr>
          <a:xfrm>
            <a:off x="8540496" y="2971800"/>
            <a:ext cx="731520" cy="0"/>
          </a:xfrm>
          <a:prstGeom prst="line">
            <a:avLst/>
          </a:prstGeom>
          <a:noFill/>
          <a:ln w="25400">
            <a:solidFill>
              <a:srgbClr val="F0A23E"/>
            </a:solidFill>
            <a:prstDash val="solid"/>
          </a:ln>
        </p:spPr>
      </p:sp>
      <p:sp>
        <p:nvSpPr>
          <p:cNvPr id="33" name="Text 31"/>
          <p:cNvSpPr/>
          <p:nvPr/>
        </p:nvSpPr>
        <p:spPr>
          <a:xfrm>
            <a:off x="8540496" y="3108960"/>
            <a:ext cx="3200400" cy="2194560"/>
          </a:xfrm>
          <a:prstGeom prst="rect">
            <a:avLst/>
          </a:prstGeom>
          <a:noFill/>
          <a:ln/>
        </p:spPr>
        <p:txBody>
          <a:bodyPr wrap="square" lIns="0" tIns="0" rIns="0" bIns="0" rtlCol="0" anchor="ctr"/>
          <a:lstStyle/>
          <a:p>
            <a:pPr indent="0" marL="0">
              <a:buNone/>
            </a:pPr>
            <a:r>
              <a:rPr lang="en-US" sz="1200" dirty="0">
                <a:solidFill>
                  <a:srgbClr val="B7D7DC"/>
                </a:solidFill>
                <a:latin typeface="Calibri" pitchFamily="34" charset="0"/>
                <a:ea typeface="Calibri" pitchFamily="34" charset="-122"/>
                <a:cs typeface="Calibri" pitchFamily="34" charset="-120"/>
              </a:rPr>
              <a:t>Airflow handles 2 retries with exponential backoff. Email-on-failure alerting built in. Streaming monitor DAG runs every 15 minutes to check Kafka lag.</a:t>
            </a:r>
            <a:endParaRPr lang="en-US" sz="1200" dirty="0"/>
          </a:p>
        </p:txBody>
      </p:sp>
      <p:sp>
        <p:nvSpPr>
          <p:cNvPr id="34" name="Shape 32"/>
          <p:cNvSpPr/>
          <p:nvPr/>
        </p:nvSpPr>
        <p:spPr>
          <a:xfrm>
            <a:off x="8540496" y="5440680"/>
            <a:ext cx="3154680" cy="502920"/>
          </a:xfrm>
          <a:prstGeom prst="rect">
            <a:avLst/>
          </a:prstGeom>
          <a:solidFill>
            <a:srgbClr val="001D24"/>
          </a:solidFill>
          <a:ln w="12700">
            <a:solidFill>
              <a:srgbClr val="F0A23E"/>
            </a:solidFill>
            <a:prstDash val="solid"/>
          </a:ln>
        </p:spPr>
      </p:sp>
      <p:sp>
        <p:nvSpPr>
          <p:cNvPr id="35" name="Text 33"/>
          <p:cNvSpPr/>
          <p:nvPr/>
        </p:nvSpPr>
        <p:spPr>
          <a:xfrm>
            <a:off x="8540496" y="5440680"/>
            <a:ext cx="3154680" cy="502920"/>
          </a:xfrm>
          <a:prstGeom prst="rect">
            <a:avLst/>
          </a:prstGeom>
          <a:noFill/>
          <a:ln/>
        </p:spPr>
        <p:txBody>
          <a:bodyPr wrap="square" lIns="0" tIns="0" rIns="0" bIns="0" rtlCol="0" anchor="ctr"/>
          <a:lstStyle/>
          <a:p>
            <a:pPr algn="ctr" indent="0" marL="0">
              <a:buNone/>
            </a:pPr>
            <a:r>
              <a:rPr lang="en-US" sz="1100" i="1" dirty="0">
                <a:solidFill>
                  <a:srgbClr val="F0A23E"/>
                </a:solidFill>
                <a:latin typeface="Calibri" pitchFamily="34" charset="0"/>
                <a:ea typeface="Calibri" pitchFamily="34" charset="-122"/>
                <a:cs typeface="Calibri" pitchFamily="34" charset="-120"/>
              </a:rPr>
              <a:t>30-min max time to detect issue</a:t>
            </a:r>
            <a:endParaRPr lang="en-US" sz="1100" dirty="0"/>
          </a:p>
        </p:txBody>
      </p:sp>
      <p:sp>
        <p:nvSpPr>
          <p:cNvPr id="36" name="Text 34"/>
          <p:cNvSpPr/>
          <p:nvPr/>
        </p:nvSpPr>
        <p:spPr>
          <a:xfrm>
            <a:off x="11338560" y="6446520"/>
            <a:ext cx="640080" cy="274320"/>
          </a:xfrm>
          <a:prstGeom prst="rect">
            <a:avLst/>
          </a:prstGeom>
          <a:noFill/>
          <a:ln/>
        </p:spPr>
        <p:txBody>
          <a:bodyPr wrap="square" lIns="0" tIns="0" rIns="0" bIns="0" rtlCol="0" anchor="ctr"/>
          <a:lstStyle/>
          <a:p>
            <a:pPr algn="r" indent="0" marL="0">
              <a:buNone/>
            </a:pPr>
            <a:r>
              <a:rPr lang="en-US" sz="900" dirty="0">
                <a:solidFill>
                  <a:srgbClr val="7FA8AE"/>
                </a:solidFill>
                <a:latin typeface="Calibri" pitchFamily="34" charset="0"/>
                <a:ea typeface="Calibri" pitchFamily="34" charset="-122"/>
                <a:cs typeface="Calibri" pitchFamily="34" charset="-120"/>
              </a:rPr>
              <a:t>11 / 22</a:t>
            </a:r>
            <a:endParaRPr lang="en-US" sz="900" dirty="0"/>
          </a:p>
        </p:txBody>
      </p:sp>
      <p:sp>
        <p:nvSpPr>
          <p:cNvPr id="37" name="Text 35"/>
          <p:cNvSpPr/>
          <p:nvPr/>
        </p:nvSpPr>
        <p:spPr>
          <a:xfrm>
            <a:off x="365760" y="6446520"/>
            <a:ext cx="7315200" cy="274320"/>
          </a:xfrm>
          <a:prstGeom prst="rect">
            <a:avLst/>
          </a:prstGeom>
          <a:noFill/>
          <a:ln/>
        </p:spPr>
        <p:txBody>
          <a:bodyPr wrap="square" lIns="0" tIns="0" rIns="0" bIns="0" rtlCol="0" anchor="ctr"/>
          <a:lstStyle/>
          <a:p>
            <a:pPr algn="l" indent="0" marL="0">
              <a:buNone/>
            </a:pPr>
            <a:r>
              <a:rPr lang="en-US" sz="900" spc="200" kern="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731520" y="2377440"/>
            <a:ext cx="1828800" cy="1645920"/>
          </a:xfrm>
          <a:prstGeom prst="rect">
            <a:avLst/>
          </a:prstGeom>
          <a:noFill/>
          <a:ln/>
        </p:spPr>
        <p:txBody>
          <a:bodyPr wrap="square" lIns="0" tIns="0" rIns="0" bIns="0" rtlCol="0" anchor="ctr"/>
          <a:lstStyle/>
          <a:p>
            <a:pPr algn="l" indent="0" marL="0">
              <a:buNone/>
            </a:pPr>
            <a:r>
              <a:rPr lang="en-US" sz="10000" b="1" dirty="0">
                <a:solidFill>
                  <a:srgbClr val="FFFFFF"/>
                </a:solidFill>
                <a:latin typeface="Calibri" pitchFamily="34" charset="0"/>
                <a:ea typeface="Calibri" pitchFamily="34" charset="-122"/>
                <a:cs typeface="Calibri" pitchFamily="34" charset="-120"/>
              </a:rPr>
              <a:t>04</a:t>
            </a:r>
            <a:endParaRPr lang="en-US" sz="10000" dirty="0"/>
          </a:p>
        </p:txBody>
      </p:sp>
      <p:sp>
        <p:nvSpPr>
          <p:cNvPr id="10" name="Shape 8"/>
          <p:cNvSpPr/>
          <p:nvPr/>
        </p:nvSpPr>
        <p:spPr>
          <a:xfrm>
            <a:off x="2651760" y="2606040"/>
            <a:ext cx="0" cy="1371600"/>
          </a:xfrm>
          <a:prstGeom prst="line">
            <a:avLst/>
          </a:prstGeom>
          <a:noFill/>
          <a:ln w="25400">
            <a:solidFill>
              <a:srgbClr val="3FE0E0"/>
            </a:solidFill>
            <a:prstDash val="solid"/>
          </a:ln>
        </p:spPr>
      </p:sp>
      <p:sp>
        <p:nvSpPr>
          <p:cNvPr id="11" name="Text 9"/>
          <p:cNvSpPr/>
          <p:nvPr/>
        </p:nvSpPr>
        <p:spPr>
          <a:xfrm>
            <a:off x="2926080" y="2468880"/>
            <a:ext cx="777240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What the Data Reveals</a:t>
            </a:r>
            <a:endParaRPr lang="en-US" sz="4400" dirty="0"/>
          </a:p>
        </p:txBody>
      </p:sp>
      <p:sp>
        <p:nvSpPr>
          <p:cNvPr id="12" name="Text 10"/>
          <p:cNvSpPr/>
          <p:nvPr/>
        </p:nvSpPr>
        <p:spPr>
          <a:xfrm>
            <a:off x="2926080" y="3520440"/>
            <a:ext cx="7772400" cy="457200"/>
          </a:xfrm>
          <a:prstGeom prst="rect">
            <a:avLst/>
          </a:prstGeom>
          <a:noFill/>
          <a:ln/>
        </p:spPr>
        <p:txBody>
          <a:bodyPr wrap="square" lIns="0" tIns="0" rIns="0" bIns="0" rtlCol="0" anchor="ctr"/>
          <a:lstStyle/>
          <a:p>
            <a:pPr indent="0" marL="0">
              <a:buNone/>
            </a:pPr>
            <a:r>
              <a:rPr lang="en-US" sz="1600" i="1" spc="200" kern="0" dirty="0">
                <a:solidFill>
                  <a:srgbClr val="3FE0E0"/>
                </a:solidFill>
                <a:latin typeface="Calibri" pitchFamily="34" charset="0"/>
                <a:ea typeface="Calibri" pitchFamily="34" charset="-122"/>
                <a:cs typeface="Calibri" pitchFamily="34" charset="-120"/>
              </a:rPr>
              <a:t>FOUR INSIGHTS WITH QUANTIFIED BUSINESS IMPACT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457200" y="365760"/>
            <a:ext cx="1124712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Insight 01 · Content ROI is concentrated in a small share of titles</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indent="0" marL="0">
              <a:buNone/>
            </a:pPr>
            <a:r>
              <a:rPr lang="en-US" sz="1400" i="1" spc="100" kern="0" dirty="0">
                <a:solidFill>
                  <a:srgbClr val="3FE0E0"/>
                </a:solidFill>
                <a:latin typeface="Calibri" pitchFamily="34" charset="0"/>
                <a:ea typeface="Calibri" pitchFamily="34" charset="-122"/>
                <a:cs typeface="Calibri" pitchFamily="34" charset="-120"/>
              </a:rPr>
              <a:t>Custom metric: cost per viewing hour reveals where catalog spend underperforms</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sp>
      <p:sp>
        <p:nvSpPr>
          <p:cNvPr id="12" name="Shape 10"/>
          <p:cNvSpPr/>
          <p:nvPr/>
        </p:nvSpPr>
        <p:spPr>
          <a:xfrm>
            <a:off x="457200" y="1828800"/>
            <a:ext cx="5029200" cy="4251960"/>
          </a:xfrm>
          <a:prstGeom prst="rect">
            <a:avLst/>
          </a:prstGeom>
          <a:solidFill>
            <a:srgbClr val="0A4250"/>
          </a:solidFill>
          <a:ln w="12700">
            <a:solidFill>
              <a:srgbClr val="1E5A6B"/>
            </a:solidFill>
            <a:prstDash val="solid"/>
          </a:ln>
        </p:spPr>
      </p:sp>
      <p:sp>
        <p:nvSpPr>
          <p:cNvPr id="13" name="Text 11"/>
          <p:cNvSpPr/>
          <p:nvPr/>
        </p:nvSpPr>
        <p:spPr>
          <a:xfrm>
            <a:off x="640080" y="1965960"/>
            <a:ext cx="4663440" cy="274320"/>
          </a:xfrm>
          <a:prstGeom prst="rect">
            <a:avLst/>
          </a:prstGeom>
          <a:noFill/>
          <a:ln/>
        </p:spPr>
        <p:txBody>
          <a:bodyPr wrap="square" lIns="0" tIns="0" rIns="0" bIns="0" rtlCol="0" anchor="ctr"/>
          <a:lstStyle/>
          <a:p>
            <a:pPr indent="0" marL="0">
              <a:buNone/>
            </a:pPr>
            <a:r>
              <a:rPr lang="en-US" sz="1000" spc="300" kern="0" dirty="0">
                <a:solidFill>
                  <a:srgbClr val="3FE0E0"/>
                </a:solidFill>
                <a:latin typeface="Calibri" pitchFamily="34" charset="0"/>
                <a:ea typeface="Calibri" pitchFamily="34" charset="-122"/>
                <a:cs typeface="Calibri" pitchFamily="34" charset="-120"/>
              </a:rPr>
              <a:t>CUSTOM METRIC</a:t>
            </a:r>
            <a:endParaRPr lang="en-US" sz="1000" dirty="0"/>
          </a:p>
        </p:txBody>
      </p:sp>
      <p:sp>
        <p:nvSpPr>
          <p:cNvPr id="14" name="Text 12"/>
          <p:cNvSpPr/>
          <p:nvPr/>
        </p:nvSpPr>
        <p:spPr>
          <a:xfrm>
            <a:off x="640080" y="2286000"/>
            <a:ext cx="4663440" cy="411480"/>
          </a:xfrm>
          <a:prstGeom prst="rect">
            <a:avLst/>
          </a:prstGeom>
          <a:noFill/>
          <a:ln/>
        </p:spPr>
        <p:txBody>
          <a:bodyPr wrap="square" lIns="0" tIns="0" rIns="0" bIns="0" rtlCol="0" anchor="ctr"/>
          <a:lstStyle/>
          <a:p>
            <a:pPr indent="0" marL="0">
              <a:buNone/>
            </a:pPr>
            <a:r>
              <a:rPr lang="en-US" sz="1800" b="1" dirty="0">
                <a:solidFill>
                  <a:srgbClr val="FFFFFF"/>
                </a:solidFill>
                <a:latin typeface="Consolas" pitchFamily="34" charset="0"/>
                <a:ea typeface="Consolas" pitchFamily="34" charset="-122"/>
                <a:cs typeface="Consolas" pitchFamily="34" charset="-120"/>
              </a:rPr>
              <a:t>cost_per_viewing_hour</a:t>
            </a:r>
            <a:endParaRPr lang="en-US" sz="1800" dirty="0"/>
          </a:p>
        </p:txBody>
      </p:sp>
      <p:sp>
        <p:nvSpPr>
          <p:cNvPr id="15" name="Text 13"/>
          <p:cNvSpPr/>
          <p:nvPr/>
        </p:nvSpPr>
        <p:spPr>
          <a:xfrm>
            <a:off x="640080" y="3108960"/>
            <a:ext cx="4663440" cy="411480"/>
          </a:xfrm>
          <a:prstGeom prst="rect">
            <a:avLst/>
          </a:prstGeom>
          <a:noFill/>
          <a:ln/>
        </p:spPr>
        <p:txBody>
          <a:bodyPr wrap="square" lIns="0" tIns="0" rIns="0" bIns="0" rtlCol="0" anchor="ctr"/>
          <a:lstStyle/>
          <a:p>
            <a:pPr algn="ctr" indent="0" marL="0">
              <a:buNone/>
            </a:pPr>
            <a:r>
              <a:rPr lang="en-US" sz="1600" b="1" dirty="0">
                <a:solidFill>
                  <a:srgbClr val="5BC9C9"/>
                </a:solidFill>
                <a:latin typeface="Calibri" pitchFamily="34" charset="0"/>
                <a:ea typeface="Calibri" pitchFamily="34" charset="-122"/>
                <a:cs typeface="Calibri" pitchFamily="34" charset="-120"/>
              </a:rPr>
              <a:t>monthly license cost</a:t>
            </a:r>
            <a:endParaRPr lang="en-US" sz="1600" dirty="0"/>
          </a:p>
        </p:txBody>
      </p:sp>
      <p:sp>
        <p:nvSpPr>
          <p:cNvPr id="16" name="Shape 14"/>
          <p:cNvSpPr/>
          <p:nvPr/>
        </p:nvSpPr>
        <p:spPr>
          <a:xfrm>
            <a:off x="1371600" y="3611880"/>
            <a:ext cx="3200400" cy="0"/>
          </a:xfrm>
          <a:prstGeom prst="line">
            <a:avLst/>
          </a:prstGeom>
          <a:noFill/>
          <a:ln w="25400">
            <a:solidFill>
              <a:srgbClr val="3FE0E0"/>
            </a:solidFill>
            <a:prstDash val="solid"/>
          </a:ln>
        </p:spPr>
      </p:sp>
      <p:sp>
        <p:nvSpPr>
          <p:cNvPr id="17" name="Text 15"/>
          <p:cNvSpPr/>
          <p:nvPr/>
        </p:nvSpPr>
        <p:spPr>
          <a:xfrm>
            <a:off x="640080" y="3703320"/>
            <a:ext cx="4663440" cy="411480"/>
          </a:xfrm>
          <a:prstGeom prst="rect">
            <a:avLst/>
          </a:prstGeom>
          <a:noFill/>
          <a:ln/>
        </p:spPr>
        <p:txBody>
          <a:bodyPr wrap="square" lIns="0" tIns="0" rIns="0" bIns="0" rtlCol="0" anchor="ctr"/>
          <a:lstStyle/>
          <a:p>
            <a:pPr algn="ctr" indent="0" marL="0">
              <a:buNone/>
            </a:pPr>
            <a:r>
              <a:rPr lang="en-US" sz="1600" b="1" dirty="0">
                <a:solidFill>
                  <a:srgbClr val="5BC9C9"/>
                </a:solidFill>
                <a:latin typeface="Calibri" pitchFamily="34" charset="0"/>
                <a:ea typeface="Calibri" pitchFamily="34" charset="-122"/>
                <a:cs typeface="Calibri" pitchFamily="34" charset="-120"/>
              </a:rPr>
              <a:t>total viewing hours</a:t>
            </a:r>
            <a:endParaRPr lang="en-US" sz="1600" dirty="0"/>
          </a:p>
        </p:txBody>
      </p:sp>
      <p:sp>
        <p:nvSpPr>
          <p:cNvPr id="18" name="Text 16"/>
          <p:cNvSpPr/>
          <p:nvPr/>
        </p:nvSpPr>
        <p:spPr>
          <a:xfrm>
            <a:off x="640080" y="4434840"/>
            <a:ext cx="4663440" cy="1554480"/>
          </a:xfrm>
          <a:prstGeom prst="rect">
            <a:avLst/>
          </a:prstGeom>
          <a:noFill/>
          <a:ln/>
        </p:spPr>
        <p:txBody>
          <a:bodyPr wrap="square" lIns="0" tIns="0" rIns="0" bIns="0" rtlCol="0" anchor="ctr"/>
          <a:lstStyle/>
          <a:p>
            <a:pPr indent="0" marL="0">
              <a:buNone/>
            </a:pPr>
            <a:r>
              <a:rPr lang="en-US" sz="1200" i="1" dirty="0">
                <a:solidFill>
                  <a:srgbClr val="B7D7DC"/>
                </a:solidFill>
                <a:latin typeface="Calibri" pitchFamily="34" charset="0"/>
                <a:ea typeface="Calibri" pitchFamily="34" charset="-122"/>
                <a:cs typeface="Calibri" pitchFamily="34" charset="-120"/>
              </a:rPr>
              <a:t>Dollars-out divided by hours-watched yields a clean per-title ROI signal that MediaWave can act on at the next license cycle.</a:t>
            </a:r>
            <a:endParaRPr lang="en-US" sz="1200" dirty="0"/>
          </a:p>
        </p:txBody>
      </p:sp>
      <p:sp>
        <p:nvSpPr>
          <p:cNvPr id="19" name="Text 17"/>
          <p:cNvSpPr/>
          <p:nvPr/>
        </p:nvSpPr>
        <p:spPr>
          <a:xfrm>
            <a:off x="5760720" y="1828800"/>
            <a:ext cx="5943600" cy="274320"/>
          </a:xfrm>
          <a:prstGeom prst="rect">
            <a:avLst/>
          </a:prstGeom>
          <a:noFill/>
          <a:ln/>
        </p:spPr>
        <p:txBody>
          <a:bodyPr wrap="square" lIns="0" tIns="0" rIns="0" bIns="0" rtlCol="0" anchor="ctr"/>
          <a:lstStyle/>
          <a:p>
            <a:pPr indent="0" marL="0">
              <a:buNone/>
            </a:pPr>
            <a:r>
              <a:rPr lang="en-US" sz="1000" spc="300" kern="0" dirty="0">
                <a:solidFill>
                  <a:srgbClr val="3FE0E0"/>
                </a:solidFill>
                <a:latin typeface="Calibri" pitchFamily="34" charset="0"/>
                <a:ea typeface="Calibri" pitchFamily="34" charset="-122"/>
                <a:cs typeface="Calibri" pitchFamily="34" charset="-120"/>
              </a:rPr>
              <a:t>WHAT WE FOUND</a:t>
            </a:r>
            <a:endParaRPr lang="en-US" sz="1000" dirty="0"/>
          </a:p>
        </p:txBody>
      </p:sp>
      <p:sp>
        <p:nvSpPr>
          <p:cNvPr id="20" name="Text 18"/>
          <p:cNvSpPr/>
          <p:nvPr/>
        </p:nvSpPr>
        <p:spPr>
          <a:xfrm>
            <a:off x="5760720" y="2194560"/>
            <a:ext cx="5943600" cy="1645920"/>
          </a:xfrm>
          <a:prstGeom prst="rect">
            <a:avLst/>
          </a:prstGeom>
          <a:noFill/>
          <a:ln/>
        </p:spPr>
        <p:txBody>
          <a:bodyPr wrap="square" lIns="0" tIns="0" rIns="0" bIns="0" rtlCol="0" anchor="ctr"/>
          <a:lstStyle/>
          <a:p>
            <a:pPr marL="342900" indent="-342900">
              <a:buSzPct val="100000"/>
              <a:buChar char="●"/>
            </a:pPr>
            <a:r>
              <a:rPr lang="en-US" sz="1300" i="1" dirty="0">
                <a:solidFill>
                  <a:srgbClr val="B7D7DC"/>
                </a:solidFill>
                <a:latin typeface="Calibri" pitchFamily="34" charset="0"/>
                <a:ea typeface="Calibri" pitchFamily="34" charset="-122"/>
                <a:cs typeface="Calibri" pitchFamily="34" charset="-120"/>
              </a:rPr>
              <a:t>Top 3 worst-ROI titles to be inserted from analytics output</a:t>
            </a:r>
            <a:endParaRPr lang="en-US" sz="1300" dirty="0"/>
          </a:p>
          <a:p>
            <a:pPr marL="342900" indent="-342900">
              <a:buSzPct val="100000"/>
              <a:buChar char="●"/>
            </a:pPr>
            <a:r>
              <a:rPr lang="en-US" sz="1300" i="1" dirty="0">
                <a:solidFill>
                  <a:srgbClr val="B7D7DC"/>
                </a:solidFill>
                <a:latin typeface="Calibri" pitchFamily="34" charset="0"/>
                <a:ea typeface="Calibri" pitchFamily="34" charset="-122"/>
                <a:cs typeface="Calibri" pitchFamily="34" charset="-120"/>
              </a:rPr>
              <a:t>Bottom 3 best-ROI titles to be inserted from analytics output</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Bottom-decile titles drive a measurable share of catalog cost without proportional engagement</a:t>
            </a:r>
            <a:endParaRPr lang="en-US" sz="1300" dirty="0"/>
          </a:p>
        </p:txBody>
      </p:sp>
      <p:sp>
        <p:nvSpPr>
          <p:cNvPr id="21" name="Shape 19"/>
          <p:cNvSpPr/>
          <p:nvPr/>
        </p:nvSpPr>
        <p:spPr>
          <a:xfrm>
            <a:off x="5760720" y="4023360"/>
            <a:ext cx="5943600" cy="2057400"/>
          </a:xfrm>
          <a:prstGeom prst="rect">
            <a:avLst/>
          </a:prstGeom>
          <a:solidFill>
            <a:srgbClr val="001D24"/>
          </a:solidFill>
          <a:ln w="25400">
            <a:solidFill>
              <a:srgbClr val="3FE0E0"/>
            </a:solidFill>
            <a:prstDash val="solid"/>
          </a:ln>
        </p:spPr>
      </p:sp>
      <p:sp>
        <p:nvSpPr>
          <p:cNvPr id="22" name="Text 20"/>
          <p:cNvSpPr/>
          <p:nvPr/>
        </p:nvSpPr>
        <p:spPr>
          <a:xfrm>
            <a:off x="5943600" y="4160520"/>
            <a:ext cx="5577840" cy="274320"/>
          </a:xfrm>
          <a:prstGeom prst="rect">
            <a:avLst/>
          </a:prstGeom>
          <a:noFill/>
          <a:ln/>
        </p:spPr>
        <p:txBody>
          <a:bodyPr wrap="square" lIns="0" tIns="0" rIns="0" bIns="0" rtlCol="0" anchor="ctr"/>
          <a:lstStyle/>
          <a:p>
            <a:pPr indent="0" marL="0">
              <a:buNone/>
            </a:pPr>
            <a:r>
              <a:rPr lang="en-US" sz="1000" spc="300" kern="0" dirty="0">
                <a:solidFill>
                  <a:srgbClr val="3FE0E0"/>
                </a:solidFill>
                <a:latin typeface="Calibri" pitchFamily="34" charset="0"/>
                <a:ea typeface="Calibri" pitchFamily="34" charset="-122"/>
                <a:cs typeface="Calibri" pitchFamily="34" charset="-120"/>
              </a:rPr>
              <a:t>RECOMMENDATION</a:t>
            </a:r>
            <a:endParaRPr lang="en-US" sz="1000" dirty="0"/>
          </a:p>
        </p:txBody>
      </p:sp>
      <p:sp>
        <p:nvSpPr>
          <p:cNvPr id="23" name="Text 21"/>
          <p:cNvSpPr/>
          <p:nvPr/>
        </p:nvSpPr>
        <p:spPr>
          <a:xfrm>
            <a:off x="5943600" y="4526280"/>
            <a:ext cx="5577840" cy="1417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Drop bottom-decile titles by ROI at next license cycle. Estimated annual savings: $X. Promote best-ROI titles in next campaign — efficiency compounds with promotion.</a:t>
            </a:r>
            <a:endParaRPr lang="en-US" sz="1300" dirty="0"/>
          </a:p>
        </p:txBody>
      </p:sp>
      <p:sp>
        <p:nvSpPr>
          <p:cNvPr id="24" name="Text 22"/>
          <p:cNvSpPr/>
          <p:nvPr/>
        </p:nvSpPr>
        <p:spPr>
          <a:xfrm>
            <a:off x="11338560" y="6446520"/>
            <a:ext cx="640080" cy="274320"/>
          </a:xfrm>
          <a:prstGeom prst="rect">
            <a:avLst/>
          </a:prstGeom>
          <a:noFill/>
          <a:ln/>
        </p:spPr>
        <p:txBody>
          <a:bodyPr wrap="square" lIns="0" tIns="0" rIns="0" bIns="0" rtlCol="0" anchor="ctr"/>
          <a:lstStyle/>
          <a:p>
            <a:pPr algn="r" indent="0" marL="0">
              <a:buNone/>
            </a:pPr>
            <a:r>
              <a:rPr lang="en-US" sz="900" dirty="0">
                <a:solidFill>
                  <a:srgbClr val="7FA8AE"/>
                </a:solidFill>
                <a:latin typeface="Calibri" pitchFamily="34" charset="0"/>
                <a:ea typeface="Calibri" pitchFamily="34" charset="-122"/>
                <a:cs typeface="Calibri" pitchFamily="34" charset="-120"/>
              </a:rPr>
              <a:t>13 / 22</a:t>
            </a:r>
            <a:endParaRPr lang="en-US" sz="900" dirty="0"/>
          </a:p>
        </p:txBody>
      </p:sp>
      <p:sp>
        <p:nvSpPr>
          <p:cNvPr id="25" name="Text 23"/>
          <p:cNvSpPr/>
          <p:nvPr/>
        </p:nvSpPr>
        <p:spPr>
          <a:xfrm>
            <a:off x="365760" y="6446520"/>
            <a:ext cx="7315200" cy="274320"/>
          </a:xfrm>
          <a:prstGeom prst="rect">
            <a:avLst/>
          </a:prstGeom>
          <a:noFill/>
          <a:ln/>
        </p:spPr>
        <p:txBody>
          <a:bodyPr wrap="square" lIns="0" tIns="0" rIns="0" bIns="0" rtlCol="0" anchor="ctr"/>
          <a:lstStyle/>
          <a:p>
            <a:pPr algn="l" indent="0" marL="0">
              <a:buNone/>
            </a:pPr>
            <a:r>
              <a:rPr lang="en-US" sz="900" spc="200" kern="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457200" y="365760"/>
            <a:ext cx="1124712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Insight 02 · Premium subscribers complete more of what they start</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indent="0" marL="0">
              <a:buNone/>
            </a:pPr>
            <a:r>
              <a:rPr lang="en-US" sz="1400" i="1" spc="100" kern="0" dirty="0">
                <a:solidFill>
                  <a:srgbClr val="3FE0E0"/>
                </a:solidFill>
                <a:latin typeface="Calibri" pitchFamily="34" charset="0"/>
                <a:ea typeface="Calibri" pitchFamily="34" charset="-122"/>
                <a:cs typeface="Calibri" pitchFamily="34" charset="-120"/>
              </a:rPr>
              <a:t>A measurable engagement gap exists across subscription tiers</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sp>
      <p:sp>
        <p:nvSpPr>
          <p:cNvPr id="12" name="Shape 10"/>
          <p:cNvSpPr/>
          <p:nvPr/>
        </p:nvSpPr>
        <p:spPr>
          <a:xfrm>
            <a:off x="457200" y="1828800"/>
            <a:ext cx="3703320" cy="2743200"/>
          </a:xfrm>
          <a:prstGeom prst="rect">
            <a:avLst/>
          </a:prstGeom>
          <a:solidFill>
            <a:srgbClr val="0A4250"/>
          </a:solidFill>
          <a:ln w="12700">
            <a:solidFill>
              <a:srgbClr val="0A4250"/>
            </a:solidFill>
            <a:prstDash val="solid"/>
          </a:ln>
        </p:spPr>
      </p:sp>
      <p:sp>
        <p:nvSpPr>
          <p:cNvPr id="13" name="Text 11"/>
          <p:cNvSpPr/>
          <p:nvPr/>
        </p:nvSpPr>
        <p:spPr>
          <a:xfrm>
            <a:off x="731520" y="1965960"/>
            <a:ext cx="3383280" cy="365760"/>
          </a:xfrm>
          <a:prstGeom prst="rect">
            <a:avLst/>
          </a:prstGeom>
          <a:noFill/>
          <a:ln/>
        </p:spPr>
        <p:txBody>
          <a:bodyPr wrap="square" lIns="0" tIns="0" rIns="0" bIns="0"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BASIC</a:t>
            </a:r>
            <a:endParaRPr lang="en-US" sz="1400" dirty="0"/>
          </a:p>
        </p:txBody>
      </p:sp>
      <p:sp>
        <p:nvSpPr>
          <p:cNvPr id="14" name="Text 12"/>
          <p:cNvSpPr/>
          <p:nvPr/>
        </p:nvSpPr>
        <p:spPr>
          <a:xfrm>
            <a:off x="731520" y="2423160"/>
            <a:ext cx="3383280" cy="109728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 X hr/mo ]</a:t>
            </a:r>
            <a:endParaRPr lang="en-US" sz="3800" dirty="0"/>
          </a:p>
        </p:txBody>
      </p:sp>
      <p:sp>
        <p:nvSpPr>
          <p:cNvPr id="15" name="Text 13"/>
          <p:cNvSpPr/>
          <p:nvPr/>
        </p:nvSpPr>
        <p:spPr>
          <a:xfrm>
            <a:off x="731520" y="3611880"/>
            <a:ext cx="3383280" cy="64008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 Y% completion ]</a:t>
            </a:r>
            <a:endParaRPr lang="en-US" sz="1400" dirty="0"/>
          </a:p>
        </p:txBody>
      </p:sp>
      <p:sp>
        <p:nvSpPr>
          <p:cNvPr id="16" name="Shape 14"/>
          <p:cNvSpPr/>
          <p:nvPr/>
        </p:nvSpPr>
        <p:spPr>
          <a:xfrm>
            <a:off x="4361688" y="1828800"/>
            <a:ext cx="3703320" cy="2743200"/>
          </a:xfrm>
          <a:prstGeom prst="rect">
            <a:avLst/>
          </a:prstGeom>
          <a:solidFill>
            <a:srgbClr val="5BC9C9"/>
          </a:solidFill>
          <a:ln w="12700">
            <a:solidFill>
              <a:srgbClr val="5BC9C9"/>
            </a:solidFill>
            <a:prstDash val="solid"/>
          </a:ln>
        </p:spPr>
      </p:sp>
      <p:sp>
        <p:nvSpPr>
          <p:cNvPr id="17" name="Text 15"/>
          <p:cNvSpPr/>
          <p:nvPr/>
        </p:nvSpPr>
        <p:spPr>
          <a:xfrm>
            <a:off x="4636008" y="1965960"/>
            <a:ext cx="3383280" cy="365760"/>
          </a:xfrm>
          <a:prstGeom prst="rect">
            <a:avLst/>
          </a:prstGeom>
          <a:noFill/>
          <a:ln/>
        </p:spPr>
        <p:txBody>
          <a:bodyPr wrap="square" lIns="0" tIns="0" rIns="0" bIns="0" rtlCol="0" anchor="ctr"/>
          <a:lstStyle/>
          <a:p>
            <a:pPr indent="0" marL="0">
              <a:buNone/>
            </a:pPr>
            <a:r>
              <a:rPr lang="en-US" sz="1400" b="1" spc="400" kern="0" dirty="0">
                <a:solidFill>
                  <a:srgbClr val="001D24"/>
                </a:solidFill>
                <a:latin typeface="Calibri" pitchFamily="34" charset="0"/>
                <a:ea typeface="Calibri" pitchFamily="34" charset="-122"/>
                <a:cs typeface="Calibri" pitchFamily="34" charset="-120"/>
              </a:rPr>
              <a:t>STANDARD</a:t>
            </a:r>
            <a:endParaRPr lang="en-US" sz="1400" dirty="0"/>
          </a:p>
        </p:txBody>
      </p:sp>
      <p:sp>
        <p:nvSpPr>
          <p:cNvPr id="18" name="Text 16"/>
          <p:cNvSpPr/>
          <p:nvPr/>
        </p:nvSpPr>
        <p:spPr>
          <a:xfrm>
            <a:off x="4636008" y="2423160"/>
            <a:ext cx="3383280" cy="1097280"/>
          </a:xfrm>
          <a:prstGeom prst="rect">
            <a:avLst/>
          </a:prstGeom>
          <a:noFill/>
          <a:ln/>
        </p:spPr>
        <p:txBody>
          <a:bodyPr wrap="square" lIns="0" tIns="0" rIns="0" bIns="0" rtlCol="0" anchor="ctr"/>
          <a:lstStyle/>
          <a:p>
            <a:pPr indent="0" marL="0">
              <a:buNone/>
            </a:pPr>
            <a:r>
              <a:rPr lang="en-US" sz="3800" b="1" dirty="0">
                <a:solidFill>
                  <a:srgbClr val="001D24"/>
                </a:solidFill>
                <a:latin typeface="Calibri" pitchFamily="34" charset="0"/>
                <a:ea typeface="Calibri" pitchFamily="34" charset="-122"/>
                <a:cs typeface="Calibri" pitchFamily="34" charset="-120"/>
              </a:rPr>
              <a:t>[ X hr/mo ]</a:t>
            </a:r>
            <a:endParaRPr lang="en-US" sz="3800" dirty="0"/>
          </a:p>
        </p:txBody>
      </p:sp>
      <p:sp>
        <p:nvSpPr>
          <p:cNvPr id="19" name="Text 17"/>
          <p:cNvSpPr/>
          <p:nvPr/>
        </p:nvSpPr>
        <p:spPr>
          <a:xfrm>
            <a:off x="4636008" y="3611880"/>
            <a:ext cx="3383280" cy="640080"/>
          </a:xfrm>
          <a:prstGeom prst="rect">
            <a:avLst/>
          </a:prstGeom>
          <a:noFill/>
          <a:ln/>
        </p:spPr>
        <p:txBody>
          <a:bodyPr wrap="square" lIns="0" tIns="0" rIns="0" bIns="0" rtlCol="0" anchor="ctr"/>
          <a:lstStyle/>
          <a:p>
            <a:pPr indent="0" marL="0">
              <a:buNone/>
            </a:pPr>
            <a:r>
              <a:rPr lang="en-US" sz="1400" i="1" dirty="0">
                <a:solidFill>
                  <a:srgbClr val="001D24"/>
                </a:solidFill>
                <a:latin typeface="Calibri" pitchFamily="34" charset="0"/>
                <a:ea typeface="Calibri" pitchFamily="34" charset="-122"/>
                <a:cs typeface="Calibri" pitchFamily="34" charset="-120"/>
              </a:rPr>
              <a:t>[ Y% completion ]</a:t>
            </a:r>
            <a:endParaRPr lang="en-US" sz="1400" dirty="0"/>
          </a:p>
        </p:txBody>
      </p:sp>
      <p:sp>
        <p:nvSpPr>
          <p:cNvPr id="20" name="Shape 18"/>
          <p:cNvSpPr/>
          <p:nvPr/>
        </p:nvSpPr>
        <p:spPr>
          <a:xfrm>
            <a:off x="8266176" y="1828800"/>
            <a:ext cx="3703320" cy="2743200"/>
          </a:xfrm>
          <a:prstGeom prst="rect">
            <a:avLst/>
          </a:prstGeom>
          <a:solidFill>
            <a:srgbClr val="3FE0E0"/>
          </a:solidFill>
          <a:ln w="12700">
            <a:solidFill>
              <a:srgbClr val="3FE0E0"/>
            </a:solidFill>
            <a:prstDash val="solid"/>
          </a:ln>
        </p:spPr>
      </p:sp>
      <p:sp>
        <p:nvSpPr>
          <p:cNvPr id="21" name="Text 19"/>
          <p:cNvSpPr/>
          <p:nvPr/>
        </p:nvSpPr>
        <p:spPr>
          <a:xfrm>
            <a:off x="8540496" y="1965960"/>
            <a:ext cx="3383280" cy="365760"/>
          </a:xfrm>
          <a:prstGeom prst="rect">
            <a:avLst/>
          </a:prstGeom>
          <a:noFill/>
          <a:ln/>
        </p:spPr>
        <p:txBody>
          <a:bodyPr wrap="square" lIns="0" tIns="0" rIns="0" bIns="0" rtlCol="0" anchor="ctr"/>
          <a:lstStyle/>
          <a:p>
            <a:pPr indent="0" marL="0">
              <a:buNone/>
            </a:pPr>
            <a:r>
              <a:rPr lang="en-US" sz="1400" b="1" spc="400" kern="0" dirty="0">
                <a:solidFill>
                  <a:srgbClr val="001D24"/>
                </a:solidFill>
                <a:latin typeface="Calibri" pitchFamily="34" charset="0"/>
                <a:ea typeface="Calibri" pitchFamily="34" charset="-122"/>
                <a:cs typeface="Calibri" pitchFamily="34" charset="-120"/>
              </a:rPr>
              <a:t>PREMIUM</a:t>
            </a:r>
            <a:endParaRPr lang="en-US" sz="1400" dirty="0"/>
          </a:p>
        </p:txBody>
      </p:sp>
      <p:sp>
        <p:nvSpPr>
          <p:cNvPr id="22" name="Text 20"/>
          <p:cNvSpPr/>
          <p:nvPr/>
        </p:nvSpPr>
        <p:spPr>
          <a:xfrm>
            <a:off x="8540496" y="2423160"/>
            <a:ext cx="3383280" cy="1097280"/>
          </a:xfrm>
          <a:prstGeom prst="rect">
            <a:avLst/>
          </a:prstGeom>
          <a:noFill/>
          <a:ln/>
        </p:spPr>
        <p:txBody>
          <a:bodyPr wrap="square" lIns="0" tIns="0" rIns="0" bIns="0" rtlCol="0" anchor="ctr"/>
          <a:lstStyle/>
          <a:p>
            <a:pPr indent="0" marL="0">
              <a:buNone/>
            </a:pPr>
            <a:r>
              <a:rPr lang="en-US" sz="3800" b="1" dirty="0">
                <a:solidFill>
                  <a:srgbClr val="001D24"/>
                </a:solidFill>
                <a:latin typeface="Calibri" pitchFamily="34" charset="0"/>
                <a:ea typeface="Calibri" pitchFamily="34" charset="-122"/>
                <a:cs typeface="Calibri" pitchFamily="34" charset="-120"/>
              </a:rPr>
              <a:t>[ X hr/mo ]</a:t>
            </a:r>
            <a:endParaRPr lang="en-US" sz="3800" dirty="0"/>
          </a:p>
        </p:txBody>
      </p:sp>
      <p:sp>
        <p:nvSpPr>
          <p:cNvPr id="23" name="Text 21"/>
          <p:cNvSpPr/>
          <p:nvPr/>
        </p:nvSpPr>
        <p:spPr>
          <a:xfrm>
            <a:off x="8540496" y="3611880"/>
            <a:ext cx="3383280" cy="640080"/>
          </a:xfrm>
          <a:prstGeom prst="rect">
            <a:avLst/>
          </a:prstGeom>
          <a:noFill/>
          <a:ln/>
        </p:spPr>
        <p:txBody>
          <a:bodyPr wrap="square" lIns="0" tIns="0" rIns="0" bIns="0" rtlCol="0" anchor="ctr"/>
          <a:lstStyle/>
          <a:p>
            <a:pPr indent="0" marL="0">
              <a:buNone/>
            </a:pPr>
            <a:r>
              <a:rPr lang="en-US" sz="1400" i="1" dirty="0">
                <a:solidFill>
                  <a:srgbClr val="001D24"/>
                </a:solidFill>
                <a:latin typeface="Calibri" pitchFamily="34" charset="0"/>
                <a:ea typeface="Calibri" pitchFamily="34" charset="-122"/>
                <a:cs typeface="Calibri" pitchFamily="34" charset="-120"/>
              </a:rPr>
              <a:t>[ Y% completion ]</a:t>
            </a:r>
            <a:endParaRPr lang="en-US" sz="1400" dirty="0"/>
          </a:p>
        </p:txBody>
      </p:sp>
      <p:sp>
        <p:nvSpPr>
          <p:cNvPr id="24" name="Text 22"/>
          <p:cNvSpPr/>
          <p:nvPr/>
        </p:nvSpPr>
        <p:spPr>
          <a:xfrm>
            <a:off x="457200" y="4663440"/>
            <a:ext cx="11247120" cy="274320"/>
          </a:xfrm>
          <a:prstGeom prst="rect">
            <a:avLst/>
          </a:prstGeom>
          <a:noFill/>
          <a:ln/>
        </p:spPr>
        <p:txBody>
          <a:bodyPr wrap="square" lIns="0" tIns="0" rIns="0" bIns="0" rtlCol="0" anchor="ctr"/>
          <a:lstStyle/>
          <a:p>
            <a:pPr algn="ctr" indent="0" marL="0">
              <a:buNone/>
            </a:pPr>
            <a:r>
              <a:rPr lang="en-US" sz="1100" i="1" dirty="0">
                <a:solidFill>
                  <a:srgbClr val="7FA8AE"/>
                </a:solidFill>
                <a:latin typeface="Calibri" pitchFamily="34" charset="0"/>
                <a:ea typeface="Calibri" pitchFamily="34" charset="-122"/>
                <a:cs typeface="Calibri" pitchFamily="34" charset="-120"/>
              </a:rPr>
              <a:t>Values to be inserted from user-monthly-engagement table grouped by plan_type</a:t>
            </a:r>
            <a:endParaRPr lang="en-US" sz="1100" dirty="0"/>
          </a:p>
        </p:txBody>
      </p:sp>
      <p:sp>
        <p:nvSpPr>
          <p:cNvPr id="25" name="Shape 23"/>
          <p:cNvSpPr/>
          <p:nvPr/>
        </p:nvSpPr>
        <p:spPr>
          <a:xfrm>
            <a:off x="457200" y="5074920"/>
            <a:ext cx="11247120" cy="1005840"/>
          </a:xfrm>
          <a:prstGeom prst="rect">
            <a:avLst/>
          </a:prstGeom>
          <a:solidFill>
            <a:srgbClr val="001D24"/>
          </a:solidFill>
          <a:ln w="25400">
            <a:solidFill>
              <a:srgbClr val="3FE0E0"/>
            </a:solidFill>
            <a:prstDash val="solid"/>
          </a:ln>
        </p:spPr>
      </p:sp>
      <p:sp>
        <p:nvSpPr>
          <p:cNvPr id="26" name="Text 24"/>
          <p:cNvSpPr/>
          <p:nvPr/>
        </p:nvSpPr>
        <p:spPr>
          <a:xfrm>
            <a:off x="640080" y="5166360"/>
            <a:ext cx="10972800" cy="274320"/>
          </a:xfrm>
          <a:prstGeom prst="rect">
            <a:avLst/>
          </a:prstGeom>
          <a:noFill/>
          <a:ln/>
        </p:spPr>
        <p:txBody>
          <a:bodyPr wrap="square" lIns="0" tIns="0" rIns="0" bIns="0" rtlCol="0" anchor="ctr"/>
          <a:lstStyle/>
          <a:p>
            <a:pPr indent="0" marL="0">
              <a:buNone/>
            </a:pPr>
            <a:r>
              <a:rPr lang="en-US" sz="1000" spc="300" kern="0" dirty="0">
                <a:solidFill>
                  <a:srgbClr val="3FE0E0"/>
                </a:solidFill>
                <a:latin typeface="Calibri" pitchFamily="34" charset="0"/>
                <a:ea typeface="Calibri" pitchFamily="34" charset="-122"/>
                <a:cs typeface="Calibri" pitchFamily="34" charset="-120"/>
              </a:rPr>
              <a:t>RECOMMENDATION</a:t>
            </a:r>
            <a:endParaRPr lang="en-US" sz="1000" dirty="0"/>
          </a:p>
        </p:txBody>
      </p:sp>
      <p:sp>
        <p:nvSpPr>
          <p:cNvPr id="27" name="Text 25"/>
          <p:cNvSpPr/>
          <p:nvPr/>
        </p:nvSpPr>
        <p:spPr>
          <a:xfrm>
            <a:off x="640080" y="5440680"/>
            <a:ext cx="10972800" cy="5943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Tune recommendation algorithms to surface higher-completion content for Basic users. The completion gap suggests either tier-aware algorithm weights or content-commitment effects — both addressable through recommendation tuning, neither requiring new content acquisition.</a:t>
            </a:r>
            <a:endParaRPr lang="en-US" sz="1200" dirty="0"/>
          </a:p>
        </p:txBody>
      </p:sp>
      <p:sp>
        <p:nvSpPr>
          <p:cNvPr id="28" name="Text 26"/>
          <p:cNvSpPr/>
          <p:nvPr/>
        </p:nvSpPr>
        <p:spPr>
          <a:xfrm>
            <a:off x="11338560" y="6446520"/>
            <a:ext cx="640080" cy="274320"/>
          </a:xfrm>
          <a:prstGeom prst="rect">
            <a:avLst/>
          </a:prstGeom>
          <a:noFill/>
          <a:ln/>
        </p:spPr>
        <p:txBody>
          <a:bodyPr wrap="square" lIns="0" tIns="0" rIns="0" bIns="0" rtlCol="0" anchor="ctr"/>
          <a:lstStyle/>
          <a:p>
            <a:pPr algn="r" indent="0" marL="0">
              <a:buNone/>
            </a:pPr>
            <a:r>
              <a:rPr lang="en-US" sz="900" dirty="0">
                <a:solidFill>
                  <a:srgbClr val="7FA8AE"/>
                </a:solidFill>
                <a:latin typeface="Calibri" pitchFamily="34" charset="0"/>
                <a:ea typeface="Calibri" pitchFamily="34" charset="-122"/>
                <a:cs typeface="Calibri" pitchFamily="34" charset="-120"/>
              </a:rPr>
              <a:t>14 / 22</a:t>
            </a:r>
            <a:endParaRPr lang="en-US" sz="900" dirty="0"/>
          </a:p>
        </p:txBody>
      </p:sp>
      <p:sp>
        <p:nvSpPr>
          <p:cNvPr id="29" name="Text 27"/>
          <p:cNvSpPr/>
          <p:nvPr/>
        </p:nvSpPr>
        <p:spPr>
          <a:xfrm>
            <a:off x="365760" y="6446520"/>
            <a:ext cx="7315200" cy="274320"/>
          </a:xfrm>
          <a:prstGeom prst="rect">
            <a:avLst/>
          </a:prstGeom>
          <a:noFill/>
          <a:ln/>
        </p:spPr>
        <p:txBody>
          <a:bodyPr wrap="square" lIns="0" tIns="0" rIns="0" bIns="0" rtlCol="0" anchor="ctr"/>
          <a:lstStyle/>
          <a:p>
            <a:pPr algn="l" indent="0" marL="0">
              <a:buNone/>
            </a:pPr>
            <a:r>
              <a:rPr lang="en-US" sz="900" spc="200" kern="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457200" y="365760"/>
            <a:ext cx="1124712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Insight 03 · Three signals predict churn 30 days early</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indent="0" marL="0">
              <a:buNone/>
            </a:pPr>
            <a:r>
              <a:rPr lang="en-US" sz="1400" i="1" spc="100" kern="0" dirty="0">
                <a:solidFill>
                  <a:srgbClr val="3FE0E0"/>
                </a:solidFill>
                <a:latin typeface="Calibri" pitchFamily="34" charset="0"/>
                <a:ea typeface="Calibri" pitchFamily="34" charset="-122"/>
                <a:cs typeface="Calibri" pitchFamily="34" charset="-120"/>
              </a:rPr>
              <a:t>Comparing churned vs retained users in their final 30 active days</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sp>
      <p:sp>
        <p:nvSpPr>
          <p:cNvPr id="12" name="Shape 10"/>
          <p:cNvSpPr/>
          <p:nvPr/>
        </p:nvSpPr>
        <p:spPr>
          <a:xfrm>
            <a:off x="457200" y="1828800"/>
            <a:ext cx="3703320" cy="3200400"/>
          </a:xfrm>
          <a:prstGeom prst="rect">
            <a:avLst/>
          </a:prstGeom>
          <a:solidFill>
            <a:srgbClr val="0A4250"/>
          </a:solidFill>
          <a:ln w="12700">
            <a:solidFill>
              <a:srgbClr val="1E5A6B"/>
            </a:solidFill>
            <a:prstDash val="solid"/>
          </a:ln>
        </p:spPr>
      </p:sp>
      <p:sp>
        <p:nvSpPr>
          <p:cNvPr id="13" name="Text 11"/>
          <p:cNvSpPr/>
          <p:nvPr/>
        </p:nvSpPr>
        <p:spPr>
          <a:xfrm>
            <a:off x="731520" y="1965960"/>
            <a:ext cx="3383280" cy="274320"/>
          </a:xfrm>
          <a:prstGeom prst="rect">
            <a:avLst/>
          </a:prstGeom>
          <a:noFill/>
          <a:ln/>
        </p:spPr>
        <p:txBody>
          <a:bodyPr wrap="square" lIns="0" tIns="0" rIns="0" bIns="0" rtlCol="0" anchor="ctr"/>
          <a:lstStyle/>
          <a:p>
            <a:pPr indent="0" marL="0">
              <a:buNone/>
            </a:pPr>
            <a:r>
              <a:rPr lang="en-US" sz="1000" spc="300" kern="0" dirty="0">
                <a:solidFill>
                  <a:srgbClr val="3FE0E0"/>
                </a:solidFill>
                <a:latin typeface="Calibri" pitchFamily="34" charset="0"/>
                <a:ea typeface="Calibri" pitchFamily="34" charset="-122"/>
                <a:cs typeface="Calibri" pitchFamily="34" charset="-120"/>
              </a:rPr>
              <a:t>SIGNAL 01</a:t>
            </a:r>
            <a:endParaRPr lang="en-US" sz="1000" dirty="0"/>
          </a:p>
        </p:txBody>
      </p:sp>
      <p:sp>
        <p:nvSpPr>
          <p:cNvPr id="14" name="Text 12"/>
          <p:cNvSpPr/>
          <p:nvPr/>
        </p:nvSpPr>
        <p:spPr>
          <a:xfrm>
            <a:off x="731520" y="2286000"/>
            <a:ext cx="338328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Completion %</a:t>
            </a:r>
            <a:endParaRPr lang="en-US" sz="1800" dirty="0"/>
          </a:p>
        </p:txBody>
      </p:sp>
      <p:sp>
        <p:nvSpPr>
          <p:cNvPr id="15" name="Text 13"/>
          <p:cNvSpPr/>
          <p:nvPr/>
        </p:nvSpPr>
        <p:spPr>
          <a:xfrm>
            <a:off x="731520" y="2880360"/>
            <a:ext cx="3383280" cy="1005840"/>
          </a:xfrm>
          <a:prstGeom prst="rect">
            <a:avLst/>
          </a:prstGeom>
          <a:noFill/>
          <a:ln/>
        </p:spPr>
        <p:txBody>
          <a:bodyPr wrap="square" lIns="0" tIns="0" rIns="0" bIns="0" rtlCol="0" anchor="ctr"/>
          <a:lstStyle/>
          <a:p>
            <a:pPr algn="ctr" indent="0" marL="0">
              <a:buNone/>
            </a:pPr>
            <a:r>
              <a:rPr lang="en-US" sz="6400" b="1" dirty="0">
                <a:solidFill>
                  <a:srgbClr val="E8654A"/>
                </a:solidFill>
                <a:latin typeface="Calibri" pitchFamily="34" charset="0"/>
                <a:ea typeface="Calibri" pitchFamily="34" charset="-122"/>
                <a:cs typeface="Calibri" pitchFamily="34" charset="-120"/>
              </a:rPr>
              <a:t>▼</a:t>
            </a:r>
            <a:endParaRPr lang="en-US" sz="6400" dirty="0"/>
          </a:p>
        </p:txBody>
      </p:sp>
      <p:sp>
        <p:nvSpPr>
          <p:cNvPr id="16" name="Text 14"/>
          <p:cNvSpPr/>
          <p:nvPr/>
        </p:nvSpPr>
        <p:spPr>
          <a:xfrm>
            <a:off x="731520" y="3977640"/>
            <a:ext cx="3383280" cy="274320"/>
          </a:xfrm>
          <a:prstGeom prst="rect">
            <a:avLst/>
          </a:prstGeom>
          <a:noFill/>
          <a:ln/>
        </p:spPr>
        <p:txBody>
          <a:bodyPr wrap="square" lIns="0" tIns="0" rIns="0" bIns="0" rtlCol="0" anchor="ctr"/>
          <a:lstStyle/>
          <a:p>
            <a:pPr algn="ctr" indent="0" marL="0">
              <a:buNone/>
            </a:pPr>
            <a:r>
              <a:rPr lang="en-US" sz="1100" b="1" spc="300" kern="0" dirty="0">
                <a:solidFill>
                  <a:srgbClr val="E8654A"/>
                </a:solidFill>
                <a:latin typeface="Calibri" pitchFamily="34" charset="0"/>
                <a:ea typeface="Calibri" pitchFamily="34" charset="-122"/>
                <a:cs typeface="Calibri" pitchFamily="34" charset="-120"/>
              </a:rPr>
              <a:t>DOWN</a:t>
            </a:r>
            <a:endParaRPr lang="en-US" sz="1100" dirty="0"/>
          </a:p>
        </p:txBody>
      </p:sp>
      <p:sp>
        <p:nvSpPr>
          <p:cNvPr id="17" name="Text 15"/>
          <p:cNvSpPr/>
          <p:nvPr/>
        </p:nvSpPr>
        <p:spPr>
          <a:xfrm>
            <a:off x="731520" y="4297680"/>
            <a:ext cx="3383280" cy="640080"/>
          </a:xfrm>
          <a:prstGeom prst="rect">
            <a:avLst/>
          </a:prstGeom>
          <a:noFill/>
          <a:ln/>
        </p:spPr>
        <p:txBody>
          <a:bodyPr wrap="square" lIns="0" tIns="0" rIns="0" bIns="0" rtlCol="0" anchor="ctr"/>
          <a:lstStyle/>
          <a:p>
            <a:pPr algn="ctr" indent="0" marL="0">
              <a:buNone/>
            </a:pPr>
            <a:r>
              <a:rPr lang="en-US" sz="1200" dirty="0">
                <a:solidFill>
                  <a:srgbClr val="B7D7DC"/>
                </a:solidFill>
                <a:latin typeface="Calibri" pitchFamily="34" charset="0"/>
                <a:ea typeface="Calibri" pitchFamily="34" charset="-122"/>
                <a:cs typeface="Calibri" pitchFamily="34" charset="-120"/>
              </a:rPr>
              <a:t>Drops measurably among churners</a:t>
            </a:r>
            <a:endParaRPr lang="en-US" sz="1200" dirty="0"/>
          </a:p>
        </p:txBody>
      </p:sp>
      <p:sp>
        <p:nvSpPr>
          <p:cNvPr id="18" name="Shape 16"/>
          <p:cNvSpPr/>
          <p:nvPr/>
        </p:nvSpPr>
        <p:spPr>
          <a:xfrm>
            <a:off x="4361688" y="1828800"/>
            <a:ext cx="3703320" cy="3200400"/>
          </a:xfrm>
          <a:prstGeom prst="rect">
            <a:avLst/>
          </a:prstGeom>
          <a:solidFill>
            <a:srgbClr val="0A4250"/>
          </a:solidFill>
          <a:ln w="12700">
            <a:solidFill>
              <a:srgbClr val="1E5A6B"/>
            </a:solidFill>
            <a:prstDash val="solid"/>
          </a:ln>
        </p:spPr>
      </p:sp>
      <p:sp>
        <p:nvSpPr>
          <p:cNvPr id="19" name="Text 17"/>
          <p:cNvSpPr/>
          <p:nvPr/>
        </p:nvSpPr>
        <p:spPr>
          <a:xfrm>
            <a:off x="4636008" y="1965960"/>
            <a:ext cx="3383280" cy="274320"/>
          </a:xfrm>
          <a:prstGeom prst="rect">
            <a:avLst/>
          </a:prstGeom>
          <a:noFill/>
          <a:ln/>
        </p:spPr>
        <p:txBody>
          <a:bodyPr wrap="square" lIns="0" tIns="0" rIns="0" bIns="0" rtlCol="0" anchor="ctr"/>
          <a:lstStyle/>
          <a:p>
            <a:pPr indent="0" marL="0">
              <a:buNone/>
            </a:pPr>
            <a:r>
              <a:rPr lang="en-US" sz="1000" spc="300" kern="0" dirty="0">
                <a:solidFill>
                  <a:srgbClr val="3FE0E0"/>
                </a:solidFill>
                <a:latin typeface="Calibri" pitchFamily="34" charset="0"/>
                <a:ea typeface="Calibri" pitchFamily="34" charset="-122"/>
                <a:cs typeface="Calibri" pitchFamily="34" charset="-120"/>
              </a:rPr>
              <a:t>SIGNAL 02</a:t>
            </a:r>
            <a:endParaRPr lang="en-US" sz="1000" dirty="0"/>
          </a:p>
        </p:txBody>
      </p:sp>
      <p:sp>
        <p:nvSpPr>
          <p:cNvPr id="20" name="Text 18"/>
          <p:cNvSpPr/>
          <p:nvPr/>
        </p:nvSpPr>
        <p:spPr>
          <a:xfrm>
            <a:off x="4636008" y="2286000"/>
            <a:ext cx="338328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Interaction count</a:t>
            </a:r>
            <a:endParaRPr lang="en-US" sz="1800" dirty="0"/>
          </a:p>
        </p:txBody>
      </p:sp>
      <p:sp>
        <p:nvSpPr>
          <p:cNvPr id="21" name="Text 19"/>
          <p:cNvSpPr/>
          <p:nvPr/>
        </p:nvSpPr>
        <p:spPr>
          <a:xfrm>
            <a:off x="4636008" y="2880360"/>
            <a:ext cx="3383280" cy="1005840"/>
          </a:xfrm>
          <a:prstGeom prst="rect">
            <a:avLst/>
          </a:prstGeom>
          <a:noFill/>
          <a:ln/>
        </p:spPr>
        <p:txBody>
          <a:bodyPr wrap="square" lIns="0" tIns="0" rIns="0" bIns="0" rtlCol="0" anchor="ctr"/>
          <a:lstStyle/>
          <a:p>
            <a:pPr algn="ctr" indent="0" marL="0">
              <a:buNone/>
            </a:pPr>
            <a:r>
              <a:rPr lang="en-US" sz="6400" b="1" dirty="0">
                <a:solidFill>
                  <a:srgbClr val="E8654A"/>
                </a:solidFill>
                <a:latin typeface="Calibri" pitchFamily="34" charset="0"/>
                <a:ea typeface="Calibri" pitchFamily="34" charset="-122"/>
                <a:cs typeface="Calibri" pitchFamily="34" charset="-120"/>
              </a:rPr>
              <a:t>▼</a:t>
            </a:r>
            <a:endParaRPr lang="en-US" sz="6400" dirty="0"/>
          </a:p>
        </p:txBody>
      </p:sp>
      <p:sp>
        <p:nvSpPr>
          <p:cNvPr id="22" name="Text 20"/>
          <p:cNvSpPr/>
          <p:nvPr/>
        </p:nvSpPr>
        <p:spPr>
          <a:xfrm>
            <a:off x="4636008" y="3977640"/>
            <a:ext cx="3383280" cy="274320"/>
          </a:xfrm>
          <a:prstGeom prst="rect">
            <a:avLst/>
          </a:prstGeom>
          <a:noFill/>
          <a:ln/>
        </p:spPr>
        <p:txBody>
          <a:bodyPr wrap="square" lIns="0" tIns="0" rIns="0" bIns="0" rtlCol="0" anchor="ctr"/>
          <a:lstStyle/>
          <a:p>
            <a:pPr algn="ctr" indent="0" marL="0">
              <a:buNone/>
            </a:pPr>
            <a:r>
              <a:rPr lang="en-US" sz="1100" b="1" spc="300" kern="0" dirty="0">
                <a:solidFill>
                  <a:srgbClr val="E8654A"/>
                </a:solidFill>
                <a:latin typeface="Calibri" pitchFamily="34" charset="0"/>
                <a:ea typeface="Calibri" pitchFamily="34" charset="-122"/>
                <a:cs typeface="Calibri" pitchFamily="34" charset="-120"/>
              </a:rPr>
              <a:t>DOWN</a:t>
            </a:r>
            <a:endParaRPr lang="en-US" sz="1100" dirty="0"/>
          </a:p>
        </p:txBody>
      </p:sp>
      <p:sp>
        <p:nvSpPr>
          <p:cNvPr id="23" name="Text 21"/>
          <p:cNvSpPr/>
          <p:nvPr/>
        </p:nvSpPr>
        <p:spPr>
          <a:xfrm>
            <a:off x="4636008" y="4297680"/>
            <a:ext cx="3383280" cy="640080"/>
          </a:xfrm>
          <a:prstGeom prst="rect">
            <a:avLst/>
          </a:prstGeom>
          <a:noFill/>
          <a:ln/>
        </p:spPr>
        <p:txBody>
          <a:bodyPr wrap="square" lIns="0" tIns="0" rIns="0" bIns="0" rtlCol="0" anchor="ctr"/>
          <a:lstStyle/>
          <a:p>
            <a:pPr algn="ctr" indent="0" marL="0">
              <a:buNone/>
            </a:pPr>
            <a:r>
              <a:rPr lang="en-US" sz="1200" dirty="0">
                <a:solidFill>
                  <a:srgbClr val="B7D7DC"/>
                </a:solidFill>
                <a:latin typeface="Calibri" pitchFamily="34" charset="0"/>
                <a:ea typeface="Calibri" pitchFamily="34" charset="-122"/>
                <a:cs typeface="Calibri" pitchFamily="34" charset="-120"/>
              </a:rPr>
              <a:t>Drops measurably among churners</a:t>
            </a:r>
            <a:endParaRPr lang="en-US" sz="1200" dirty="0"/>
          </a:p>
        </p:txBody>
      </p:sp>
      <p:sp>
        <p:nvSpPr>
          <p:cNvPr id="24" name="Shape 22"/>
          <p:cNvSpPr/>
          <p:nvPr/>
        </p:nvSpPr>
        <p:spPr>
          <a:xfrm>
            <a:off x="8266176" y="1828800"/>
            <a:ext cx="3703320" cy="3200400"/>
          </a:xfrm>
          <a:prstGeom prst="rect">
            <a:avLst/>
          </a:prstGeom>
          <a:solidFill>
            <a:srgbClr val="0A4250"/>
          </a:solidFill>
          <a:ln w="12700">
            <a:solidFill>
              <a:srgbClr val="1E5A6B"/>
            </a:solidFill>
            <a:prstDash val="solid"/>
          </a:ln>
        </p:spPr>
      </p:sp>
      <p:sp>
        <p:nvSpPr>
          <p:cNvPr id="25" name="Text 23"/>
          <p:cNvSpPr/>
          <p:nvPr/>
        </p:nvSpPr>
        <p:spPr>
          <a:xfrm>
            <a:off x="8540496" y="1965960"/>
            <a:ext cx="3383280" cy="274320"/>
          </a:xfrm>
          <a:prstGeom prst="rect">
            <a:avLst/>
          </a:prstGeom>
          <a:noFill/>
          <a:ln/>
        </p:spPr>
        <p:txBody>
          <a:bodyPr wrap="square" lIns="0" tIns="0" rIns="0" bIns="0" rtlCol="0" anchor="ctr"/>
          <a:lstStyle/>
          <a:p>
            <a:pPr indent="0" marL="0">
              <a:buNone/>
            </a:pPr>
            <a:r>
              <a:rPr lang="en-US" sz="1000" spc="300" kern="0" dirty="0">
                <a:solidFill>
                  <a:srgbClr val="3FE0E0"/>
                </a:solidFill>
                <a:latin typeface="Calibri" pitchFamily="34" charset="0"/>
                <a:ea typeface="Calibri" pitchFamily="34" charset="-122"/>
                <a:cs typeface="Calibri" pitchFamily="34" charset="-120"/>
              </a:rPr>
              <a:t>SIGNAL 03</a:t>
            </a:r>
            <a:endParaRPr lang="en-US" sz="1000" dirty="0"/>
          </a:p>
        </p:txBody>
      </p:sp>
      <p:sp>
        <p:nvSpPr>
          <p:cNvPr id="26" name="Text 24"/>
          <p:cNvSpPr/>
          <p:nvPr/>
        </p:nvSpPr>
        <p:spPr>
          <a:xfrm>
            <a:off x="8540496" y="2286000"/>
            <a:ext cx="338328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Buffering events</a:t>
            </a:r>
            <a:endParaRPr lang="en-US" sz="1800" dirty="0"/>
          </a:p>
        </p:txBody>
      </p:sp>
      <p:sp>
        <p:nvSpPr>
          <p:cNvPr id="27" name="Text 25"/>
          <p:cNvSpPr/>
          <p:nvPr/>
        </p:nvSpPr>
        <p:spPr>
          <a:xfrm>
            <a:off x="8540496" y="2880360"/>
            <a:ext cx="3383280" cy="1005840"/>
          </a:xfrm>
          <a:prstGeom prst="rect">
            <a:avLst/>
          </a:prstGeom>
          <a:noFill/>
          <a:ln/>
        </p:spPr>
        <p:txBody>
          <a:bodyPr wrap="square" lIns="0" tIns="0" rIns="0" bIns="0" rtlCol="0" anchor="ctr"/>
          <a:lstStyle/>
          <a:p>
            <a:pPr algn="ctr" indent="0" marL="0">
              <a:buNone/>
            </a:pPr>
            <a:r>
              <a:rPr lang="en-US" sz="6400" b="1" dirty="0">
                <a:solidFill>
                  <a:srgbClr val="F0A23E"/>
                </a:solidFill>
                <a:latin typeface="Calibri" pitchFamily="34" charset="0"/>
                <a:ea typeface="Calibri" pitchFamily="34" charset="-122"/>
                <a:cs typeface="Calibri" pitchFamily="34" charset="-120"/>
              </a:rPr>
              <a:t>▲</a:t>
            </a:r>
            <a:endParaRPr lang="en-US" sz="6400" dirty="0"/>
          </a:p>
        </p:txBody>
      </p:sp>
      <p:sp>
        <p:nvSpPr>
          <p:cNvPr id="28" name="Text 26"/>
          <p:cNvSpPr/>
          <p:nvPr/>
        </p:nvSpPr>
        <p:spPr>
          <a:xfrm>
            <a:off x="8540496" y="3977640"/>
            <a:ext cx="3383280" cy="274320"/>
          </a:xfrm>
          <a:prstGeom prst="rect">
            <a:avLst/>
          </a:prstGeom>
          <a:noFill/>
          <a:ln/>
        </p:spPr>
        <p:txBody>
          <a:bodyPr wrap="square" lIns="0" tIns="0" rIns="0" bIns="0" rtlCol="0" anchor="ctr"/>
          <a:lstStyle/>
          <a:p>
            <a:pPr algn="ctr" indent="0" marL="0">
              <a:buNone/>
            </a:pPr>
            <a:r>
              <a:rPr lang="en-US" sz="1100" b="1" spc="300" kern="0" dirty="0">
                <a:solidFill>
                  <a:srgbClr val="F0A23E"/>
                </a:solidFill>
                <a:latin typeface="Calibri" pitchFamily="34" charset="0"/>
                <a:ea typeface="Calibri" pitchFamily="34" charset="-122"/>
                <a:cs typeface="Calibri" pitchFamily="34" charset="-120"/>
              </a:rPr>
              <a:t>UP</a:t>
            </a:r>
            <a:endParaRPr lang="en-US" sz="1100" dirty="0"/>
          </a:p>
        </p:txBody>
      </p:sp>
      <p:sp>
        <p:nvSpPr>
          <p:cNvPr id="29" name="Text 27"/>
          <p:cNvSpPr/>
          <p:nvPr/>
        </p:nvSpPr>
        <p:spPr>
          <a:xfrm>
            <a:off x="8540496" y="4297680"/>
            <a:ext cx="3383280" cy="640080"/>
          </a:xfrm>
          <a:prstGeom prst="rect">
            <a:avLst/>
          </a:prstGeom>
          <a:noFill/>
          <a:ln/>
        </p:spPr>
        <p:txBody>
          <a:bodyPr wrap="square" lIns="0" tIns="0" rIns="0" bIns="0" rtlCol="0" anchor="ctr"/>
          <a:lstStyle/>
          <a:p>
            <a:pPr algn="ctr" indent="0" marL="0">
              <a:buNone/>
            </a:pPr>
            <a:r>
              <a:rPr lang="en-US" sz="1200" dirty="0">
                <a:solidFill>
                  <a:srgbClr val="B7D7DC"/>
                </a:solidFill>
                <a:latin typeface="Calibri" pitchFamily="34" charset="0"/>
                <a:ea typeface="Calibri" pitchFamily="34" charset="-122"/>
                <a:cs typeface="Calibri" pitchFamily="34" charset="-120"/>
              </a:rPr>
              <a:t>Rises measurably among churners</a:t>
            </a:r>
            <a:endParaRPr lang="en-US" sz="1200" dirty="0"/>
          </a:p>
        </p:txBody>
      </p:sp>
      <p:sp>
        <p:nvSpPr>
          <p:cNvPr id="30" name="Shape 28"/>
          <p:cNvSpPr/>
          <p:nvPr/>
        </p:nvSpPr>
        <p:spPr>
          <a:xfrm>
            <a:off x="457200" y="5166360"/>
            <a:ext cx="11247120" cy="914400"/>
          </a:xfrm>
          <a:prstGeom prst="rect">
            <a:avLst/>
          </a:prstGeom>
          <a:solidFill>
            <a:srgbClr val="001D24"/>
          </a:solidFill>
          <a:ln w="25400">
            <a:solidFill>
              <a:srgbClr val="3FE0E0"/>
            </a:solidFill>
            <a:prstDash val="solid"/>
          </a:ln>
        </p:spPr>
      </p:sp>
      <p:sp>
        <p:nvSpPr>
          <p:cNvPr id="31" name="Text 29"/>
          <p:cNvSpPr/>
          <p:nvPr/>
        </p:nvSpPr>
        <p:spPr>
          <a:xfrm>
            <a:off x="640080" y="5166360"/>
            <a:ext cx="10972800" cy="9144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RECOMMENDATION · Build a churn early-warning model. Users showing 30-day declines in completion plus interactions, combined with elevated buffering, trigger automated retention interventions. A 5% churn reduction translates to approximately $X annual revenue saved.</a:t>
            </a:r>
            <a:endParaRPr lang="en-US" sz="1200" dirty="0"/>
          </a:p>
        </p:txBody>
      </p:sp>
      <p:sp>
        <p:nvSpPr>
          <p:cNvPr id="32" name="Text 30"/>
          <p:cNvSpPr/>
          <p:nvPr/>
        </p:nvSpPr>
        <p:spPr>
          <a:xfrm>
            <a:off x="11338560" y="6446520"/>
            <a:ext cx="640080" cy="274320"/>
          </a:xfrm>
          <a:prstGeom prst="rect">
            <a:avLst/>
          </a:prstGeom>
          <a:noFill/>
          <a:ln/>
        </p:spPr>
        <p:txBody>
          <a:bodyPr wrap="square" lIns="0" tIns="0" rIns="0" bIns="0" rtlCol="0" anchor="ctr"/>
          <a:lstStyle/>
          <a:p>
            <a:pPr algn="r" indent="0" marL="0">
              <a:buNone/>
            </a:pPr>
            <a:r>
              <a:rPr lang="en-US" sz="900" dirty="0">
                <a:solidFill>
                  <a:srgbClr val="7FA8AE"/>
                </a:solidFill>
                <a:latin typeface="Calibri" pitchFamily="34" charset="0"/>
                <a:ea typeface="Calibri" pitchFamily="34" charset="-122"/>
                <a:cs typeface="Calibri" pitchFamily="34" charset="-120"/>
              </a:rPr>
              <a:t>15 / 22</a:t>
            </a:r>
            <a:endParaRPr lang="en-US" sz="900" dirty="0"/>
          </a:p>
        </p:txBody>
      </p:sp>
      <p:sp>
        <p:nvSpPr>
          <p:cNvPr id="33" name="Text 31"/>
          <p:cNvSpPr/>
          <p:nvPr/>
        </p:nvSpPr>
        <p:spPr>
          <a:xfrm>
            <a:off x="365760" y="6446520"/>
            <a:ext cx="7315200" cy="274320"/>
          </a:xfrm>
          <a:prstGeom prst="rect">
            <a:avLst/>
          </a:prstGeom>
          <a:noFill/>
          <a:ln/>
        </p:spPr>
        <p:txBody>
          <a:bodyPr wrap="square" lIns="0" tIns="0" rIns="0" bIns="0" rtlCol="0" anchor="ctr"/>
          <a:lstStyle/>
          <a:p>
            <a:pPr algn="l" indent="0" marL="0">
              <a:buNone/>
            </a:pPr>
            <a:r>
              <a:rPr lang="en-US" sz="900" spc="200" kern="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457200" y="365760"/>
            <a:ext cx="1124712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Insight 04 · Streaming quality is geographically concentrated</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indent="0" marL="0">
              <a:buNone/>
            </a:pPr>
            <a:r>
              <a:rPr lang="en-US" sz="1400" i="1" spc="100" kern="0" dirty="0">
                <a:solidFill>
                  <a:srgbClr val="3FE0E0"/>
                </a:solidFill>
                <a:latin typeface="Calibri" pitchFamily="34" charset="0"/>
                <a:ea typeface="Calibri" pitchFamily="34" charset="-122"/>
                <a:cs typeface="Calibri" pitchFamily="34" charset="-120"/>
              </a:rPr>
              <a:t>Region by ISP combinations reveal where infrastructure investment most reduces churn risk</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sp>
      <p:sp>
        <p:nvSpPr>
          <p:cNvPr id="12" name="Text 10"/>
          <p:cNvSpPr/>
          <p:nvPr/>
        </p:nvSpPr>
        <p:spPr>
          <a:xfrm>
            <a:off x="457200" y="1828800"/>
            <a:ext cx="5486400" cy="274320"/>
          </a:xfrm>
          <a:prstGeom prst="rect">
            <a:avLst/>
          </a:prstGeom>
          <a:noFill/>
          <a:ln/>
        </p:spPr>
        <p:txBody>
          <a:bodyPr wrap="square" lIns="0" tIns="0" rIns="0" bIns="0" rtlCol="0" anchor="ctr"/>
          <a:lstStyle/>
          <a:p>
            <a:pPr indent="0" marL="0">
              <a:buNone/>
            </a:pPr>
            <a:r>
              <a:rPr lang="en-US" sz="1000" spc="300" kern="0" dirty="0">
                <a:solidFill>
                  <a:srgbClr val="3FE0E0"/>
                </a:solidFill>
                <a:latin typeface="Calibri" pitchFamily="34" charset="0"/>
                <a:ea typeface="Calibri" pitchFamily="34" charset="-122"/>
                <a:cs typeface="Calibri" pitchFamily="34" charset="-120"/>
              </a:rPr>
              <a:t>WORST REGION × ISP COMBINATIONS</a:t>
            </a:r>
            <a:endParaRPr lang="en-US" sz="1000" dirty="0"/>
          </a:p>
        </p:txBody>
      </p:sp>
      <p:sp>
        <p:nvSpPr>
          <p:cNvPr id="13" name="Shape 11"/>
          <p:cNvSpPr/>
          <p:nvPr/>
        </p:nvSpPr>
        <p:spPr>
          <a:xfrm>
            <a:off x="457200" y="2240280"/>
            <a:ext cx="5486400" cy="640080"/>
          </a:xfrm>
          <a:prstGeom prst="rect">
            <a:avLst/>
          </a:prstGeom>
          <a:solidFill>
            <a:srgbClr val="0A4250"/>
          </a:solidFill>
          <a:ln w="12700">
            <a:solidFill>
              <a:srgbClr val="1E5A6B"/>
            </a:solidFill>
            <a:prstDash val="solid"/>
          </a:ln>
        </p:spPr>
      </p:sp>
      <p:sp>
        <p:nvSpPr>
          <p:cNvPr id="14" name="Text 12"/>
          <p:cNvSpPr/>
          <p:nvPr/>
        </p:nvSpPr>
        <p:spPr>
          <a:xfrm>
            <a:off x="640080" y="2240280"/>
            <a:ext cx="548640" cy="640080"/>
          </a:xfrm>
          <a:prstGeom prst="rect">
            <a:avLst/>
          </a:prstGeom>
          <a:noFill/>
          <a:ln/>
        </p:spPr>
        <p:txBody>
          <a:bodyPr wrap="square" lIns="0" tIns="0" rIns="0" bIns="0" rtlCol="0" anchor="ctr"/>
          <a:lstStyle/>
          <a:p>
            <a:pPr indent="0" marL="0">
              <a:buNone/>
            </a:pPr>
            <a:r>
              <a:rPr lang="en-US" sz="2200" b="1" dirty="0">
                <a:solidFill>
                  <a:srgbClr val="3FE0E0"/>
                </a:solidFill>
                <a:latin typeface="Calibri" pitchFamily="34" charset="0"/>
                <a:ea typeface="Calibri" pitchFamily="34" charset="-122"/>
                <a:cs typeface="Calibri" pitchFamily="34" charset="-120"/>
              </a:rPr>
              <a:t>#1</a:t>
            </a:r>
            <a:endParaRPr lang="en-US" sz="2200" dirty="0"/>
          </a:p>
        </p:txBody>
      </p:sp>
      <p:sp>
        <p:nvSpPr>
          <p:cNvPr id="15" name="Text 13"/>
          <p:cNvSpPr/>
          <p:nvPr/>
        </p:nvSpPr>
        <p:spPr>
          <a:xfrm>
            <a:off x="1280160" y="2286000"/>
            <a:ext cx="4572000" cy="274320"/>
          </a:xfrm>
          <a:prstGeom prst="rect">
            <a:avLst/>
          </a:prstGeom>
          <a:noFill/>
          <a:ln/>
        </p:spPr>
        <p:txBody>
          <a:bodyPr wrap="square" lIns="0" tIns="0" rIns="0" bIns="0" rtlCol="0" anchor="ctr"/>
          <a:lstStyle/>
          <a:p>
            <a:pPr indent="0" marL="0">
              <a:buNone/>
            </a:pPr>
            <a:r>
              <a:rPr lang="en-US" sz="1200" b="1" i="1" dirty="0">
                <a:solidFill>
                  <a:srgbClr val="FFFFFF"/>
                </a:solidFill>
                <a:latin typeface="Calibri" pitchFamily="34" charset="0"/>
                <a:ea typeface="Calibri" pitchFamily="34" charset="-122"/>
                <a:cs typeface="Calibri" pitchFamily="34" charset="-120"/>
              </a:rPr>
              <a:t>Region + ISP to be inserted</a:t>
            </a:r>
            <a:endParaRPr lang="en-US" sz="1200" dirty="0"/>
          </a:p>
        </p:txBody>
      </p:sp>
      <p:sp>
        <p:nvSpPr>
          <p:cNvPr id="16" name="Text 14"/>
          <p:cNvSpPr/>
          <p:nvPr/>
        </p:nvSpPr>
        <p:spPr>
          <a:xfrm>
            <a:off x="1280160" y="2560320"/>
            <a:ext cx="4572000" cy="274320"/>
          </a:xfrm>
          <a:prstGeom prst="rect">
            <a:avLst/>
          </a:prstGeom>
          <a:noFill/>
          <a:ln/>
        </p:spPr>
        <p:txBody>
          <a:bodyPr wrap="square" lIns="0" tIns="0" rIns="0" bIns="0" rtlCol="0" anchor="ctr"/>
          <a:lstStyle/>
          <a:p>
            <a:pPr indent="0" marL="0">
              <a:buNone/>
            </a:pPr>
            <a:r>
              <a:rPr lang="en-US" sz="1100" dirty="0">
                <a:solidFill>
                  <a:srgbClr val="B7D7DC"/>
                </a:solidFill>
                <a:latin typeface="Calibri" pitchFamily="34" charset="0"/>
                <a:ea typeface="Calibri" pitchFamily="34" charset="-122"/>
                <a:cs typeface="Calibri" pitchFamily="34" charset="-120"/>
              </a:rPr>
              <a:t>X buffering events / session · Y× global average</a:t>
            </a:r>
            <a:endParaRPr lang="en-US" sz="1100" dirty="0"/>
          </a:p>
        </p:txBody>
      </p:sp>
      <p:sp>
        <p:nvSpPr>
          <p:cNvPr id="17" name="Shape 15"/>
          <p:cNvSpPr/>
          <p:nvPr/>
        </p:nvSpPr>
        <p:spPr>
          <a:xfrm>
            <a:off x="457200" y="3017520"/>
            <a:ext cx="5486400" cy="640080"/>
          </a:xfrm>
          <a:prstGeom prst="rect">
            <a:avLst/>
          </a:prstGeom>
          <a:solidFill>
            <a:srgbClr val="0A4250"/>
          </a:solidFill>
          <a:ln w="12700">
            <a:solidFill>
              <a:srgbClr val="1E5A6B"/>
            </a:solidFill>
            <a:prstDash val="solid"/>
          </a:ln>
        </p:spPr>
      </p:sp>
      <p:sp>
        <p:nvSpPr>
          <p:cNvPr id="18" name="Text 16"/>
          <p:cNvSpPr/>
          <p:nvPr/>
        </p:nvSpPr>
        <p:spPr>
          <a:xfrm>
            <a:off x="640080" y="3017520"/>
            <a:ext cx="548640" cy="640080"/>
          </a:xfrm>
          <a:prstGeom prst="rect">
            <a:avLst/>
          </a:prstGeom>
          <a:noFill/>
          <a:ln/>
        </p:spPr>
        <p:txBody>
          <a:bodyPr wrap="square" lIns="0" tIns="0" rIns="0" bIns="0" rtlCol="0" anchor="ctr"/>
          <a:lstStyle/>
          <a:p>
            <a:pPr indent="0" marL="0">
              <a:buNone/>
            </a:pPr>
            <a:r>
              <a:rPr lang="en-US" sz="2200" b="1" dirty="0">
                <a:solidFill>
                  <a:srgbClr val="3FE0E0"/>
                </a:solidFill>
                <a:latin typeface="Calibri" pitchFamily="34" charset="0"/>
                <a:ea typeface="Calibri" pitchFamily="34" charset="-122"/>
                <a:cs typeface="Calibri" pitchFamily="34" charset="-120"/>
              </a:rPr>
              <a:t>#2</a:t>
            </a:r>
            <a:endParaRPr lang="en-US" sz="2200" dirty="0"/>
          </a:p>
        </p:txBody>
      </p:sp>
      <p:sp>
        <p:nvSpPr>
          <p:cNvPr id="19" name="Text 17"/>
          <p:cNvSpPr/>
          <p:nvPr/>
        </p:nvSpPr>
        <p:spPr>
          <a:xfrm>
            <a:off x="1280160" y="3063240"/>
            <a:ext cx="4572000" cy="274320"/>
          </a:xfrm>
          <a:prstGeom prst="rect">
            <a:avLst/>
          </a:prstGeom>
          <a:noFill/>
          <a:ln/>
        </p:spPr>
        <p:txBody>
          <a:bodyPr wrap="square" lIns="0" tIns="0" rIns="0" bIns="0" rtlCol="0" anchor="ctr"/>
          <a:lstStyle/>
          <a:p>
            <a:pPr indent="0" marL="0">
              <a:buNone/>
            </a:pPr>
            <a:r>
              <a:rPr lang="en-US" sz="1200" b="1" i="1" dirty="0">
                <a:solidFill>
                  <a:srgbClr val="FFFFFF"/>
                </a:solidFill>
                <a:latin typeface="Calibri" pitchFamily="34" charset="0"/>
                <a:ea typeface="Calibri" pitchFamily="34" charset="-122"/>
                <a:cs typeface="Calibri" pitchFamily="34" charset="-120"/>
              </a:rPr>
              <a:t>Region + ISP to be inserted</a:t>
            </a:r>
            <a:endParaRPr lang="en-US" sz="1200" dirty="0"/>
          </a:p>
        </p:txBody>
      </p:sp>
      <p:sp>
        <p:nvSpPr>
          <p:cNvPr id="20" name="Text 18"/>
          <p:cNvSpPr/>
          <p:nvPr/>
        </p:nvSpPr>
        <p:spPr>
          <a:xfrm>
            <a:off x="1280160" y="3337560"/>
            <a:ext cx="4572000" cy="274320"/>
          </a:xfrm>
          <a:prstGeom prst="rect">
            <a:avLst/>
          </a:prstGeom>
          <a:noFill/>
          <a:ln/>
        </p:spPr>
        <p:txBody>
          <a:bodyPr wrap="square" lIns="0" tIns="0" rIns="0" bIns="0" rtlCol="0" anchor="ctr"/>
          <a:lstStyle/>
          <a:p>
            <a:pPr indent="0" marL="0">
              <a:buNone/>
            </a:pPr>
            <a:r>
              <a:rPr lang="en-US" sz="1100" dirty="0">
                <a:solidFill>
                  <a:srgbClr val="B7D7DC"/>
                </a:solidFill>
                <a:latin typeface="Calibri" pitchFamily="34" charset="0"/>
                <a:ea typeface="Calibri" pitchFamily="34" charset="-122"/>
                <a:cs typeface="Calibri" pitchFamily="34" charset="-120"/>
              </a:rPr>
              <a:t>X buffering events / session · Y× global average</a:t>
            </a:r>
            <a:endParaRPr lang="en-US" sz="1100" dirty="0"/>
          </a:p>
        </p:txBody>
      </p:sp>
      <p:sp>
        <p:nvSpPr>
          <p:cNvPr id="21" name="Shape 19"/>
          <p:cNvSpPr/>
          <p:nvPr/>
        </p:nvSpPr>
        <p:spPr>
          <a:xfrm>
            <a:off x="457200" y="3794760"/>
            <a:ext cx="5486400" cy="640080"/>
          </a:xfrm>
          <a:prstGeom prst="rect">
            <a:avLst/>
          </a:prstGeom>
          <a:solidFill>
            <a:srgbClr val="0A4250"/>
          </a:solidFill>
          <a:ln w="12700">
            <a:solidFill>
              <a:srgbClr val="1E5A6B"/>
            </a:solidFill>
            <a:prstDash val="solid"/>
          </a:ln>
        </p:spPr>
      </p:sp>
      <p:sp>
        <p:nvSpPr>
          <p:cNvPr id="22" name="Text 20"/>
          <p:cNvSpPr/>
          <p:nvPr/>
        </p:nvSpPr>
        <p:spPr>
          <a:xfrm>
            <a:off x="640080" y="3794760"/>
            <a:ext cx="548640" cy="640080"/>
          </a:xfrm>
          <a:prstGeom prst="rect">
            <a:avLst/>
          </a:prstGeom>
          <a:noFill/>
          <a:ln/>
        </p:spPr>
        <p:txBody>
          <a:bodyPr wrap="square" lIns="0" tIns="0" rIns="0" bIns="0" rtlCol="0" anchor="ctr"/>
          <a:lstStyle/>
          <a:p>
            <a:pPr indent="0" marL="0">
              <a:buNone/>
            </a:pPr>
            <a:r>
              <a:rPr lang="en-US" sz="2200" b="1" dirty="0">
                <a:solidFill>
                  <a:srgbClr val="3FE0E0"/>
                </a:solidFill>
                <a:latin typeface="Calibri" pitchFamily="34" charset="0"/>
                <a:ea typeface="Calibri" pitchFamily="34" charset="-122"/>
                <a:cs typeface="Calibri" pitchFamily="34" charset="-120"/>
              </a:rPr>
              <a:t>#3</a:t>
            </a:r>
            <a:endParaRPr lang="en-US" sz="2200" dirty="0"/>
          </a:p>
        </p:txBody>
      </p:sp>
      <p:sp>
        <p:nvSpPr>
          <p:cNvPr id="23" name="Text 21"/>
          <p:cNvSpPr/>
          <p:nvPr/>
        </p:nvSpPr>
        <p:spPr>
          <a:xfrm>
            <a:off x="1280160" y="3840480"/>
            <a:ext cx="4572000" cy="274320"/>
          </a:xfrm>
          <a:prstGeom prst="rect">
            <a:avLst/>
          </a:prstGeom>
          <a:noFill/>
          <a:ln/>
        </p:spPr>
        <p:txBody>
          <a:bodyPr wrap="square" lIns="0" tIns="0" rIns="0" bIns="0" rtlCol="0" anchor="ctr"/>
          <a:lstStyle/>
          <a:p>
            <a:pPr indent="0" marL="0">
              <a:buNone/>
            </a:pPr>
            <a:r>
              <a:rPr lang="en-US" sz="1200" b="1" i="1" dirty="0">
                <a:solidFill>
                  <a:srgbClr val="FFFFFF"/>
                </a:solidFill>
                <a:latin typeface="Calibri" pitchFamily="34" charset="0"/>
                <a:ea typeface="Calibri" pitchFamily="34" charset="-122"/>
                <a:cs typeface="Calibri" pitchFamily="34" charset="-120"/>
              </a:rPr>
              <a:t>Region + ISP to be inserted</a:t>
            </a:r>
            <a:endParaRPr lang="en-US" sz="1200" dirty="0"/>
          </a:p>
        </p:txBody>
      </p:sp>
      <p:sp>
        <p:nvSpPr>
          <p:cNvPr id="24" name="Text 22"/>
          <p:cNvSpPr/>
          <p:nvPr/>
        </p:nvSpPr>
        <p:spPr>
          <a:xfrm>
            <a:off x="1280160" y="4114800"/>
            <a:ext cx="4572000" cy="274320"/>
          </a:xfrm>
          <a:prstGeom prst="rect">
            <a:avLst/>
          </a:prstGeom>
          <a:noFill/>
          <a:ln/>
        </p:spPr>
        <p:txBody>
          <a:bodyPr wrap="square" lIns="0" tIns="0" rIns="0" bIns="0" rtlCol="0" anchor="ctr"/>
          <a:lstStyle/>
          <a:p>
            <a:pPr indent="0" marL="0">
              <a:buNone/>
            </a:pPr>
            <a:r>
              <a:rPr lang="en-US" sz="1100" dirty="0">
                <a:solidFill>
                  <a:srgbClr val="B7D7DC"/>
                </a:solidFill>
                <a:latin typeface="Calibri" pitchFamily="34" charset="0"/>
                <a:ea typeface="Calibri" pitchFamily="34" charset="-122"/>
                <a:cs typeface="Calibri" pitchFamily="34" charset="-120"/>
              </a:rPr>
              <a:t>X buffering events / session · Y× global average</a:t>
            </a:r>
            <a:endParaRPr lang="en-US" sz="1100" dirty="0"/>
          </a:p>
        </p:txBody>
      </p:sp>
      <p:sp>
        <p:nvSpPr>
          <p:cNvPr id="25" name="Shape 23"/>
          <p:cNvSpPr/>
          <p:nvPr/>
        </p:nvSpPr>
        <p:spPr>
          <a:xfrm>
            <a:off x="6126480" y="1828800"/>
            <a:ext cx="5577840" cy="3108960"/>
          </a:xfrm>
          <a:prstGeom prst="rect">
            <a:avLst/>
          </a:prstGeom>
          <a:solidFill>
            <a:srgbClr val="0A4250"/>
          </a:solidFill>
          <a:ln w="12700">
            <a:solidFill>
              <a:srgbClr val="1E5A6B"/>
            </a:solidFill>
            <a:prstDash val="solid"/>
          </a:ln>
        </p:spPr>
      </p:sp>
      <p:sp>
        <p:nvSpPr>
          <p:cNvPr id="26" name="Text 24"/>
          <p:cNvSpPr/>
          <p:nvPr/>
        </p:nvSpPr>
        <p:spPr>
          <a:xfrm>
            <a:off x="6309360" y="1965960"/>
            <a:ext cx="5212080" cy="274320"/>
          </a:xfrm>
          <a:prstGeom prst="rect">
            <a:avLst/>
          </a:prstGeom>
          <a:noFill/>
          <a:ln/>
        </p:spPr>
        <p:txBody>
          <a:bodyPr wrap="square" lIns="0" tIns="0" rIns="0" bIns="0" rtlCol="0" anchor="ctr"/>
          <a:lstStyle/>
          <a:p>
            <a:pPr indent="0" marL="0">
              <a:buNone/>
            </a:pPr>
            <a:r>
              <a:rPr lang="en-US" sz="1000" spc="300" kern="0" dirty="0">
                <a:solidFill>
                  <a:srgbClr val="3FE0E0"/>
                </a:solidFill>
                <a:latin typeface="Calibri" pitchFamily="34" charset="0"/>
                <a:ea typeface="Calibri" pitchFamily="34" charset="-122"/>
                <a:cs typeface="Calibri" pitchFamily="34" charset="-120"/>
              </a:rPr>
              <a:t>BUFFERING ↔ COMPLETION</a:t>
            </a:r>
            <a:endParaRPr lang="en-US" sz="1000" dirty="0"/>
          </a:p>
        </p:txBody>
      </p:sp>
      <p:sp>
        <p:nvSpPr>
          <p:cNvPr id="27" name="Text 25"/>
          <p:cNvSpPr/>
          <p:nvPr/>
        </p:nvSpPr>
        <p:spPr>
          <a:xfrm>
            <a:off x="6309360" y="2331720"/>
            <a:ext cx="521208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Strong negative correlation across all sessions</a:t>
            </a:r>
            <a:endParaRPr lang="en-US" sz="1300" dirty="0"/>
          </a:p>
        </p:txBody>
      </p:sp>
      <p:sp>
        <p:nvSpPr>
          <p:cNvPr id="28" name="Text 26"/>
          <p:cNvSpPr/>
          <p:nvPr/>
        </p:nvSpPr>
        <p:spPr>
          <a:xfrm>
            <a:off x="6309360" y="2834640"/>
            <a:ext cx="5212080" cy="822960"/>
          </a:xfrm>
          <a:prstGeom prst="rect">
            <a:avLst/>
          </a:prstGeom>
          <a:noFill/>
          <a:ln/>
        </p:spPr>
        <p:txBody>
          <a:bodyPr wrap="square" lIns="0" tIns="0" rIns="0" bIns="0" rtlCol="0" anchor="ctr"/>
          <a:lstStyle/>
          <a:p>
            <a:pPr algn="ctr" indent="0" marL="0">
              <a:buNone/>
            </a:pPr>
            <a:r>
              <a:rPr lang="en-US" sz="3200" b="1" dirty="0">
                <a:solidFill>
                  <a:srgbClr val="3FE0E0"/>
                </a:solidFill>
                <a:latin typeface="Calibri" pitchFamily="34" charset="0"/>
                <a:ea typeface="Calibri" pitchFamily="34" charset="-122"/>
                <a:cs typeface="Calibri" pitchFamily="34" charset="-120"/>
              </a:rPr>
              <a:t>[ correlation coefficient ]</a:t>
            </a:r>
            <a:endParaRPr lang="en-US" sz="3200" dirty="0"/>
          </a:p>
        </p:txBody>
      </p:sp>
      <p:sp>
        <p:nvSpPr>
          <p:cNvPr id="29" name="Text 27"/>
          <p:cNvSpPr/>
          <p:nvPr/>
        </p:nvSpPr>
        <p:spPr>
          <a:xfrm>
            <a:off x="6309360" y="3794760"/>
            <a:ext cx="5212080" cy="1051560"/>
          </a:xfrm>
          <a:prstGeom prst="rect">
            <a:avLst/>
          </a:prstGeom>
          <a:noFill/>
          <a:ln/>
        </p:spPr>
        <p:txBody>
          <a:bodyPr wrap="square" lIns="0" tIns="0" rIns="0" bIns="0" rtlCol="0" anchor="ctr"/>
          <a:lstStyle/>
          <a:p>
            <a:pPr indent="0" marL="0">
              <a:buNone/>
            </a:pPr>
            <a:r>
              <a:rPr lang="en-US" sz="1200" i="1" dirty="0">
                <a:solidFill>
                  <a:srgbClr val="B7D7DC"/>
                </a:solidFill>
                <a:latin typeface="Calibri" pitchFamily="34" charset="0"/>
                <a:ea typeface="Calibri" pitchFamily="34" charset="-122"/>
                <a:cs typeface="Calibri" pitchFamily="34" charset="-120"/>
              </a:rPr>
              <a:t>Bad streaming quality measurably reduces completion. Quality issues are a direct technical lever for retention.</a:t>
            </a:r>
            <a:endParaRPr lang="en-US" sz="1200" dirty="0"/>
          </a:p>
        </p:txBody>
      </p:sp>
      <p:sp>
        <p:nvSpPr>
          <p:cNvPr id="30" name="Shape 28"/>
          <p:cNvSpPr/>
          <p:nvPr/>
        </p:nvSpPr>
        <p:spPr>
          <a:xfrm>
            <a:off x="457200" y="5166360"/>
            <a:ext cx="11247120" cy="914400"/>
          </a:xfrm>
          <a:prstGeom prst="rect">
            <a:avLst/>
          </a:prstGeom>
          <a:solidFill>
            <a:srgbClr val="001D24"/>
          </a:solidFill>
          <a:ln w="25400">
            <a:solidFill>
              <a:srgbClr val="3FE0E0"/>
            </a:solidFill>
            <a:prstDash val="solid"/>
          </a:ln>
        </p:spPr>
      </p:sp>
      <p:sp>
        <p:nvSpPr>
          <p:cNvPr id="31" name="Text 29"/>
          <p:cNvSpPr/>
          <p:nvPr/>
        </p:nvSpPr>
        <p:spPr>
          <a:xfrm>
            <a:off x="640080" y="5166360"/>
            <a:ext cx="10972800" cy="9144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RECOMMENDATION · Negotiate dedicated peering or upgrade CDN capacity for the top three problem region/ISP combinations. A 20% buffering reduction would lift completion by an estimated X percentage points among affected users — directly extending watch time and reducing churn risk.</a:t>
            </a:r>
            <a:endParaRPr lang="en-US" sz="1200" dirty="0"/>
          </a:p>
        </p:txBody>
      </p:sp>
      <p:sp>
        <p:nvSpPr>
          <p:cNvPr id="32" name="Text 30"/>
          <p:cNvSpPr/>
          <p:nvPr/>
        </p:nvSpPr>
        <p:spPr>
          <a:xfrm>
            <a:off x="11338560" y="6446520"/>
            <a:ext cx="640080" cy="274320"/>
          </a:xfrm>
          <a:prstGeom prst="rect">
            <a:avLst/>
          </a:prstGeom>
          <a:noFill/>
          <a:ln/>
        </p:spPr>
        <p:txBody>
          <a:bodyPr wrap="square" lIns="0" tIns="0" rIns="0" bIns="0" rtlCol="0" anchor="ctr"/>
          <a:lstStyle/>
          <a:p>
            <a:pPr algn="r" indent="0" marL="0">
              <a:buNone/>
            </a:pPr>
            <a:r>
              <a:rPr lang="en-US" sz="900" dirty="0">
                <a:solidFill>
                  <a:srgbClr val="7FA8AE"/>
                </a:solidFill>
                <a:latin typeface="Calibri" pitchFamily="34" charset="0"/>
                <a:ea typeface="Calibri" pitchFamily="34" charset="-122"/>
                <a:cs typeface="Calibri" pitchFamily="34" charset="-120"/>
              </a:rPr>
              <a:t>16 / 22</a:t>
            </a:r>
            <a:endParaRPr lang="en-US" sz="900" dirty="0"/>
          </a:p>
        </p:txBody>
      </p:sp>
      <p:sp>
        <p:nvSpPr>
          <p:cNvPr id="33" name="Text 31"/>
          <p:cNvSpPr/>
          <p:nvPr/>
        </p:nvSpPr>
        <p:spPr>
          <a:xfrm>
            <a:off x="365760" y="6446520"/>
            <a:ext cx="7315200" cy="274320"/>
          </a:xfrm>
          <a:prstGeom prst="rect">
            <a:avLst/>
          </a:prstGeom>
          <a:noFill/>
          <a:ln/>
        </p:spPr>
        <p:txBody>
          <a:bodyPr wrap="square" lIns="0" tIns="0" rIns="0" bIns="0" rtlCol="0" anchor="ctr"/>
          <a:lstStyle/>
          <a:p>
            <a:pPr algn="l" indent="0" marL="0">
              <a:buNone/>
            </a:pPr>
            <a:r>
              <a:rPr lang="en-US" sz="900" spc="200" kern="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731520" y="2377440"/>
            <a:ext cx="1828800" cy="1645920"/>
          </a:xfrm>
          <a:prstGeom prst="rect">
            <a:avLst/>
          </a:prstGeom>
          <a:noFill/>
          <a:ln/>
        </p:spPr>
        <p:txBody>
          <a:bodyPr wrap="square" lIns="0" tIns="0" rIns="0" bIns="0" rtlCol="0" anchor="ctr"/>
          <a:lstStyle/>
          <a:p>
            <a:pPr algn="l" indent="0" marL="0">
              <a:buNone/>
            </a:pPr>
            <a:r>
              <a:rPr lang="en-US" sz="10000" b="1" dirty="0">
                <a:solidFill>
                  <a:srgbClr val="FFFFFF"/>
                </a:solidFill>
                <a:latin typeface="Calibri" pitchFamily="34" charset="0"/>
                <a:ea typeface="Calibri" pitchFamily="34" charset="-122"/>
                <a:cs typeface="Calibri" pitchFamily="34" charset="-120"/>
              </a:rPr>
              <a:t>05</a:t>
            </a:r>
            <a:endParaRPr lang="en-US" sz="10000" dirty="0"/>
          </a:p>
        </p:txBody>
      </p:sp>
      <p:sp>
        <p:nvSpPr>
          <p:cNvPr id="10" name="Shape 8"/>
          <p:cNvSpPr/>
          <p:nvPr/>
        </p:nvSpPr>
        <p:spPr>
          <a:xfrm>
            <a:off x="2651760" y="2606040"/>
            <a:ext cx="0" cy="1371600"/>
          </a:xfrm>
          <a:prstGeom prst="line">
            <a:avLst/>
          </a:prstGeom>
          <a:noFill/>
          <a:ln w="25400">
            <a:solidFill>
              <a:srgbClr val="3FE0E0"/>
            </a:solidFill>
            <a:prstDash val="solid"/>
          </a:ln>
        </p:spPr>
      </p:sp>
      <p:sp>
        <p:nvSpPr>
          <p:cNvPr id="11" name="Text 9"/>
          <p:cNvSpPr/>
          <p:nvPr/>
        </p:nvSpPr>
        <p:spPr>
          <a:xfrm>
            <a:off x="2926080" y="2468880"/>
            <a:ext cx="777240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Recommended Actions</a:t>
            </a:r>
            <a:endParaRPr lang="en-US" sz="4400" dirty="0"/>
          </a:p>
        </p:txBody>
      </p:sp>
      <p:sp>
        <p:nvSpPr>
          <p:cNvPr id="12" name="Text 10"/>
          <p:cNvSpPr/>
          <p:nvPr/>
        </p:nvSpPr>
        <p:spPr>
          <a:xfrm>
            <a:off x="2926080" y="3520440"/>
            <a:ext cx="7772400" cy="457200"/>
          </a:xfrm>
          <a:prstGeom prst="rect">
            <a:avLst/>
          </a:prstGeom>
          <a:noFill/>
          <a:ln/>
        </p:spPr>
        <p:txBody>
          <a:bodyPr wrap="square" lIns="0" tIns="0" rIns="0" bIns="0" rtlCol="0" anchor="ctr"/>
          <a:lstStyle/>
          <a:p>
            <a:pPr indent="0" marL="0">
              <a:buNone/>
            </a:pPr>
            <a:r>
              <a:rPr lang="en-US" sz="1600" i="1" spc="200" kern="0" dirty="0">
                <a:solidFill>
                  <a:srgbClr val="3FE0E0"/>
                </a:solidFill>
                <a:latin typeface="Calibri" pitchFamily="34" charset="0"/>
                <a:ea typeface="Calibri" pitchFamily="34" charset="-122"/>
                <a:cs typeface="Calibri" pitchFamily="34" charset="-120"/>
              </a:rPr>
              <a:t>PRIORITIZED ROADMAP WITH TIME-TO-IMPLEMENT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457200" y="365760"/>
            <a:ext cx="1124712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Four actions, prioritized by impact-to-effort ratio</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indent="0" marL="0">
              <a:buNone/>
            </a:pPr>
            <a:r>
              <a:rPr lang="en-US" sz="1400" i="1" spc="100" kern="0" dirty="0">
                <a:solidFill>
                  <a:srgbClr val="3FE0E0"/>
                </a:solidFill>
                <a:latin typeface="Calibri" pitchFamily="34" charset="0"/>
                <a:ea typeface="Calibri" pitchFamily="34" charset="-122"/>
                <a:cs typeface="Calibri" pitchFamily="34" charset="-120"/>
              </a:rPr>
              <a:t>All actions are implementable from analytics tables our pipeline produces today</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47120" cy="914400"/>
        </p:xfrm>
        <a:graphic>
          <a:graphicData uri="http://schemas.openxmlformats.org/drawingml/2006/table">
            <a:tbl>
              <a:tblPr/>
              <a:tblGrid>
                <a:gridCol w="822960"/>
                <a:gridCol w="4114800"/>
                <a:gridCol w="1371600"/>
                <a:gridCol w="3017520"/>
                <a:gridCol w="1920240"/>
              </a:tblGrid>
              <a:tr h="658368">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Expected Impact</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r>
              <a:tr h="658368">
                <a:tc>
                  <a:txBody>
                    <a:bodyPr/>
                    <a:lstStyle/>
                    <a:p>
                      <a:pPr algn="ctr" indent="0" marL="0">
                        <a:buNone/>
                      </a:pPr>
                      <a:r>
                        <a:rPr lang="en-US" sz="1800" b="1" dirty="0">
                          <a:solidFill>
                            <a:srgbClr val="3FE0E0"/>
                          </a:solidFill>
                          <a:latin typeface="Calibri" pitchFamily="34" charset="0"/>
                          <a:ea typeface="Calibri" pitchFamily="34" charset="-122"/>
                          <a:cs typeface="Calibri" pitchFamily="34" charset="-120"/>
                        </a:rPr>
                        <a:t>01</a:t>
                      </a:r>
                      <a:endParaRPr lang="en-US" sz="18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Drop bottom-decile titles by cost_per_viewing_hour</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algn="l" indent="0" marL="0">
                        <a:buNone/>
                      </a:pPr>
                      <a:r>
                        <a:rPr lang="en-US" sz="1200" dirty="0">
                          <a:solidFill>
                            <a:srgbClr val="B7D7DC"/>
                          </a:solidFill>
                          <a:latin typeface="Calibri" pitchFamily="34" charset="0"/>
                          <a:ea typeface="Calibri" pitchFamily="34" charset="-122"/>
                          <a:cs typeface="Calibri" pitchFamily="34" charset="-120"/>
                        </a:rPr>
                        <a:t>Insight 01</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algn="l" indent="0" marL="0">
                        <a:buNone/>
                      </a:pPr>
                      <a:r>
                        <a:rPr lang="en-US" sz="1200" dirty="0">
                          <a:solidFill>
                            <a:srgbClr val="B7D7DC"/>
                          </a:solidFill>
                          <a:latin typeface="Calibri" pitchFamily="34" charset="0"/>
                          <a:ea typeface="Calibri" pitchFamily="34" charset="-122"/>
                          <a:cs typeface="Calibri" pitchFamily="34" charset="-120"/>
                        </a:rPr>
                        <a:t>$X annual license savings</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algn="l" indent="0" marL="0">
                        <a:buNone/>
                      </a:pPr>
                      <a:r>
                        <a:rPr lang="en-US" sz="1200" dirty="0">
                          <a:solidFill>
                            <a:srgbClr val="B7D7DC"/>
                          </a:solidFill>
                          <a:latin typeface="Calibri" pitchFamily="34" charset="0"/>
                          <a:ea typeface="Calibri" pitchFamily="34" charset="-122"/>
                          <a:cs typeface="Calibri" pitchFamily="34" charset="-120"/>
                        </a:rPr>
                        <a:t>Next license cycle</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r>
              <a:tr h="658368">
                <a:tc>
                  <a:txBody>
                    <a:bodyPr/>
                    <a:lstStyle/>
                    <a:p>
                      <a:pPr algn="ctr" indent="0" marL="0">
                        <a:buNone/>
                      </a:pPr>
                      <a:r>
                        <a:rPr lang="en-US" sz="1800" b="1" dirty="0">
                          <a:solidFill>
                            <a:srgbClr val="3FE0E0"/>
                          </a:solidFill>
                          <a:latin typeface="Calibri" pitchFamily="34" charset="0"/>
                          <a:ea typeface="Calibri" pitchFamily="34" charset="-122"/>
                          <a:cs typeface="Calibri" pitchFamily="34" charset="-120"/>
                        </a:rPr>
                        <a:t>02</a:t>
                      </a:r>
                      <a:endParaRPr lang="en-US" sz="18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Build churn early-warning model from 3-signal feature set</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l" indent="0" marL="0">
                        <a:buNone/>
                      </a:pPr>
                      <a:r>
                        <a:rPr lang="en-US" sz="1200" dirty="0">
                          <a:solidFill>
                            <a:srgbClr val="B7D7DC"/>
                          </a:solidFill>
                          <a:latin typeface="Calibri" pitchFamily="34" charset="0"/>
                          <a:ea typeface="Calibri" pitchFamily="34" charset="-122"/>
                          <a:cs typeface="Calibri" pitchFamily="34" charset="-120"/>
                        </a:rPr>
                        <a:t>Insight 03</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l" indent="0" marL="0">
                        <a:buNone/>
                      </a:pPr>
                      <a:r>
                        <a:rPr lang="en-US" sz="1200" dirty="0">
                          <a:solidFill>
                            <a:srgbClr val="B7D7DC"/>
                          </a:solidFill>
                          <a:latin typeface="Calibri" pitchFamily="34" charset="0"/>
                          <a:ea typeface="Calibri" pitchFamily="34" charset="-122"/>
                          <a:cs typeface="Calibri" pitchFamily="34" charset="-120"/>
                        </a:rPr>
                        <a:t>5% churn reduction → ~$X revenue</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l" indent="0" marL="0">
                        <a:buNone/>
                      </a:pPr>
                      <a:r>
                        <a:rPr lang="en-US" sz="1200" dirty="0">
                          <a:solidFill>
                            <a:srgbClr val="B7D7DC"/>
                          </a:solidFill>
                          <a:latin typeface="Calibri" pitchFamily="34" charset="0"/>
                          <a:ea typeface="Calibri" pitchFamily="34" charset="-122"/>
                          <a:cs typeface="Calibri" pitchFamily="34" charset="-120"/>
                        </a:rPr>
                        <a:t>Q3 implementation</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r>
              <a:tr h="658368">
                <a:tc>
                  <a:txBody>
                    <a:bodyPr/>
                    <a:lstStyle/>
                    <a:p>
                      <a:pPr algn="ctr" indent="0" marL="0">
                        <a:buNone/>
                      </a:pPr>
                      <a:r>
                        <a:rPr lang="en-US" sz="1800" b="1" dirty="0">
                          <a:solidFill>
                            <a:srgbClr val="3FE0E0"/>
                          </a:solidFill>
                          <a:latin typeface="Calibri" pitchFamily="34" charset="0"/>
                          <a:ea typeface="Calibri" pitchFamily="34" charset="-122"/>
                          <a:cs typeface="Calibri" pitchFamily="34" charset="-120"/>
                        </a:rPr>
                        <a:t>03</a:t>
                      </a:r>
                      <a:endParaRPr lang="en-US" sz="18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Negotiate peering/CDN upgrade for top 3 region-ISP combos</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algn="l" indent="0" marL="0">
                        <a:buNone/>
                      </a:pPr>
                      <a:r>
                        <a:rPr lang="en-US" sz="1200" dirty="0">
                          <a:solidFill>
                            <a:srgbClr val="B7D7DC"/>
                          </a:solidFill>
                          <a:latin typeface="Calibri" pitchFamily="34" charset="0"/>
                          <a:ea typeface="Calibri" pitchFamily="34" charset="-122"/>
                          <a:cs typeface="Calibri" pitchFamily="34" charset="-120"/>
                        </a:rPr>
                        <a:t>Insight 04</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algn="l" indent="0" marL="0">
                        <a:buNone/>
                      </a:pPr>
                      <a:r>
                        <a:rPr lang="en-US" sz="1200" dirty="0">
                          <a:solidFill>
                            <a:srgbClr val="B7D7DC"/>
                          </a:solidFill>
                          <a:latin typeface="Calibri" pitchFamily="34" charset="0"/>
                          <a:ea typeface="Calibri" pitchFamily="34" charset="-122"/>
                          <a:cs typeface="Calibri" pitchFamily="34" charset="-120"/>
                        </a:rPr>
                        <a:t>20% buffering reduction in affected segments</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algn="l" indent="0" marL="0">
                        <a:buNone/>
                      </a:pPr>
                      <a:r>
                        <a:rPr lang="en-US" sz="1200" dirty="0">
                          <a:solidFill>
                            <a:srgbClr val="B7D7DC"/>
                          </a:solidFill>
                          <a:latin typeface="Calibri" pitchFamily="34" charset="0"/>
                          <a:ea typeface="Calibri" pitchFamily="34" charset="-122"/>
                          <a:cs typeface="Calibri" pitchFamily="34" charset="-120"/>
                        </a:rPr>
                        <a:t>Q3 negotiation</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r>
              <a:tr h="658368">
                <a:tc>
                  <a:txBody>
                    <a:bodyPr/>
                    <a:lstStyle/>
                    <a:p>
                      <a:pPr algn="ctr" indent="0" marL="0">
                        <a:buNone/>
                      </a:pPr>
                      <a:r>
                        <a:rPr lang="en-US" sz="1800" b="1" dirty="0">
                          <a:solidFill>
                            <a:srgbClr val="3FE0E0"/>
                          </a:solidFill>
                          <a:latin typeface="Calibri" pitchFamily="34" charset="0"/>
                          <a:ea typeface="Calibri" pitchFamily="34" charset="-122"/>
                          <a:cs typeface="Calibri" pitchFamily="34" charset="-120"/>
                        </a:rPr>
                        <a:t>04</a:t>
                      </a:r>
                      <a:endParaRPr lang="en-US" sz="18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Tier-aware recommendation tuning to lift Basic completion</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l" indent="0" marL="0">
                        <a:buNone/>
                      </a:pPr>
                      <a:r>
                        <a:rPr lang="en-US" sz="1200" dirty="0">
                          <a:solidFill>
                            <a:srgbClr val="B7D7DC"/>
                          </a:solidFill>
                          <a:latin typeface="Calibri" pitchFamily="34" charset="0"/>
                          <a:ea typeface="Calibri" pitchFamily="34" charset="-122"/>
                          <a:cs typeface="Calibri" pitchFamily="34" charset="-120"/>
                        </a:rPr>
                        <a:t>Insight 02</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l" indent="0" marL="0">
                        <a:buNone/>
                      </a:pPr>
                      <a:r>
                        <a:rPr lang="en-US" sz="1200" dirty="0">
                          <a:solidFill>
                            <a:srgbClr val="B7D7DC"/>
                          </a:solidFill>
                          <a:latin typeface="Calibri" pitchFamily="34" charset="0"/>
                          <a:ea typeface="Calibri" pitchFamily="34" charset="-122"/>
                          <a:cs typeface="Calibri" pitchFamily="34" charset="-120"/>
                        </a:rPr>
                        <a:t>Increased Basic→Standard upgrade conversions</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l" indent="0" marL="0">
                        <a:buNone/>
                      </a:pPr>
                      <a:r>
                        <a:rPr lang="en-US" sz="1200" dirty="0">
                          <a:solidFill>
                            <a:srgbClr val="B7D7DC"/>
                          </a:solidFill>
                          <a:latin typeface="Calibri" pitchFamily="34" charset="0"/>
                          <a:ea typeface="Calibri" pitchFamily="34" charset="-122"/>
                          <a:cs typeface="Calibri" pitchFamily="34" charset="-120"/>
                        </a:rPr>
                        <a:t>Q4 A/B test</a:t>
                      </a:r>
                      <a:endParaRPr lang="en-US" sz="12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r>
            </a:tbl>
          </a:graphicData>
        </a:graphic>
      </p:graphicFrame>
      <p:sp>
        <p:nvSpPr>
          <p:cNvPr id="13" name="Shape 10"/>
          <p:cNvSpPr/>
          <p:nvPr/>
        </p:nvSpPr>
        <p:spPr>
          <a:xfrm>
            <a:off x="457200" y="5532120"/>
            <a:ext cx="11247120" cy="548640"/>
          </a:xfrm>
          <a:prstGeom prst="rect">
            <a:avLst/>
          </a:prstGeom>
          <a:solidFill>
            <a:srgbClr val="001D24"/>
          </a:solidFill>
          <a:ln w="25400">
            <a:solidFill>
              <a:srgbClr val="3FE0E0"/>
            </a:solidFill>
            <a:prstDash val="solid"/>
          </a:ln>
        </p:spPr>
      </p:sp>
      <p:sp>
        <p:nvSpPr>
          <p:cNvPr id="14" name="Text 11"/>
          <p:cNvSpPr/>
          <p:nvPr/>
        </p:nvSpPr>
        <p:spPr>
          <a:xfrm>
            <a:off x="640080" y="5532120"/>
            <a:ext cx="10972800" cy="54864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All four actions are implementable from analytics tables our pipeline produces today. No additional data sources required.</a:t>
            </a:r>
            <a:endParaRPr lang="en-US" sz="1200" dirty="0"/>
          </a:p>
        </p:txBody>
      </p:sp>
      <p:sp>
        <p:nvSpPr>
          <p:cNvPr id="15" name="Text 12"/>
          <p:cNvSpPr/>
          <p:nvPr/>
        </p:nvSpPr>
        <p:spPr>
          <a:xfrm>
            <a:off x="11338560" y="6446520"/>
            <a:ext cx="640080" cy="274320"/>
          </a:xfrm>
          <a:prstGeom prst="rect">
            <a:avLst/>
          </a:prstGeom>
          <a:noFill/>
          <a:ln/>
        </p:spPr>
        <p:txBody>
          <a:bodyPr wrap="square" lIns="0" tIns="0" rIns="0" bIns="0" rtlCol="0" anchor="ctr"/>
          <a:lstStyle/>
          <a:p>
            <a:pPr algn="r" indent="0" marL="0">
              <a:buNone/>
            </a:pPr>
            <a:r>
              <a:rPr lang="en-US" sz="900" dirty="0">
                <a:solidFill>
                  <a:srgbClr val="7FA8AE"/>
                </a:solidFill>
                <a:latin typeface="Calibri" pitchFamily="34" charset="0"/>
                <a:ea typeface="Calibri" pitchFamily="34" charset="-122"/>
                <a:cs typeface="Calibri" pitchFamily="34" charset="-120"/>
              </a:rPr>
              <a:t>18 / 22</a:t>
            </a:r>
            <a:endParaRPr lang="en-US" sz="900" dirty="0"/>
          </a:p>
        </p:txBody>
      </p:sp>
      <p:sp>
        <p:nvSpPr>
          <p:cNvPr id="16" name="Text 13"/>
          <p:cNvSpPr/>
          <p:nvPr/>
        </p:nvSpPr>
        <p:spPr>
          <a:xfrm>
            <a:off x="365760" y="6446520"/>
            <a:ext cx="7315200" cy="274320"/>
          </a:xfrm>
          <a:prstGeom prst="rect">
            <a:avLst/>
          </a:prstGeom>
          <a:noFill/>
          <a:ln/>
        </p:spPr>
        <p:txBody>
          <a:bodyPr wrap="square" lIns="0" tIns="0" rIns="0" bIns="0" rtlCol="0" anchor="ctr"/>
          <a:lstStyle/>
          <a:p>
            <a:pPr algn="l" indent="0" marL="0">
              <a:buNone/>
            </a:pPr>
            <a:r>
              <a:rPr lang="en-US" sz="900" spc="200" kern="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731520" y="2377440"/>
            <a:ext cx="1828800" cy="1645920"/>
          </a:xfrm>
          <a:prstGeom prst="rect">
            <a:avLst/>
          </a:prstGeom>
          <a:noFill/>
          <a:ln/>
        </p:spPr>
        <p:txBody>
          <a:bodyPr wrap="square" lIns="0" tIns="0" rIns="0" bIns="0" rtlCol="0" anchor="ctr"/>
          <a:lstStyle/>
          <a:p>
            <a:pPr algn="l" indent="0" marL="0">
              <a:buNone/>
            </a:pPr>
            <a:r>
              <a:rPr lang="en-US" sz="10000" b="1" dirty="0">
                <a:solidFill>
                  <a:srgbClr val="FFFFFF"/>
                </a:solidFill>
                <a:latin typeface="Calibri" pitchFamily="34" charset="0"/>
                <a:ea typeface="Calibri" pitchFamily="34" charset="-122"/>
                <a:cs typeface="Calibri" pitchFamily="34" charset="-120"/>
              </a:rPr>
              <a:t>06</a:t>
            </a:r>
            <a:endParaRPr lang="en-US" sz="10000" dirty="0"/>
          </a:p>
        </p:txBody>
      </p:sp>
      <p:sp>
        <p:nvSpPr>
          <p:cNvPr id="10" name="Shape 8"/>
          <p:cNvSpPr/>
          <p:nvPr/>
        </p:nvSpPr>
        <p:spPr>
          <a:xfrm>
            <a:off x="2651760" y="2606040"/>
            <a:ext cx="0" cy="1371600"/>
          </a:xfrm>
          <a:prstGeom prst="line">
            <a:avLst/>
          </a:prstGeom>
          <a:noFill/>
          <a:ln w="25400">
            <a:solidFill>
              <a:srgbClr val="3FE0E0"/>
            </a:solidFill>
            <a:prstDash val="solid"/>
          </a:ln>
        </p:spPr>
      </p:sp>
      <p:sp>
        <p:nvSpPr>
          <p:cNvPr id="11" name="Text 9"/>
          <p:cNvSpPr/>
          <p:nvPr/>
        </p:nvSpPr>
        <p:spPr>
          <a:xfrm>
            <a:off x="2926080" y="2468880"/>
            <a:ext cx="777240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Scaling the Solution</a:t>
            </a:r>
            <a:endParaRPr lang="en-US" sz="4400" dirty="0"/>
          </a:p>
        </p:txBody>
      </p:sp>
      <p:sp>
        <p:nvSpPr>
          <p:cNvPr id="12" name="Text 10"/>
          <p:cNvSpPr/>
          <p:nvPr/>
        </p:nvSpPr>
        <p:spPr>
          <a:xfrm>
            <a:off x="2926080" y="3520440"/>
            <a:ext cx="7772400" cy="457200"/>
          </a:xfrm>
          <a:prstGeom prst="rect">
            <a:avLst/>
          </a:prstGeom>
          <a:noFill/>
          <a:ln/>
        </p:spPr>
        <p:txBody>
          <a:bodyPr wrap="square" lIns="0" tIns="0" rIns="0" bIns="0" rtlCol="0" anchor="ctr"/>
          <a:lstStyle/>
          <a:p>
            <a:pPr indent="0" marL="0">
              <a:buNone/>
            </a:pPr>
            <a:r>
              <a:rPr lang="en-US" sz="1600" i="1" spc="200" kern="0" dirty="0">
                <a:solidFill>
                  <a:srgbClr val="3FE0E0"/>
                </a:solidFill>
                <a:latin typeface="Calibri" pitchFamily="34" charset="0"/>
                <a:ea typeface="Calibri" pitchFamily="34" charset="-122"/>
                <a:cs typeface="Calibri" pitchFamily="34" charset="-120"/>
              </a:rPr>
              <a:t>PATH TO 10× AND 100× VOLUME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457200" y="365760"/>
            <a:ext cx="1124712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Linear scaling path · 10× to 100× requires reconfiguration, not rearchitecture</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indent="0" marL="0">
              <a:buNone/>
            </a:pPr>
            <a:r>
              <a:rPr lang="en-US" sz="1400" i="1" spc="100" kern="0" dirty="0">
                <a:solidFill>
                  <a:srgbClr val="3FE0E0"/>
                </a:solidFill>
                <a:latin typeface="Calibri" pitchFamily="34" charset="0"/>
                <a:ea typeface="Calibri" pitchFamily="34" charset="-122"/>
                <a:cs typeface="Calibri" pitchFamily="34" charset="-120"/>
              </a:rPr>
              <a:t>Each layer scales independently; cloud-managed equivalents available across all major providers</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sp>
      <p:sp>
        <p:nvSpPr>
          <p:cNvPr id="12" name="Shape 10"/>
          <p:cNvSpPr/>
          <p:nvPr/>
        </p:nvSpPr>
        <p:spPr>
          <a:xfrm>
            <a:off x="457200" y="1828800"/>
            <a:ext cx="3703320" cy="2377440"/>
          </a:xfrm>
          <a:prstGeom prst="rect">
            <a:avLst/>
          </a:prstGeom>
          <a:solidFill>
            <a:srgbClr val="0A4250"/>
          </a:solidFill>
          <a:ln w="12700">
            <a:solidFill>
              <a:srgbClr val="1E5A6B"/>
            </a:solidFill>
            <a:prstDash val="solid"/>
          </a:ln>
        </p:spPr>
      </p:sp>
      <p:sp>
        <p:nvSpPr>
          <p:cNvPr id="13" name="Shape 11"/>
          <p:cNvSpPr/>
          <p:nvPr/>
        </p:nvSpPr>
        <p:spPr>
          <a:xfrm>
            <a:off x="457200" y="1828800"/>
            <a:ext cx="3703320" cy="502920"/>
          </a:xfrm>
          <a:prstGeom prst="rect">
            <a:avLst/>
          </a:prstGeom>
          <a:solidFill>
            <a:srgbClr val="0A4250"/>
          </a:solidFill>
          <a:ln w="12700">
            <a:solidFill>
              <a:srgbClr val="0A4250"/>
            </a:solidFill>
            <a:prstDash val="solid"/>
          </a:ln>
        </p:spPr>
      </p:sp>
      <p:sp>
        <p:nvSpPr>
          <p:cNvPr id="14" name="Text 12"/>
          <p:cNvSpPr/>
          <p:nvPr/>
        </p:nvSpPr>
        <p:spPr>
          <a:xfrm>
            <a:off x="731520" y="1828800"/>
            <a:ext cx="3200400" cy="502920"/>
          </a:xfrm>
          <a:prstGeom prst="rect">
            <a:avLst/>
          </a:prstGeom>
          <a:noFill/>
          <a:ln/>
        </p:spPr>
        <p:txBody>
          <a:bodyPr wrap="square" lIns="0" tIns="0" rIns="0" bIns="0" rtlCol="0" anchor="ctr"/>
          <a:lstStyle/>
          <a:p>
            <a:pPr indent="0" marL="0">
              <a:buNone/>
            </a:pPr>
            <a:r>
              <a:rPr lang="en-US" sz="1800" b="1" spc="200" kern="0" dirty="0">
                <a:solidFill>
                  <a:srgbClr val="FFFFFF"/>
                </a:solidFill>
                <a:latin typeface="Calibri" pitchFamily="34" charset="0"/>
                <a:ea typeface="Calibri" pitchFamily="34" charset="-122"/>
                <a:cs typeface="Calibri" pitchFamily="34" charset="-120"/>
              </a:rPr>
              <a:t>TODAY</a:t>
            </a:r>
            <a:endParaRPr lang="en-US" sz="1800" dirty="0"/>
          </a:p>
        </p:txBody>
      </p:sp>
      <p:sp>
        <p:nvSpPr>
          <p:cNvPr id="15" name="Text 13"/>
          <p:cNvSpPr/>
          <p:nvPr/>
        </p:nvSpPr>
        <p:spPr>
          <a:xfrm>
            <a:off x="731520" y="2468880"/>
            <a:ext cx="3200400" cy="274320"/>
          </a:xfrm>
          <a:prstGeom prst="rect">
            <a:avLst/>
          </a:prstGeom>
          <a:noFill/>
          <a:ln/>
        </p:spPr>
        <p:txBody>
          <a:bodyPr wrap="square" lIns="0" tIns="0" rIns="0" bIns="0" rtlCol="0" anchor="ctr"/>
          <a:lstStyle/>
          <a:p>
            <a:pPr indent="0" marL="0">
              <a:buNone/>
            </a:pPr>
            <a:r>
              <a:rPr lang="en-US" sz="1000" i="1" spc="100" kern="0" dirty="0">
                <a:solidFill>
                  <a:srgbClr val="3FE0E0"/>
                </a:solidFill>
                <a:latin typeface="Calibri" pitchFamily="34" charset="0"/>
                <a:ea typeface="Calibri" pitchFamily="34" charset="-122"/>
                <a:cs typeface="Calibri" pitchFamily="34" charset="-120"/>
              </a:rPr>
              <a:t>32 MB, 50M rows</a:t>
            </a:r>
            <a:endParaRPr lang="en-US" sz="1000" dirty="0"/>
          </a:p>
        </p:txBody>
      </p:sp>
      <p:sp>
        <p:nvSpPr>
          <p:cNvPr id="16" name="Text 14"/>
          <p:cNvSpPr/>
          <p:nvPr/>
        </p:nvSpPr>
        <p:spPr>
          <a:xfrm>
            <a:off x="731520" y="2788920"/>
            <a:ext cx="3200400" cy="13716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1 Spark worker, 2 GB</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1 Kafka broker</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2 datanodes, RF=2</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Airflow LocalExecutor</a:t>
            </a:r>
            <a:endParaRPr lang="en-US" sz="1100" dirty="0"/>
          </a:p>
        </p:txBody>
      </p:sp>
      <p:sp>
        <p:nvSpPr>
          <p:cNvPr id="17" name="Shape 15"/>
          <p:cNvSpPr/>
          <p:nvPr/>
        </p:nvSpPr>
        <p:spPr>
          <a:xfrm>
            <a:off x="4361688" y="1828800"/>
            <a:ext cx="3703320" cy="2377440"/>
          </a:xfrm>
          <a:prstGeom prst="rect">
            <a:avLst/>
          </a:prstGeom>
          <a:solidFill>
            <a:srgbClr val="0A4250"/>
          </a:solidFill>
          <a:ln w="12700">
            <a:solidFill>
              <a:srgbClr val="1E5A6B"/>
            </a:solidFill>
            <a:prstDash val="solid"/>
          </a:ln>
        </p:spPr>
      </p:sp>
      <p:sp>
        <p:nvSpPr>
          <p:cNvPr id="18" name="Shape 16"/>
          <p:cNvSpPr/>
          <p:nvPr/>
        </p:nvSpPr>
        <p:spPr>
          <a:xfrm>
            <a:off x="4361688" y="1828800"/>
            <a:ext cx="3703320" cy="502920"/>
          </a:xfrm>
          <a:prstGeom prst="rect">
            <a:avLst/>
          </a:prstGeom>
          <a:solidFill>
            <a:srgbClr val="5BC9C9"/>
          </a:solidFill>
          <a:ln w="12700">
            <a:solidFill>
              <a:srgbClr val="5BC9C9"/>
            </a:solidFill>
            <a:prstDash val="solid"/>
          </a:ln>
        </p:spPr>
      </p:sp>
      <p:sp>
        <p:nvSpPr>
          <p:cNvPr id="19" name="Text 17"/>
          <p:cNvSpPr/>
          <p:nvPr/>
        </p:nvSpPr>
        <p:spPr>
          <a:xfrm>
            <a:off x="4636008" y="1828800"/>
            <a:ext cx="3200400" cy="502920"/>
          </a:xfrm>
          <a:prstGeom prst="rect">
            <a:avLst/>
          </a:prstGeom>
          <a:noFill/>
          <a:ln/>
        </p:spPr>
        <p:txBody>
          <a:bodyPr wrap="square" lIns="0" tIns="0" rIns="0" bIns="0" rtlCol="0" anchor="ctr"/>
          <a:lstStyle/>
          <a:p>
            <a:pPr indent="0" marL="0">
              <a:buNone/>
            </a:pPr>
            <a:r>
              <a:rPr lang="en-US" sz="1800" b="1" spc="200" kern="0" dirty="0">
                <a:solidFill>
                  <a:srgbClr val="001D24"/>
                </a:solidFill>
                <a:latin typeface="Calibri" pitchFamily="34" charset="0"/>
                <a:ea typeface="Calibri" pitchFamily="34" charset="-122"/>
                <a:cs typeface="Calibri" pitchFamily="34" charset="-120"/>
              </a:rPr>
              <a:t>10×</a:t>
            </a:r>
            <a:endParaRPr lang="en-US" sz="1800" dirty="0"/>
          </a:p>
        </p:txBody>
      </p:sp>
      <p:sp>
        <p:nvSpPr>
          <p:cNvPr id="20" name="Text 18"/>
          <p:cNvSpPr/>
          <p:nvPr/>
        </p:nvSpPr>
        <p:spPr>
          <a:xfrm>
            <a:off x="4636008" y="2468880"/>
            <a:ext cx="3200400" cy="274320"/>
          </a:xfrm>
          <a:prstGeom prst="rect">
            <a:avLst/>
          </a:prstGeom>
          <a:noFill/>
          <a:ln/>
        </p:spPr>
        <p:txBody>
          <a:bodyPr wrap="square" lIns="0" tIns="0" rIns="0" bIns="0" rtlCol="0" anchor="ctr"/>
          <a:lstStyle/>
          <a:p>
            <a:pPr indent="0" marL="0">
              <a:buNone/>
            </a:pPr>
            <a:r>
              <a:rPr lang="en-US" sz="1000" i="1" spc="100" kern="0" dirty="0">
                <a:solidFill>
                  <a:srgbClr val="3FE0E0"/>
                </a:solidFill>
                <a:latin typeface="Calibri" pitchFamily="34" charset="0"/>
                <a:ea typeface="Calibri" pitchFamily="34" charset="-122"/>
                <a:cs typeface="Calibri" pitchFamily="34" charset="-120"/>
              </a:rPr>
              <a:t>320 MB, 500M rows</a:t>
            </a:r>
            <a:endParaRPr lang="en-US" sz="1000" dirty="0"/>
          </a:p>
        </p:txBody>
      </p:sp>
      <p:sp>
        <p:nvSpPr>
          <p:cNvPr id="21" name="Text 19"/>
          <p:cNvSpPr/>
          <p:nvPr/>
        </p:nvSpPr>
        <p:spPr>
          <a:xfrm>
            <a:off x="4636008" y="2788920"/>
            <a:ext cx="3200400" cy="13716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4 workers × 4 GB</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12 partitions, 3 brokers</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shuffle.partitions → 500</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HDFS still healthy</a:t>
            </a:r>
            <a:endParaRPr lang="en-US" sz="1100" dirty="0"/>
          </a:p>
        </p:txBody>
      </p:sp>
      <p:sp>
        <p:nvSpPr>
          <p:cNvPr id="22" name="Shape 20"/>
          <p:cNvSpPr/>
          <p:nvPr/>
        </p:nvSpPr>
        <p:spPr>
          <a:xfrm>
            <a:off x="8266176" y="1828800"/>
            <a:ext cx="3703320" cy="2377440"/>
          </a:xfrm>
          <a:prstGeom prst="rect">
            <a:avLst/>
          </a:prstGeom>
          <a:solidFill>
            <a:srgbClr val="0A4250"/>
          </a:solidFill>
          <a:ln w="12700">
            <a:solidFill>
              <a:srgbClr val="1E5A6B"/>
            </a:solidFill>
            <a:prstDash val="solid"/>
          </a:ln>
        </p:spPr>
      </p:sp>
      <p:sp>
        <p:nvSpPr>
          <p:cNvPr id="23" name="Shape 21"/>
          <p:cNvSpPr/>
          <p:nvPr/>
        </p:nvSpPr>
        <p:spPr>
          <a:xfrm>
            <a:off x="8266176" y="1828800"/>
            <a:ext cx="3703320" cy="502920"/>
          </a:xfrm>
          <a:prstGeom prst="rect">
            <a:avLst/>
          </a:prstGeom>
          <a:solidFill>
            <a:srgbClr val="3FE0E0"/>
          </a:solidFill>
          <a:ln w="12700">
            <a:solidFill>
              <a:srgbClr val="3FE0E0"/>
            </a:solidFill>
            <a:prstDash val="solid"/>
          </a:ln>
        </p:spPr>
      </p:sp>
      <p:sp>
        <p:nvSpPr>
          <p:cNvPr id="24" name="Text 22"/>
          <p:cNvSpPr/>
          <p:nvPr/>
        </p:nvSpPr>
        <p:spPr>
          <a:xfrm>
            <a:off x="8540496" y="1828800"/>
            <a:ext cx="3200400" cy="502920"/>
          </a:xfrm>
          <a:prstGeom prst="rect">
            <a:avLst/>
          </a:prstGeom>
          <a:noFill/>
          <a:ln/>
        </p:spPr>
        <p:txBody>
          <a:bodyPr wrap="square" lIns="0" tIns="0" rIns="0" bIns="0" rtlCol="0" anchor="ctr"/>
          <a:lstStyle/>
          <a:p>
            <a:pPr indent="0" marL="0">
              <a:buNone/>
            </a:pPr>
            <a:r>
              <a:rPr lang="en-US" sz="1800" b="1" spc="200" kern="0" dirty="0">
                <a:solidFill>
                  <a:srgbClr val="001D24"/>
                </a:solidFill>
                <a:latin typeface="Calibri" pitchFamily="34" charset="0"/>
                <a:ea typeface="Calibri" pitchFamily="34" charset="-122"/>
                <a:cs typeface="Calibri" pitchFamily="34" charset="-120"/>
              </a:rPr>
              <a:t>100×</a:t>
            </a:r>
            <a:endParaRPr lang="en-US" sz="1800" dirty="0"/>
          </a:p>
        </p:txBody>
      </p:sp>
      <p:sp>
        <p:nvSpPr>
          <p:cNvPr id="25" name="Text 23"/>
          <p:cNvSpPr/>
          <p:nvPr/>
        </p:nvSpPr>
        <p:spPr>
          <a:xfrm>
            <a:off x="8540496" y="2468880"/>
            <a:ext cx="3200400" cy="274320"/>
          </a:xfrm>
          <a:prstGeom prst="rect">
            <a:avLst/>
          </a:prstGeom>
          <a:noFill/>
          <a:ln/>
        </p:spPr>
        <p:txBody>
          <a:bodyPr wrap="square" lIns="0" tIns="0" rIns="0" bIns="0" rtlCol="0" anchor="ctr"/>
          <a:lstStyle/>
          <a:p>
            <a:pPr indent="0" marL="0">
              <a:buNone/>
            </a:pPr>
            <a:r>
              <a:rPr lang="en-US" sz="1000" i="1" spc="100" kern="0" dirty="0">
                <a:solidFill>
                  <a:srgbClr val="3FE0E0"/>
                </a:solidFill>
                <a:latin typeface="Calibri" pitchFamily="34" charset="0"/>
                <a:ea typeface="Calibri" pitchFamily="34" charset="-122"/>
                <a:cs typeface="Calibri" pitchFamily="34" charset="-120"/>
              </a:rPr>
              <a:t>3.2 GB, 5B rows</a:t>
            </a:r>
            <a:endParaRPr lang="en-US" sz="1000" dirty="0"/>
          </a:p>
        </p:txBody>
      </p:sp>
      <p:sp>
        <p:nvSpPr>
          <p:cNvPr id="26" name="Text 24"/>
          <p:cNvSpPr/>
          <p:nvPr/>
        </p:nvSpPr>
        <p:spPr>
          <a:xfrm>
            <a:off x="8540496" y="2788920"/>
            <a:ext cx="3200400" cy="13716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8–16 workers × 16 GB</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16+ partitions, 5+ brokers</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RF=3, 5+ datanodes</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CeleryExecutor + Redis</a:t>
            </a:r>
            <a:endParaRPr lang="en-US" sz="1100" dirty="0"/>
          </a:p>
        </p:txBody>
      </p:sp>
      <p:sp>
        <p:nvSpPr>
          <p:cNvPr id="27" name="Text 25"/>
          <p:cNvSpPr/>
          <p:nvPr/>
        </p:nvSpPr>
        <p:spPr>
          <a:xfrm>
            <a:off x="457200" y="4434840"/>
            <a:ext cx="11247120" cy="274320"/>
          </a:xfrm>
          <a:prstGeom prst="rect">
            <a:avLst/>
          </a:prstGeom>
          <a:noFill/>
          <a:ln/>
        </p:spPr>
        <p:txBody>
          <a:bodyPr wrap="square" lIns="0" tIns="0" rIns="0" bIns="0" rtlCol="0" anchor="ctr"/>
          <a:lstStyle/>
          <a:p>
            <a:pPr indent="0" marL="0">
              <a:buNone/>
            </a:pPr>
            <a:r>
              <a:rPr lang="en-US" sz="1000" spc="300" kern="0" dirty="0">
                <a:solidFill>
                  <a:srgbClr val="3FE0E0"/>
                </a:solidFill>
                <a:latin typeface="Calibri" pitchFamily="34" charset="0"/>
                <a:ea typeface="Calibri" pitchFamily="34" charset="-122"/>
                <a:cs typeface="Calibri" pitchFamily="34" charset="-120"/>
              </a:rPr>
              <a:t>CLOUD-MANAGED EQUIVALENTS</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4754880"/>
          <a:ext cx="11247120" cy="914400"/>
        </p:xfrm>
        <a:graphic>
          <a:graphicData uri="http://schemas.openxmlformats.org/drawingml/2006/table">
            <a:tbl>
              <a:tblPr/>
              <a:tblGrid>
                <a:gridCol w="2743200"/>
                <a:gridCol w="2834640"/>
                <a:gridCol w="2834640"/>
                <a:gridCol w="2834640"/>
              </a:tblGrid>
              <a:tr h="29260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AWS</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GCP</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Azure</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r>
              <a:tr h="292608">
                <a:tc>
                  <a:txBody>
                    <a:bodyPr/>
                    <a:lstStyle/>
                    <a:p>
                      <a:pPr algn="l" indent="0" marL="0">
                        <a:buNone/>
                      </a:pPr>
                      <a:r>
                        <a:rPr lang="en-US" sz="1100" b="1" dirty="0">
                          <a:solidFill>
                            <a:srgbClr val="3FE0E0"/>
                          </a:solidFill>
                          <a:latin typeface="Calibri" pitchFamily="34" charset="0"/>
                          <a:ea typeface="Calibri" pitchFamily="34" charset="-122"/>
                          <a:cs typeface="Calibri" pitchFamily="34" charset="-120"/>
                        </a:rPr>
                        <a:t>Storage</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algn="ctr" indent="0" marL="0">
                        <a:buNone/>
                      </a:pPr>
                      <a:r>
                        <a:rPr lang="en-US" sz="1100" dirty="0">
                          <a:solidFill>
                            <a:srgbClr val="B7D7DC"/>
                          </a:solidFill>
                          <a:latin typeface="Calibri" pitchFamily="34" charset="0"/>
                          <a:ea typeface="Calibri" pitchFamily="34" charset="-122"/>
                          <a:cs typeface="Calibri" pitchFamily="34" charset="-120"/>
                        </a:rPr>
                        <a:t>S3 + EMRFS</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algn="ctr" indent="0" marL="0">
                        <a:buNone/>
                      </a:pPr>
                      <a:r>
                        <a:rPr lang="en-US" sz="1100" dirty="0">
                          <a:solidFill>
                            <a:srgbClr val="B7D7DC"/>
                          </a:solidFill>
                          <a:latin typeface="Calibri" pitchFamily="34" charset="0"/>
                          <a:ea typeface="Calibri" pitchFamily="34" charset="-122"/>
                          <a:cs typeface="Calibri" pitchFamily="34" charset="-120"/>
                        </a:rPr>
                        <a:t>Cloud Storage</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algn="ctr" indent="0" marL="0">
                        <a:buNone/>
                      </a:pPr>
                      <a:r>
                        <a:rPr lang="en-US" sz="1100" dirty="0">
                          <a:solidFill>
                            <a:srgbClr val="B7D7DC"/>
                          </a:solidFill>
                          <a:latin typeface="Calibri" pitchFamily="34" charset="0"/>
                          <a:ea typeface="Calibri" pitchFamily="34" charset="-122"/>
                          <a:cs typeface="Calibri" pitchFamily="34" charset="-120"/>
                        </a:rPr>
                        <a:t>ADLS Gen2</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r>
              <a:tr h="292608">
                <a:tc>
                  <a:txBody>
                    <a:bodyPr/>
                    <a:lstStyle/>
                    <a:p>
                      <a:pPr algn="l" indent="0" marL="0">
                        <a:buNone/>
                      </a:pPr>
                      <a:r>
                        <a:rPr lang="en-US" sz="1100" b="1" dirty="0">
                          <a:solidFill>
                            <a:srgbClr val="3FE0E0"/>
                          </a:solidFill>
                          <a:latin typeface="Calibri" pitchFamily="34" charset="0"/>
                          <a:ea typeface="Calibri" pitchFamily="34" charset="-122"/>
                          <a:cs typeface="Calibri" pitchFamily="34" charset="-120"/>
                        </a:rPr>
                        <a:t>Compute</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ctr" indent="0" marL="0">
                        <a:buNone/>
                      </a:pPr>
                      <a:r>
                        <a:rPr lang="en-US" sz="1100" dirty="0">
                          <a:solidFill>
                            <a:srgbClr val="B7D7DC"/>
                          </a:solidFill>
                          <a:latin typeface="Calibri" pitchFamily="34" charset="0"/>
                          <a:ea typeface="Calibri" pitchFamily="34" charset="-122"/>
                          <a:cs typeface="Calibri" pitchFamily="34" charset="-120"/>
                        </a:rPr>
                        <a:t>EMR / Glue</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ctr" indent="0" marL="0">
                        <a:buNone/>
                      </a:pPr>
                      <a:r>
                        <a:rPr lang="en-US" sz="1100" dirty="0">
                          <a:solidFill>
                            <a:srgbClr val="B7D7DC"/>
                          </a:solidFill>
                          <a:latin typeface="Calibri" pitchFamily="34" charset="0"/>
                          <a:ea typeface="Calibri" pitchFamily="34" charset="-122"/>
                          <a:cs typeface="Calibri" pitchFamily="34" charset="-120"/>
                        </a:rPr>
                        <a:t>Dataproc</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ctr" indent="0" marL="0">
                        <a:buNone/>
                      </a:pPr>
                      <a:r>
                        <a:rPr lang="en-US" sz="1100" dirty="0">
                          <a:solidFill>
                            <a:srgbClr val="B7D7DC"/>
                          </a:solidFill>
                          <a:latin typeface="Calibri" pitchFamily="34" charset="0"/>
                          <a:ea typeface="Calibri" pitchFamily="34" charset="-122"/>
                          <a:cs typeface="Calibri" pitchFamily="34" charset="-120"/>
                        </a:rPr>
                        <a:t>HDInsight / Synapse</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r>
              <a:tr h="292608">
                <a:tc>
                  <a:txBody>
                    <a:bodyPr/>
                    <a:lstStyle/>
                    <a:p>
                      <a:pPr algn="l" indent="0" marL="0">
                        <a:buNone/>
                      </a:pPr>
                      <a:r>
                        <a:rPr lang="en-US" sz="1100" b="1" dirty="0">
                          <a:solidFill>
                            <a:srgbClr val="3FE0E0"/>
                          </a:solidFill>
                          <a:latin typeface="Calibri" pitchFamily="34" charset="0"/>
                          <a:ea typeface="Calibri" pitchFamily="34" charset="-122"/>
                          <a:cs typeface="Calibri" pitchFamily="34" charset="-120"/>
                        </a:rPr>
                        <a:t>Streaming</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algn="ctr" indent="0" marL="0">
                        <a:buNone/>
                      </a:pPr>
                      <a:r>
                        <a:rPr lang="en-US" sz="1100" dirty="0">
                          <a:solidFill>
                            <a:srgbClr val="B7D7DC"/>
                          </a:solidFill>
                          <a:latin typeface="Calibri" pitchFamily="34" charset="0"/>
                          <a:ea typeface="Calibri" pitchFamily="34" charset="-122"/>
                          <a:cs typeface="Calibri" pitchFamily="34" charset="-120"/>
                        </a:rPr>
                        <a:t>MSK / Kinesis</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algn="ctr" indent="0" marL="0">
                        <a:buNone/>
                      </a:pPr>
                      <a:r>
                        <a:rPr lang="en-US" sz="1100" dirty="0">
                          <a:solidFill>
                            <a:srgbClr val="B7D7DC"/>
                          </a:solidFill>
                          <a:latin typeface="Calibri" pitchFamily="34" charset="0"/>
                          <a:ea typeface="Calibri" pitchFamily="34" charset="-122"/>
                          <a:cs typeface="Calibri" pitchFamily="34" charset="-120"/>
                        </a:rPr>
                        <a:t>Pub/Sub</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algn="ctr" indent="0" marL="0">
                        <a:buNone/>
                      </a:pPr>
                      <a:r>
                        <a:rPr lang="en-US" sz="1100" dirty="0">
                          <a:solidFill>
                            <a:srgbClr val="B7D7DC"/>
                          </a:solidFill>
                          <a:latin typeface="Calibri" pitchFamily="34" charset="0"/>
                          <a:ea typeface="Calibri" pitchFamily="34" charset="-122"/>
                          <a:cs typeface="Calibri" pitchFamily="34" charset="-120"/>
                        </a:rPr>
                        <a:t>Event Hubs</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r>
              <a:tr h="292608">
                <a:tc>
                  <a:txBody>
                    <a:bodyPr/>
                    <a:lstStyle/>
                    <a:p>
                      <a:pPr algn="l" indent="0" marL="0">
                        <a:buNone/>
                      </a:pPr>
                      <a:r>
                        <a:rPr lang="en-US" sz="1100" b="1" dirty="0">
                          <a:solidFill>
                            <a:srgbClr val="3FE0E0"/>
                          </a:solidFill>
                          <a:latin typeface="Calibri" pitchFamily="34" charset="0"/>
                          <a:ea typeface="Calibri" pitchFamily="34" charset="-122"/>
                          <a:cs typeface="Calibri" pitchFamily="34" charset="-120"/>
                        </a:rPr>
                        <a:t>Orchestration</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ctr" indent="0" marL="0">
                        <a:buNone/>
                      </a:pPr>
                      <a:r>
                        <a:rPr lang="en-US" sz="1100" dirty="0">
                          <a:solidFill>
                            <a:srgbClr val="B7D7DC"/>
                          </a:solidFill>
                          <a:latin typeface="Calibri" pitchFamily="34" charset="0"/>
                          <a:ea typeface="Calibri" pitchFamily="34" charset="-122"/>
                          <a:cs typeface="Calibri" pitchFamily="34" charset="-120"/>
                        </a:rPr>
                        <a:t>MWAA</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ctr" indent="0" marL="0">
                        <a:buNone/>
                      </a:pPr>
                      <a:r>
                        <a:rPr lang="en-US" sz="1100" dirty="0">
                          <a:solidFill>
                            <a:srgbClr val="B7D7DC"/>
                          </a:solidFill>
                          <a:latin typeface="Calibri" pitchFamily="34" charset="0"/>
                          <a:ea typeface="Calibri" pitchFamily="34" charset="-122"/>
                          <a:cs typeface="Calibri" pitchFamily="34" charset="-120"/>
                        </a:rPr>
                        <a:t>Cloud Composer</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algn="ctr" indent="0" marL="0">
                        <a:buNone/>
                      </a:pPr>
                      <a:r>
                        <a:rPr lang="en-US" sz="1100" dirty="0">
                          <a:solidFill>
                            <a:srgbClr val="B7D7DC"/>
                          </a:solidFill>
                          <a:latin typeface="Calibri" pitchFamily="34" charset="0"/>
                          <a:ea typeface="Calibri" pitchFamily="34" charset="-122"/>
                          <a:cs typeface="Calibri" pitchFamily="34" charset="-120"/>
                        </a:rPr>
                        <a:t>Data Factory</a:t>
                      </a:r>
                      <a:endParaRPr lang="en-US" sz="1100" dirty="0">
                        <a:latin typeface="Calibri" charset="0"/>
                        <a:ea typeface="Calibri" charset="0"/>
                        <a:cs typeface="Calibri" charset="0"/>
                      </a:endParaRPr>
                    </a:p>
                  </a:txBody>
                  <a:tcPr marL="91440" marR="91440" marT="45720" marB="45720"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r>
            </a:tbl>
          </a:graphicData>
        </a:graphic>
      </p:graphicFrame>
      <p:sp>
        <p:nvSpPr>
          <p:cNvPr id="29" name="Text 26"/>
          <p:cNvSpPr/>
          <p:nvPr/>
        </p:nvSpPr>
        <p:spPr>
          <a:xfrm>
            <a:off x="457200" y="6263640"/>
            <a:ext cx="11247120" cy="274320"/>
          </a:xfrm>
          <a:prstGeom prst="rect">
            <a:avLst/>
          </a:prstGeom>
          <a:noFill/>
          <a:ln/>
        </p:spPr>
        <p:txBody>
          <a:bodyPr wrap="square" lIns="0" tIns="0" rIns="0" bIns="0" rtlCol="0" anchor="ctr"/>
          <a:lstStyle/>
          <a:p>
            <a:pPr algn="ctr" indent="0" marL="0">
              <a:buNone/>
            </a:pPr>
            <a:r>
              <a:rPr lang="en-US" sz="1100" b="1" dirty="0">
                <a:solidFill>
                  <a:srgbClr val="3FE0E0"/>
                </a:solidFill>
                <a:latin typeface="Calibri" pitchFamily="34" charset="0"/>
                <a:ea typeface="Calibri" pitchFamily="34" charset="-122"/>
                <a:cs typeface="Calibri" pitchFamily="34" charset="-120"/>
              </a:rPr>
              <a:t>Recommended at 100×: AWS-based stack · ~70% lower TCO than self-managed once labor included</a:t>
            </a:r>
            <a:endParaRPr lang="en-US" sz="1100" dirty="0"/>
          </a:p>
        </p:txBody>
      </p:sp>
      <p:sp>
        <p:nvSpPr>
          <p:cNvPr id="30" name="Text 27"/>
          <p:cNvSpPr/>
          <p:nvPr/>
        </p:nvSpPr>
        <p:spPr>
          <a:xfrm>
            <a:off x="11338560" y="6446520"/>
            <a:ext cx="640080" cy="274320"/>
          </a:xfrm>
          <a:prstGeom prst="rect">
            <a:avLst/>
          </a:prstGeom>
          <a:noFill/>
          <a:ln/>
        </p:spPr>
        <p:txBody>
          <a:bodyPr wrap="square" lIns="0" tIns="0" rIns="0" bIns="0" rtlCol="0" anchor="ctr"/>
          <a:lstStyle/>
          <a:p>
            <a:pPr algn="r" indent="0" marL="0">
              <a:buNone/>
            </a:pPr>
            <a:r>
              <a:rPr lang="en-US" sz="900" dirty="0">
                <a:solidFill>
                  <a:srgbClr val="7FA8AE"/>
                </a:solidFill>
                <a:latin typeface="Calibri" pitchFamily="34" charset="0"/>
                <a:ea typeface="Calibri" pitchFamily="34" charset="-122"/>
                <a:cs typeface="Calibri" pitchFamily="34" charset="-120"/>
              </a:rPr>
              <a:t>20 / 22</a:t>
            </a:r>
            <a:endParaRPr lang="en-US" sz="900" dirty="0"/>
          </a:p>
        </p:txBody>
      </p:sp>
      <p:sp>
        <p:nvSpPr>
          <p:cNvPr id="31" name="Text 28"/>
          <p:cNvSpPr/>
          <p:nvPr/>
        </p:nvSpPr>
        <p:spPr>
          <a:xfrm>
            <a:off x="365760" y="6446520"/>
            <a:ext cx="7315200" cy="274320"/>
          </a:xfrm>
          <a:prstGeom prst="rect">
            <a:avLst/>
          </a:prstGeom>
          <a:noFill/>
          <a:ln/>
        </p:spPr>
        <p:txBody>
          <a:bodyPr wrap="square" lIns="0" tIns="0" rIns="0" bIns="0" rtlCol="0" anchor="ctr"/>
          <a:lstStyle/>
          <a:p>
            <a:pPr algn="l" indent="0" marL="0">
              <a:buNone/>
            </a:pPr>
            <a:r>
              <a:rPr lang="en-US" sz="900" spc="200" kern="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457200" y="2560320"/>
            <a:ext cx="11247120" cy="1371600"/>
          </a:xfrm>
          <a:prstGeom prst="rect">
            <a:avLst/>
          </a:prstGeom>
          <a:noFill/>
          <a:ln/>
        </p:spPr>
        <p:txBody>
          <a:bodyPr wrap="square" lIns="0" tIns="0" rIns="0" bIns="0" rtlCol="0" anchor="ctr"/>
          <a:lstStyle/>
          <a:p>
            <a:pPr algn="ctr" indent="0" marL="0">
              <a:buNone/>
            </a:pPr>
            <a:r>
              <a:rPr lang="en-US" sz="9000" b="1" dirty="0">
                <a:solidFill>
                  <a:srgbClr val="FFFFFF"/>
                </a:solidFill>
                <a:latin typeface="Calibri" pitchFamily="34" charset="0"/>
                <a:ea typeface="Calibri" pitchFamily="34" charset="-122"/>
                <a:cs typeface="Calibri" pitchFamily="34" charset="-120"/>
              </a:rPr>
              <a:t>Questions</a:t>
            </a:r>
            <a:endParaRPr lang="en-US" sz="9000" dirty="0"/>
          </a:p>
        </p:txBody>
      </p:sp>
      <p:sp>
        <p:nvSpPr>
          <p:cNvPr id="10" name="Shape 8"/>
          <p:cNvSpPr/>
          <p:nvPr/>
        </p:nvSpPr>
        <p:spPr>
          <a:xfrm>
            <a:off x="5166360" y="4023360"/>
            <a:ext cx="1828800" cy="0"/>
          </a:xfrm>
          <a:prstGeom prst="line">
            <a:avLst/>
          </a:prstGeom>
          <a:noFill/>
          <a:ln w="38100">
            <a:solidFill>
              <a:srgbClr val="3FE0E0"/>
            </a:solidFill>
            <a:prstDash val="solid"/>
          </a:ln>
        </p:spPr>
      </p:sp>
      <p:sp>
        <p:nvSpPr>
          <p:cNvPr id="11" name="Text 9"/>
          <p:cNvSpPr/>
          <p:nvPr/>
        </p:nvSpPr>
        <p:spPr>
          <a:xfrm>
            <a:off x="457200" y="4206240"/>
            <a:ext cx="11247120" cy="365760"/>
          </a:xfrm>
          <a:prstGeom prst="rect">
            <a:avLst/>
          </a:prstGeom>
          <a:noFill/>
          <a:ln/>
        </p:spPr>
        <p:txBody>
          <a:bodyPr wrap="square" lIns="0" tIns="0" rIns="0" bIns="0" rtlCol="0" anchor="ctr"/>
          <a:lstStyle/>
          <a:p>
            <a:pPr algn="ctr" indent="0" marL="0">
              <a:buNone/>
            </a:pPr>
            <a:r>
              <a:rPr lang="en-US" sz="1400" spc="600" kern="0" dirty="0">
                <a:solidFill>
                  <a:srgbClr val="3FE0E0"/>
                </a:solidFill>
                <a:latin typeface="Calibri" pitchFamily="34" charset="0"/>
                <a:ea typeface="Calibri" pitchFamily="34" charset="-122"/>
                <a:cs typeface="Calibri" pitchFamily="34" charset="-120"/>
              </a:rPr>
              <a:t>DISCUSSION OPEN</a:t>
            </a:r>
            <a:endParaRPr lang="en-US" sz="1400" dirty="0"/>
          </a:p>
        </p:txBody>
      </p:sp>
      <p:sp>
        <p:nvSpPr>
          <p:cNvPr id="12" name="Text 10"/>
          <p:cNvSpPr/>
          <p:nvPr/>
        </p:nvSpPr>
        <p:spPr>
          <a:xfrm>
            <a:off x="457200" y="6217920"/>
            <a:ext cx="11247120" cy="365760"/>
          </a:xfrm>
          <a:prstGeom prst="rect">
            <a:avLst/>
          </a:prstGeom>
          <a:noFill/>
          <a:ln/>
        </p:spPr>
        <p:txBody>
          <a:bodyPr wrap="square" lIns="0" tIns="0" rIns="0" bIns="0" rtlCol="0" anchor="ctr"/>
          <a:lstStyle/>
          <a:p>
            <a:pPr algn="ctr" indent="0" marL="0">
              <a:buNone/>
            </a:pPr>
            <a:r>
              <a:rPr lang="en-US" sz="1100" dirty="0">
                <a:solidFill>
                  <a:srgbClr val="7FA8AE"/>
                </a:solidFill>
                <a:latin typeface="Calibri" pitchFamily="34" charset="0"/>
                <a:ea typeface="Calibri" pitchFamily="34" charset="-122"/>
                <a:cs typeface="Calibri" pitchFamily="34" charset="-120"/>
              </a:rPr>
              <a:t>Team Data Avengers · Helen Nguyen · Quang Nguyen · Juan Rivera · Aleksandr Nicolaev · Yusuke Yoshizawa</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12E36"/>
        </a:solidFill>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sp>
      <p:sp>
        <p:nvSpPr>
          <p:cNvPr id="6" name="Shape 4"/>
          <p:cNvSpPr/>
          <p:nvPr/>
        </p:nvSpPr>
        <p:spPr>
          <a:xfrm>
            <a:off x="-182880" y="5943600"/>
            <a:ext cx="1371600" cy="-365760"/>
          </a:xfrm>
          <a:prstGeom prst="line">
            <a:avLst/>
          </a:prstGeom>
          <a:noFill/>
          <a:ln w="12700">
            <a:solidFill>
              <a:srgbClr val="3FE0E0">
                <a:alpha val="20000"/>
              </a:srgbClr>
            </a:solidFill>
            <a:prstDash val="solid"/>
          </a:ln>
        </p:spPr>
      </p:sp>
      <p:sp>
        <p:nvSpPr>
          <p:cNvPr id="7" name="Shape 5"/>
          <p:cNvSpPr/>
          <p:nvPr/>
        </p:nvSpPr>
        <p:spPr>
          <a:xfrm>
            <a:off x="-182880" y="6217920"/>
            <a:ext cx="1371600" cy="-365760"/>
          </a:xfrm>
          <a:prstGeom prst="line">
            <a:avLst/>
          </a:prstGeom>
          <a:noFill/>
          <a:ln w="12700">
            <a:solidFill>
              <a:srgbClr val="3FE0E0">
                <a:alpha val="15000"/>
              </a:srgbClr>
            </a:solidFill>
            <a:prstDash val="solid"/>
          </a:ln>
        </p:spPr>
      </p:sp>
      <p:sp>
        <p:nvSpPr>
          <p:cNvPr id="8" name="Shape 6"/>
          <p:cNvSpPr/>
          <p:nvPr/>
        </p:nvSpPr>
        <p:spPr>
          <a:xfrm>
            <a:off x="-182880" y="6492240"/>
            <a:ext cx="1371600" cy="-365760"/>
          </a:xfrm>
          <a:prstGeom prst="line">
            <a:avLst/>
          </a:prstGeom>
          <a:noFill/>
          <a:ln w="12700">
            <a:solidFill>
              <a:srgbClr val="3FE0E0">
                <a:alpha val="10000"/>
              </a:srgbClr>
            </a:solidFill>
            <a:prstDash val="solid"/>
          </a:ln>
        </p:spPr>
      </p:sp>
      <p:sp>
        <p:nvSpPr>
          <p:cNvPr id="9" name="Text 7"/>
          <p:cNvSpPr/>
          <p:nvPr/>
        </p:nvSpPr>
        <p:spPr>
          <a:xfrm>
            <a:off x="457200" y="365760"/>
            <a:ext cx="1124712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Appendix · Anticipated technical questions</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indent="0" marL="0">
              <a:buNone/>
            </a:pPr>
            <a:r>
              <a:rPr lang="en-US" sz="1400" i="1" spc="100" kern="0" dirty="0">
                <a:solidFill>
                  <a:srgbClr val="3FE0E0"/>
                </a:solidFill>
                <a:latin typeface="Calibri" pitchFamily="34" charset="0"/>
                <a:ea typeface="Calibri" pitchFamily="34" charset="-122"/>
                <a:cs typeface="Calibri" pitchFamily="34" charset="-120"/>
              </a:rPr>
              <a:t>Reference for the team during Q&amp;A</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sp>
      <p:sp>
        <p:nvSpPr>
          <p:cNvPr id="12" name="Shape 10"/>
          <p:cNvSpPr/>
          <p:nvPr/>
        </p:nvSpPr>
        <p:spPr>
          <a:xfrm>
            <a:off x="457200" y="1828800"/>
            <a:ext cx="11247120" cy="914400"/>
          </a:xfrm>
          <a:prstGeom prst="rect">
            <a:avLst/>
          </a:prstGeom>
          <a:solidFill>
            <a:srgbClr val="0A4250"/>
          </a:solidFill>
          <a:ln w="12700">
            <a:solidFill>
              <a:srgbClr val="1E5A6B"/>
            </a:solidFill>
            <a:prstDash val="solid"/>
          </a:ln>
        </p:spPr>
      </p:sp>
      <p:sp>
        <p:nvSpPr>
          <p:cNvPr id="13" name="Shape 11"/>
          <p:cNvSpPr/>
          <p:nvPr/>
        </p:nvSpPr>
        <p:spPr>
          <a:xfrm>
            <a:off x="457200" y="1828800"/>
            <a:ext cx="73152" cy="914400"/>
          </a:xfrm>
          <a:prstGeom prst="rect">
            <a:avLst/>
          </a:prstGeom>
          <a:solidFill>
            <a:srgbClr val="3FE0E0"/>
          </a:solidFill>
          <a:ln w="12700">
            <a:solidFill>
              <a:srgbClr val="3FE0E0"/>
            </a:solidFill>
            <a:prstDash val="solid"/>
          </a:ln>
        </p:spPr>
      </p:sp>
      <p:sp>
        <p:nvSpPr>
          <p:cNvPr id="14" name="Text 12"/>
          <p:cNvSpPr/>
          <p:nvPr/>
        </p:nvSpPr>
        <p:spPr>
          <a:xfrm>
            <a:off x="640080" y="1920240"/>
            <a:ext cx="640080" cy="320040"/>
          </a:xfrm>
          <a:prstGeom prst="rect">
            <a:avLst/>
          </a:prstGeom>
          <a:noFill/>
          <a:ln/>
        </p:spPr>
        <p:txBody>
          <a:bodyPr wrap="square" lIns="0" tIns="0" rIns="0" bIns="0" rtlCol="0" anchor="ctr"/>
          <a:lstStyle/>
          <a:p>
            <a:pPr indent="0" marL="0">
              <a:buNone/>
            </a:pPr>
            <a:r>
              <a:rPr lang="en-US" sz="1200" b="1" dirty="0">
                <a:solidFill>
                  <a:srgbClr val="3FE0E0"/>
                </a:solidFill>
                <a:latin typeface="Calibri" pitchFamily="34" charset="0"/>
                <a:ea typeface="Calibri" pitchFamily="34" charset="-122"/>
                <a:cs typeface="Calibri" pitchFamily="34" charset="-120"/>
              </a:rPr>
              <a:t>Q01</a:t>
            </a:r>
            <a:endParaRPr lang="en-US" sz="1200" dirty="0"/>
          </a:p>
        </p:txBody>
      </p:sp>
      <p:sp>
        <p:nvSpPr>
          <p:cNvPr id="15" name="Text 13"/>
          <p:cNvSpPr/>
          <p:nvPr/>
        </p:nvSpPr>
        <p:spPr>
          <a:xfrm>
            <a:off x="1325880" y="1920240"/>
            <a:ext cx="100584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How does the pipeline handle schema changes in streaming data?</a:t>
            </a:r>
            <a:endParaRPr lang="en-US" sz="1200" dirty="0"/>
          </a:p>
        </p:txBody>
      </p:sp>
      <p:sp>
        <p:nvSpPr>
          <p:cNvPr id="16" name="Text 14"/>
          <p:cNvSpPr/>
          <p:nvPr/>
        </p:nvSpPr>
        <p:spPr>
          <a:xfrm>
            <a:off x="1325880" y="2240280"/>
            <a:ext cx="10058400" cy="502920"/>
          </a:xfrm>
          <a:prstGeom prst="rect">
            <a:avLst/>
          </a:prstGeom>
          <a:noFill/>
          <a:ln/>
        </p:spPr>
        <p:txBody>
          <a:bodyPr wrap="square" lIns="0" tIns="0" rIns="0" bIns="0" rtlCol="0" anchor="ctr"/>
          <a:lstStyle/>
          <a:p>
            <a:pPr indent="0" marL="0">
              <a:buNone/>
            </a:pPr>
            <a:r>
              <a:rPr lang="en-US" sz="1100" dirty="0">
                <a:solidFill>
                  <a:srgbClr val="B7D7DC"/>
                </a:solidFill>
                <a:latin typeface="Calibri" pitchFamily="34" charset="0"/>
                <a:ea typeface="Calibri" pitchFamily="34" charset="-122"/>
                <a:cs typeface="Calibri" pitchFamily="34" charset="-120"/>
              </a:rPr>
              <a:t>Schema registry pattern (Confluent or AWS Glue). Producer registers new schema versions; consumer auto-deserializes compatible changes. One-day extension to current architecture.</a:t>
            </a:r>
            <a:endParaRPr lang="en-US" sz="1100" dirty="0"/>
          </a:p>
        </p:txBody>
      </p:sp>
      <p:sp>
        <p:nvSpPr>
          <p:cNvPr id="17" name="Shape 15"/>
          <p:cNvSpPr/>
          <p:nvPr/>
        </p:nvSpPr>
        <p:spPr>
          <a:xfrm>
            <a:off x="457200" y="2880360"/>
            <a:ext cx="11247120" cy="914400"/>
          </a:xfrm>
          <a:prstGeom prst="rect">
            <a:avLst/>
          </a:prstGeom>
          <a:solidFill>
            <a:srgbClr val="0A4250"/>
          </a:solidFill>
          <a:ln w="12700">
            <a:solidFill>
              <a:srgbClr val="1E5A6B"/>
            </a:solidFill>
            <a:prstDash val="solid"/>
          </a:ln>
        </p:spPr>
      </p:sp>
      <p:sp>
        <p:nvSpPr>
          <p:cNvPr id="18" name="Shape 16"/>
          <p:cNvSpPr/>
          <p:nvPr/>
        </p:nvSpPr>
        <p:spPr>
          <a:xfrm>
            <a:off x="457200" y="2880360"/>
            <a:ext cx="73152" cy="914400"/>
          </a:xfrm>
          <a:prstGeom prst="rect">
            <a:avLst/>
          </a:prstGeom>
          <a:solidFill>
            <a:srgbClr val="3FE0E0"/>
          </a:solidFill>
          <a:ln w="12700">
            <a:solidFill>
              <a:srgbClr val="3FE0E0"/>
            </a:solidFill>
            <a:prstDash val="solid"/>
          </a:ln>
        </p:spPr>
      </p:sp>
      <p:sp>
        <p:nvSpPr>
          <p:cNvPr id="19" name="Text 17"/>
          <p:cNvSpPr/>
          <p:nvPr/>
        </p:nvSpPr>
        <p:spPr>
          <a:xfrm>
            <a:off x="640080" y="2971800"/>
            <a:ext cx="640080" cy="320040"/>
          </a:xfrm>
          <a:prstGeom prst="rect">
            <a:avLst/>
          </a:prstGeom>
          <a:noFill/>
          <a:ln/>
        </p:spPr>
        <p:txBody>
          <a:bodyPr wrap="square" lIns="0" tIns="0" rIns="0" bIns="0" rtlCol="0" anchor="ctr"/>
          <a:lstStyle/>
          <a:p>
            <a:pPr indent="0" marL="0">
              <a:buNone/>
            </a:pPr>
            <a:r>
              <a:rPr lang="en-US" sz="1200" b="1" dirty="0">
                <a:solidFill>
                  <a:srgbClr val="3FE0E0"/>
                </a:solidFill>
                <a:latin typeface="Calibri" pitchFamily="34" charset="0"/>
                <a:ea typeface="Calibri" pitchFamily="34" charset="-122"/>
                <a:cs typeface="Calibri" pitchFamily="34" charset="-120"/>
              </a:rPr>
              <a:t>Q02</a:t>
            </a:r>
            <a:endParaRPr lang="en-US" sz="1200" dirty="0"/>
          </a:p>
        </p:txBody>
      </p:sp>
      <p:sp>
        <p:nvSpPr>
          <p:cNvPr id="20" name="Text 18"/>
          <p:cNvSpPr/>
          <p:nvPr/>
        </p:nvSpPr>
        <p:spPr>
          <a:xfrm>
            <a:off x="1325880" y="2971800"/>
            <a:ext cx="100584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Why Parquet over Avro for the curated zone?</a:t>
            </a:r>
            <a:endParaRPr lang="en-US" sz="1200" dirty="0"/>
          </a:p>
        </p:txBody>
      </p:sp>
      <p:sp>
        <p:nvSpPr>
          <p:cNvPr id="21" name="Text 19"/>
          <p:cNvSpPr/>
          <p:nvPr/>
        </p:nvSpPr>
        <p:spPr>
          <a:xfrm>
            <a:off x="1325880" y="3291840"/>
            <a:ext cx="10058400" cy="502920"/>
          </a:xfrm>
          <a:prstGeom prst="rect">
            <a:avLst/>
          </a:prstGeom>
          <a:noFill/>
          <a:ln/>
        </p:spPr>
        <p:txBody>
          <a:bodyPr wrap="square" lIns="0" tIns="0" rIns="0" bIns="0" rtlCol="0" anchor="ctr"/>
          <a:lstStyle/>
          <a:p>
            <a:pPr indent="0" marL="0">
              <a:buNone/>
            </a:pPr>
            <a:r>
              <a:rPr lang="en-US" sz="1100" dirty="0">
                <a:solidFill>
                  <a:srgbClr val="B7D7DC"/>
                </a:solidFill>
                <a:latin typeface="Calibri" pitchFamily="34" charset="0"/>
                <a:ea typeface="Calibri" pitchFamily="34" charset="-122"/>
                <a:cs typeface="Calibri" pitchFamily="34" charset="-120"/>
              </a:rPr>
              <a:t>Our query patterns are columnar — analytics aggregations select column subsets. Avro is row-oriented, better for streaming. Parquet wins our use case roughly 4-to-1 on scan performance.</a:t>
            </a:r>
            <a:endParaRPr lang="en-US" sz="1100" dirty="0"/>
          </a:p>
        </p:txBody>
      </p:sp>
      <p:sp>
        <p:nvSpPr>
          <p:cNvPr id="22" name="Shape 20"/>
          <p:cNvSpPr/>
          <p:nvPr/>
        </p:nvSpPr>
        <p:spPr>
          <a:xfrm>
            <a:off x="457200" y="3931920"/>
            <a:ext cx="11247120" cy="914400"/>
          </a:xfrm>
          <a:prstGeom prst="rect">
            <a:avLst/>
          </a:prstGeom>
          <a:solidFill>
            <a:srgbClr val="0A4250"/>
          </a:solidFill>
          <a:ln w="12700">
            <a:solidFill>
              <a:srgbClr val="1E5A6B"/>
            </a:solidFill>
            <a:prstDash val="solid"/>
          </a:ln>
        </p:spPr>
      </p:sp>
      <p:sp>
        <p:nvSpPr>
          <p:cNvPr id="23" name="Shape 21"/>
          <p:cNvSpPr/>
          <p:nvPr/>
        </p:nvSpPr>
        <p:spPr>
          <a:xfrm>
            <a:off x="457200" y="3931920"/>
            <a:ext cx="73152" cy="914400"/>
          </a:xfrm>
          <a:prstGeom prst="rect">
            <a:avLst/>
          </a:prstGeom>
          <a:solidFill>
            <a:srgbClr val="3FE0E0"/>
          </a:solidFill>
          <a:ln w="12700">
            <a:solidFill>
              <a:srgbClr val="3FE0E0"/>
            </a:solidFill>
            <a:prstDash val="solid"/>
          </a:ln>
        </p:spPr>
      </p:sp>
      <p:sp>
        <p:nvSpPr>
          <p:cNvPr id="24" name="Text 22"/>
          <p:cNvSpPr/>
          <p:nvPr/>
        </p:nvSpPr>
        <p:spPr>
          <a:xfrm>
            <a:off x="640080" y="4023360"/>
            <a:ext cx="640080" cy="320040"/>
          </a:xfrm>
          <a:prstGeom prst="rect">
            <a:avLst/>
          </a:prstGeom>
          <a:noFill/>
          <a:ln/>
        </p:spPr>
        <p:txBody>
          <a:bodyPr wrap="square" lIns="0" tIns="0" rIns="0" bIns="0" rtlCol="0" anchor="ctr"/>
          <a:lstStyle/>
          <a:p>
            <a:pPr indent="0" marL="0">
              <a:buNone/>
            </a:pPr>
            <a:r>
              <a:rPr lang="en-US" sz="1200" b="1" dirty="0">
                <a:solidFill>
                  <a:srgbClr val="3FE0E0"/>
                </a:solidFill>
                <a:latin typeface="Calibri" pitchFamily="34" charset="0"/>
                <a:ea typeface="Calibri" pitchFamily="34" charset="-122"/>
                <a:cs typeface="Calibri" pitchFamily="34" charset="-120"/>
              </a:rPr>
              <a:t>Q03</a:t>
            </a:r>
            <a:endParaRPr lang="en-US" sz="1200" dirty="0"/>
          </a:p>
        </p:txBody>
      </p:sp>
      <p:sp>
        <p:nvSpPr>
          <p:cNvPr id="25" name="Text 23"/>
          <p:cNvSpPr/>
          <p:nvPr/>
        </p:nvSpPr>
        <p:spPr>
          <a:xfrm>
            <a:off x="1325880" y="4023360"/>
            <a:ext cx="100584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 if the batch DAG fails on the quality gate at 3 AM?</a:t>
            </a:r>
            <a:endParaRPr lang="en-US" sz="1200" dirty="0"/>
          </a:p>
        </p:txBody>
      </p:sp>
      <p:sp>
        <p:nvSpPr>
          <p:cNvPr id="26" name="Text 24"/>
          <p:cNvSpPr/>
          <p:nvPr/>
        </p:nvSpPr>
        <p:spPr>
          <a:xfrm>
            <a:off x="1325880" y="4343400"/>
            <a:ext cx="10058400" cy="502920"/>
          </a:xfrm>
          <a:prstGeom prst="rect">
            <a:avLst/>
          </a:prstGeom>
          <a:noFill/>
          <a:ln/>
        </p:spPr>
        <p:txBody>
          <a:bodyPr wrap="square" lIns="0" tIns="0" rIns="0" bIns="0" rtlCol="0" anchor="ctr"/>
          <a:lstStyle/>
          <a:p>
            <a:pPr indent="0" marL="0">
              <a:buNone/>
            </a:pPr>
            <a:r>
              <a:rPr lang="en-US" sz="1100" dirty="0">
                <a:solidFill>
                  <a:srgbClr val="B7D7DC"/>
                </a:solidFill>
                <a:latin typeface="Calibri" pitchFamily="34" charset="0"/>
                <a:ea typeface="Calibri" pitchFamily="34" charset="-122"/>
                <a:cs typeface="Calibri" pitchFamily="34" charset="-120"/>
              </a:rPr>
              <a:t>Airflow retries twice with exponential backoff. If still failing, email-on-failure alerts on-call. Idempotent design means safe replay from any task once data is corrected.</a:t>
            </a:r>
            <a:endParaRPr lang="en-US" sz="1100" dirty="0"/>
          </a:p>
        </p:txBody>
      </p:sp>
      <p:sp>
        <p:nvSpPr>
          <p:cNvPr id="27" name="Shape 25"/>
          <p:cNvSpPr/>
          <p:nvPr/>
        </p:nvSpPr>
        <p:spPr>
          <a:xfrm>
            <a:off x="457200" y="4983480"/>
            <a:ext cx="11247120" cy="914400"/>
          </a:xfrm>
          <a:prstGeom prst="rect">
            <a:avLst/>
          </a:prstGeom>
          <a:solidFill>
            <a:srgbClr val="0A4250"/>
          </a:solidFill>
          <a:ln w="12700">
            <a:solidFill>
              <a:srgbClr val="1E5A6B"/>
            </a:solidFill>
            <a:prstDash val="solid"/>
          </a:ln>
        </p:spPr>
      </p:sp>
      <p:sp>
        <p:nvSpPr>
          <p:cNvPr id="28" name="Shape 26"/>
          <p:cNvSpPr/>
          <p:nvPr/>
        </p:nvSpPr>
        <p:spPr>
          <a:xfrm>
            <a:off x="457200" y="4983480"/>
            <a:ext cx="73152" cy="914400"/>
          </a:xfrm>
          <a:prstGeom prst="rect">
            <a:avLst/>
          </a:prstGeom>
          <a:solidFill>
            <a:srgbClr val="3FE0E0"/>
          </a:solidFill>
          <a:ln w="12700">
            <a:solidFill>
              <a:srgbClr val="3FE0E0"/>
            </a:solidFill>
            <a:prstDash val="solid"/>
          </a:ln>
        </p:spPr>
      </p:sp>
      <p:sp>
        <p:nvSpPr>
          <p:cNvPr id="29" name="Text 27"/>
          <p:cNvSpPr/>
          <p:nvPr/>
        </p:nvSpPr>
        <p:spPr>
          <a:xfrm>
            <a:off x="640080" y="5074920"/>
            <a:ext cx="640080" cy="320040"/>
          </a:xfrm>
          <a:prstGeom prst="rect">
            <a:avLst/>
          </a:prstGeom>
          <a:noFill/>
          <a:ln/>
        </p:spPr>
        <p:txBody>
          <a:bodyPr wrap="square" lIns="0" tIns="0" rIns="0" bIns="0" rtlCol="0" anchor="ctr"/>
          <a:lstStyle/>
          <a:p>
            <a:pPr indent="0" marL="0">
              <a:buNone/>
            </a:pPr>
            <a:r>
              <a:rPr lang="en-US" sz="1200" b="1" dirty="0">
                <a:solidFill>
                  <a:srgbClr val="3FE0E0"/>
                </a:solidFill>
                <a:latin typeface="Calibri" pitchFamily="34" charset="0"/>
                <a:ea typeface="Calibri" pitchFamily="34" charset="-122"/>
                <a:cs typeface="Calibri" pitchFamily="34" charset="-120"/>
              </a:rPr>
              <a:t>Q04</a:t>
            </a:r>
            <a:endParaRPr lang="en-US" sz="1200" dirty="0"/>
          </a:p>
        </p:txBody>
      </p:sp>
      <p:sp>
        <p:nvSpPr>
          <p:cNvPr id="30" name="Text 28"/>
          <p:cNvSpPr/>
          <p:nvPr/>
        </p:nvSpPr>
        <p:spPr>
          <a:xfrm>
            <a:off x="1325880" y="5074920"/>
            <a:ext cx="100584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How does the pipeline handle late-arriving streaming events?</a:t>
            </a:r>
            <a:endParaRPr lang="en-US" sz="1200" dirty="0"/>
          </a:p>
        </p:txBody>
      </p:sp>
      <p:sp>
        <p:nvSpPr>
          <p:cNvPr id="31" name="Text 29"/>
          <p:cNvSpPr/>
          <p:nvPr/>
        </p:nvSpPr>
        <p:spPr>
          <a:xfrm>
            <a:off x="1325880" y="5394960"/>
            <a:ext cx="10058400" cy="502920"/>
          </a:xfrm>
          <a:prstGeom prst="rect">
            <a:avLst/>
          </a:prstGeom>
          <a:noFill/>
          <a:ln/>
        </p:spPr>
        <p:txBody>
          <a:bodyPr wrap="square" lIns="0" tIns="0" rIns="0" bIns="0" rtlCol="0" anchor="ctr"/>
          <a:lstStyle/>
          <a:p>
            <a:pPr indent="0" marL="0">
              <a:buNone/>
            </a:pPr>
            <a:r>
              <a:rPr lang="en-US" sz="1100" dirty="0">
                <a:solidFill>
                  <a:srgbClr val="B7D7DC"/>
                </a:solidFill>
                <a:latin typeface="Calibri" pitchFamily="34" charset="0"/>
                <a:ea typeface="Calibri" pitchFamily="34" charset="-122"/>
                <a:cs typeface="Calibri" pitchFamily="34" charset="-120"/>
              </a:rPr>
              <a:t>Watermarks. 15-minute watermark for viewer aggregations, 30-minute for session aggregations. Events arriving past watermark are dropped — chosen over alternative of holding state indefinitely.</a:t>
            </a:r>
            <a:endParaRPr lang="en-US" sz="1100" dirty="0"/>
          </a:p>
        </p:txBody>
      </p:sp>
      <p:sp>
        <p:nvSpPr>
          <p:cNvPr id="32" name="Text 30"/>
          <p:cNvSpPr/>
          <p:nvPr/>
        </p:nvSpPr>
        <p:spPr>
          <a:xfrm>
            <a:off x="11338560" y="6446520"/>
            <a:ext cx="640080" cy="274320"/>
          </a:xfrm>
          <a:prstGeom prst="rect">
            <a:avLst/>
          </a:prstGeom>
          <a:noFill/>
          <a:ln/>
        </p:spPr>
        <p:txBody>
          <a:bodyPr wrap="square" lIns="0" tIns="0" rIns="0" bIns="0" rtlCol="0" anchor="ctr"/>
          <a:lstStyle/>
          <a:p>
            <a:pPr algn="r" indent="0" marL="0">
              <a:buNone/>
            </a:pPr>
            <a:r>
              <a:rPr lang="en-US" sz="900" dirty="0">
                <a:solidFill>
                  <a:srgbClr val="7FA8AE"/>
                </a:solidFill>
                <a:latin typeface="Calibri" pitchFamily="34" charset="0"/>
                <a:ea typeface="Calibri" pitchFamily="34" charset="-122"/>
                <a:cs typeface="Calibri" pitchFamily="34" charset="-120"/>
              </a:rPr>
              <a:t>22 / 22</a:t>
            </a:r>
            <a:endParaRPr lang="en-US" sz="900" dirty="0"/>
          </a:p>
        </p:txBody>
      </p:sp>
      <p:sp>
        <p:nvSpPr>
          <p:cNvPr id="33" name="Text 31"/>
          <p:cNvSpPr/>
          <p:nvPr/>
        </p:nvSpPr>
        <p:spPr>
          <a:xfrm>
            <a:off x="365760" y="6446520"/>
            <a:ext cx="7315200" cy="274320"/>
          </a:xfrm>
          <a:prstGeom prst="rect">
            <a:avLst/>
          </a:prstGeom>
          <a:noFill/>
          <a:ln/>
        </p:spPr>
        <p:txBody>
          <a:bodyPr wrap="square" lIns="0" tIns="0" rIns="0" bIns="0" rtlCol="0" anchor="ctr"/>
          <a:lstStyle/>
          <a:p>
            <a:pPr algn="l" indent="0" marL="0">
              <a:buNone/>
            </a:pPr>
            <a:r>
              <a:rPr lang="en-US" sz="900" spc="200" kern="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MediaWave Streaming — Big Data Pipeline</dc:title>
  <dc:subject>PptxGenJS Presentation</dc:subject>
  <dc:creator>Team Data Avengers</dc:creator>
  <cp:lastModifiedBy>Team Data Avengers</cp:lastModifiedBy>
  <cp:revision>1</cp:revision>
  <dcterms:created xsi:type="dcterms:W3CDTF">2026-05-02T21:18:39Z</dcterms:created>
  <dcterms:modified xsi:type="dcterms:W3CDTF">2026-05-02T21:18:39Z</dcterms:modified>
</cp:coreProperties>
</file>