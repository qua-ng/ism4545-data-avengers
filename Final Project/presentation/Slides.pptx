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notesSlides/notesSlide2.xml" ContentType="application/vnd.openxmlformats-officedocument.presentationml.notesSlide+xml"/>
  <Override PartName="/ppt/comments/modernComment_101_0.xml" ContentType="application/vnd.ms-powerpoint.comments+xml"/>
  <Override PartName="/ppt/notesSlides/notesSlide3.xml" ContentType="application/vnd.openxmlformats-officedocument.presentationml.notesSlide+xml"/>
  <Override PartName="/ppt/comments/modernComment_102_0.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05_0.xml" ContentType="application/vnd.ms-powerpoint.comments+xml"/>
  <Override PartName="/ppt/notesSlides/notesSlide7.xml" ContentType="application/vnd.openxmlformats-officedocument.presentationml.notesSlide+xml"/>
  <Override PartName="/ppt/comments/modernComment_11F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modernComment_110_0.xml" ContentType="application/vnd.ms-powerpoint.comments+xml"/>
  <Override PartName="/ppt/notesSlides/notesSlide27.xml" ContentType="application/vnd.openxmlformats-officedocument.presentationml.notesSlide+xml"/>
  <Override PartName="/ppt/comments/modernComment_124_0.xml" ContentType="application/vnd.ms-powerpoint.comment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87" r:id="rId8"/>
    <p:sldId id="263" r:id="rId9"/>
    <p:sldId id="264" r:id="rId10"/>
    <p:sldId id="280" r:id="rId11"/>
    <p:sldId id="282" r:id="rId12"/>
    <p:sldId id="284" r:id="rId13"/>
    <p:sldId id="285" r:id="rId14"/>
    <p:sldId id="286" r:id="rId15"/>
    <p:sldId id="266" r:id="rId16"/>
    <p:sldId id="295" r:id="rId17"/>
    <p:sldId id="267" r:id="rId18"/>
    <p:sldId id="268" r:id="rId19"/>
    <p:sldId id="288" r:id="rId20"/>
    <p:sldId id="269" r:id="rId21"/>
    <p:sldId id="289" r:id="rId22"/>
    <p:sldId id="270" r:id="rId23"/>
    <p:sldId id="290" r:id="rId24"/>
    <p:sldId id="291" r:id="rId25"/>
    <p:sldId id="271" r:id="rId26"/>
    <p:sldId id="272" r:id="rId27"/>
    <p:sldId id="292" r:id="rId28"/>
    <p:sldId id="273" r:id="rId29"/>
    <p:sldId id="274" r:id="rId30"/>
    <p:sldId id="275" r:id="rId31"/>
    <p:sldId id="294" r:id="rId32"/>
    <p:sldId id="276"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8FFA44F-F2CB-31E9-D638-FA3346F2E98C}" name="Helen Nguyen" initials="QN" userId="S::nganguyen@usf.edu::1112739b-77dc-448a-8744-257d55cee90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B3549D-67C2-B940-BF53-0F19C784466C}" v="21" dt="2026-05-04T14:44:40.4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8331"/>
    <p:restoredTop sz="94610"/>
  </p:normalViewPr>
  <p:slideViewPr>
    <p:cSldViewPr snapToGrid="0" snapToObjects="1">
      <p:cViewPr varScale="1">
        <p:scale>
          <a:sx n="73" d="100"/>
          <a:sy n="73" d="100"/>
        </p:scale>
        <p:origin x="200" y="1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 Nguyen" userId="1112739b-77dc-448a-8744-257d55cee90b" providerId="ADAL" clId="{194E4A13-58D5-5498-AEFF-E6FC041D81F5}"/>
    <pc:docChg chg="undo redo custSel addSld delSld modSld">
      <pc:chgData name="Helen Nguyen" userId="1112739b-77dc-448a-8744-257d55cee90b" providerId="ADAL" clId="{194E4A13-58D5-5498-AEFF-E6FC041D81F5}" dt="2026-05-04T14:44:40.430" v="144"/>
      <pc:docMkLst>
        <pc:docMk/>
      </pc:docMkLst>
      <pc:sldChg chg="modSp mod">
        <pc:chgData name="Helen Nguyen" userId="1112739b-77dc-448a-8744-257d55cee90b" providerId="ADAL" clId="{194E4A13-58D5-5498-AEFF-E6FC041D81F5}" dt="2026-05-02T21:55:09.197" v="100" actId="20577"/>
        <pc:sldMkLst>
          <pc:docMk/>
          <pc:sldMk cId="0" sldId="257"/>
        </pc:sldMkLst>
        <pc:spChg chg="mod">
          <ac:chgData name="Helen Nguyen" userId="1112739b-77dc-448a-8744-257d55cee90b" providerId="ADAL" clId="{194E4A13-58D5-5498-AEFF-E6FC041D81F5}" dt="2026-05-02T21:54:22.711" v="20" actId="20577"/>
          <ac:spMkLst>
            <pc:docMk/>
            <pc:sldMk cId="0" sldId="257"/>
            <ac:spMk id="17" creationId="{00000000-0000-0000-0000-000000000000}"/>
          </ac:spMkLst>
        </pc:spChg>
        <pc:spChg chg="mod">
          <ac:chgData name="Helen Nguyen" userId="1112739b-77dc-448a-8744-257d55cee90b" providerId="ADAL" clId="{194E4A13-58D5-5498-AEFF-E6FC041D81F5}" dt="2026-05-02T21:54:36.930" v="36" actId="20577"/>
          <ac:spMkLst>
            <pc:docMk/>
            <pc:sldMk cId="0" sldId="257"/>
            <ac:spMk id="22" creationId="{00000000-0000-0000-0000-000000000000}"/>
          </ac:spMkLst>
        </pc:spChg>
        <pc:spChg chg="mod">
          <ac:chgData name="Helen Nguyen" userId="1112739b-77dc-448a-8744-257d55cee90b" providerId="ADAL" clId="{194E4A13-58D5-5498-AEFF-E6FC041D81F5}" dt="2026-05-02T21:54:57.117" v="68" actId="20577"/>
          <ac:spMkLst>
            <pc:docMk/>
            <pc:sldMk cId="0" sldId="257"/>
            <ac:spMk id="27" creationId="{00000000-0000-0000-0000-000000000000}"/>
          </ac:spMkLst>
        </pc:spChg>
        <pc:spChg chg="mod">
          <ac:chgData name="Helen Nguyen" userId="1112739b-77dc-448a-8744-257d55cee90b" providerId="ADAL" clId="{194E4A13-58D5-5498-AEFF-E6FC041D81F5}" dt="2026-05-02T21:55:04.125" v="86" actId="20577"/>
          <ac:spMkLst>
            <pc:docMk/>
            <pc:sldMk cId="0" sldId="257"/>
            <ac:spMk id="32" creationId="{00000000-0000-0000-0000-000000000000}"/>
          </ac:spMkLst>
        </pc:spChg>
        <pc:spChg chg="mod">
          <ac:chgData name="Helen Nguyen" userId="1112739b-77dc-448a-8744-257d55cee90b" providerId="ADAL" clId="{194E4A13-58D5-5498-AEFF-E6FC041D81F5}" dt="2026-05-02T21:55:09.197" v="100" actId="20577"/>
          <ac:spMkLst>
            <pc:docMk/>
            <pc:sldMk cId="0" sldId="257"/>
            <ac:spMk id="37" creationId="{00000000-0000-0000-0000-000000000000}"/>
          </ac:spMkLst>
        </pc:spChg>
      </pc:sldChg>
      <pc:sldChg chg="addSp delSp modSp mod">
        <pc:chgData name="Helen Nguyen" userId="1112739b-77dc-448a-8744-257d55cee90b" providerId="ADAL" clId="{194E4A13-58D5-5498-AEFF-E6FC041D81F5}" dt="2026-05-02T22:17:15.451" v="118" actId="478"/>
        <pc:sldMkLst>
          <pc:docMk/>
          <pc:sldMk cId="0" sldId="266"/>
        </pc:sldMkLst>
      </pc:sldChg>
      <pc:sldChg chg="mod modShow">
        <pc:chgData name="Helen Nguyen" userId="1112739b-77dc-448a-8744-257d55cee90b" providerId="ADAL" clId="{194E4A13-58D5-5498-AEFF-E6FC041D81F5}" dt="2026-05-03T23:00:22.047" v="135" actId="729"/>
        <pc:sldMkLst>
          <pc:docMk/>
          <pc:sldMk cId="0" sldId="268"/>
        </pc:sldMkLst>
      </pc:sldChg>
      <pc:sldChg chg="mod modShow">
        <pc:chgData name="Helen Nguyen" userId="1112739b-77dc-448a-8744-257d55cee90b" providerId="ADAL" clId="{194E4A13-58D5-5498-AEFF-E6FC041D81F5}" dt="2026-05-03T23:00:16.244" v="134" actId="729"/>
        <pc:sldMkLst>
          <pc:docMk/>
          <pc:sldMk cId="0" sldId="269"/>
        </pc:sldMkLst>
      </pc:sldChg>
      <pc:sldChg chg="mod modShow">
        <pc:chgData name="Helen Nguyen" userId="1112739b-77dc-448a-8744-257d55cee90b" providerId="ADAL" clId="{194E4A13-58D5-5498-AEFF-E6FC041D81F5}" dt="2026-05-02T22:43:12.164" v="131" actId="729"/>
        <pc:sldMkLst>
          <pc:docMk/>
          <pc:sldMk cId="0" sldId="270"/>
        </pc:sldMkLst>
      </pc:sldChg>
      <pc:sldChg chg="mod modShow">
        <pc:chgData name="Helen Nguyen" userId="1112739b-77dc-448a-8744-257d55cee90b" providerId="ADAL" clId="{194E4A13-58D5-5498-AEFF-E6FC041D81F5}" dt="2026-05-02T22:43:07.323" v="130" actId="729"/>
        <pc:sldMkLst>
          <pc:docMk/>
          <pc:sldMk cId="0" sldId="271"/>
        </pc:sldMkLst>
      </pc:sldChg>
      <pc:sldChg chg="mod modShow">
        <pc:chgData name="Helen Nguyen" userId="1112739b-77dc-448a-8744-257d55cee90b" providerId="ADAL" clId="{194E4A13-58D5-5498-AEFF-E6FC041D81F5}" dt="2026-05-02T22:43:50.582" v="133" actId="729"/>
        <pc:sldMkLst>
          <pc:docMk/>
          <pc:sldMk cId="0" sldId="273"/>
        </pc:sldMkLst>
      </pc:sldChg>
      <pc:sldChg chg="addSp delSp add mod">
        <pc:chgData name="Helen Nguyen" userId="1112739b-77dc-448a-8744-257d55cee90b" providerId="ADAL" clId="{194E4A13-58D5-5498-AEFF-E6FC041D81F5}" dt="2026-05-02T22:14:41.651" v="109" actId="478"/>
        <pc:sldMkLst>
          <pc:docMk/>
          <pc:sldMk cId="0" sldId="280"/>
        </pc:sldMkLst>
        <pc:spChg chg="add del">
          <ac:chgData name="Helen Nguyen" userId="1112739b-77dc-448a-8744-257d55cee90b" providerId="ADAL" clId="{194E4A13-58D5-5498-AEFF-E6FC041D81F5}" dt="2026-05-02T22:14:41.651" v="109" actId="478"/>
          <ac:spMkLst>
            <pc:docMk/>
            <pc:sldMk cId="0" sldId="280"/>
            <ac:spMk id="55" creationId="{00000000-0000-0000-0000-000000000000}"/>
          </ac:spMkLst>
        </pc:spChg>
      </pc:sldChg>
      <pc:sldChg chg="add mod modShow">
        <pc:chgData name="Helen Nguyen" userId="1112739b-77dc-448a-8744-257d55cee90b" providerId="ADAL" clId="{194E4A13-58D5-5498-AEFF-E6FC041D81F5}" dt="2026-05-04T14:42:27.158" v="141" actId="729"/>
        <pc:sldMkLst>
          <pc:docMk/>
          <pc:sldMk cId="0" sldId="282"/>
        </pc:sldMkLst>
      </pc:sldChg>
      <pc:sldChg chg="add mod modShow">
        <pc:chgData name="Helen Nguyen" userId="1112739b-77dc-448a-8744-257d55cee90b" providerId="ADAL" clId="{194E4A13-58D5-5498-AEFF-E6FC041D81F5}" dt="2026-05-04T14:41:21.562" v="139" actId="729"/>
        <pc:sldMkLst>
          <pc:docMk/>
          <pc:sldMk cId="0" sldId="284"/>
        </pc:sldMkLst>
      </pc:sldChg>
      <pc:sldChg chg="add">
        <pc:chgData name="Helen Nguyen" userId="1112739b-77dc-448a-8744-257d55cee90b" providerId="ADAL" clId="{194E4A13-58D5-5498-AEFF-E6FC041D81F5}" dt="2026-05-02T22:17:05.131" v="116"/>
        <pc:sldMkLst>
          <pc:docMk/>
          <pc:sldMk cId="0" sldId="285"/>
        </pc:sldMkLst>
      </pc:sldChg>
      <pc:sldChg chg="add del mod setBg modShow">
        <pc:chgData name="Helen Nguyen" userId="1112739b-77dc-448a-8744-257d55cee90b" providerId="ADAL" clId="{194E4A13-58D5-5498-AEFF-E6FC041D81F5}" dt="2026-05-04T14:41:36.689" v="140" actId="729"/>
        <pc:sldMkLst>
          <pc:docMk/>
          <pc:sldMk cId="0" sldId="286"/>
        </pc:sldMkLst>
      </pc:sldChg>
      <pc:sldChg chg="add">
        <pc:chgData name="Helen Nguyen" userId="1112739b-77dc-448a-8744-257d55cee90b" providerId="ADAL" clId="{194E4A13-58D5-5498-AEFF-E6FC041D81F5}" dt="2026-05-02T22:40:12.332" v="124"/>
        <pc:sldMkLst>
          <pc:docMk/>
          <pc:sldMk cId="0" sldId="287"/>
        </pc:sldMkLst>
      </pc:sldChg>
      <pc:sldChg chg="add">
        <pc:chgData name="Helen Nguyen" userId="1112739b-77dc-448a-8744-257d55cee90b" providerId="ADAL" clId="{194E4A13-58D5-5498-AEFF-E6FC041D81F5}" dt="2026-05-02T22:41:47.178" v="126"/>
        <pc:sldMkLst>
          <pc:docMk/>
          <pc:sldMk cId="0" sldId="288"/>
        </pc:sldMkLst>
      </pc:sldChg>
      <pc:sldChg chg="add">
        <pc:chgData name="Helen Nguyen" userId="1112739b-77dc-448a-8744-257d55cee90b" providerId="ADAL" clId="{194E4A13-58D5-5498-AEFF-E6FC041D81F5}" dt="2026-05-02T22:42:11.161" v="127"/>
        <pc:sldMkLst>
          <pc:docMk/>
          <pc:sldMk cId="0" sldId="289"/>
        </pc:sldMkLst>
      </pc:sldChg>
      <pc:sldChg chg="add">
        <pc:chgData name="Helen Nguyen" userId="1112739b-77dc-448a-8744-257d55cee90b" providerId="ADAL" clId="{194E4A13-58D5-5498-AEFF-E6FC041D81F5}" dt="2026-05-02T22:42:46.402" v="128"/>
        <pc:sldMkLst>
          <pc:docMk/>
          <pc:sldMk cId="0" sldId="290"/>
        </pc:sldMkLst>
      </pc:sldChg>
      <pc:sldChg chg="add">
        <pc:chgData name="Helen Nguyen" userId="1112739b-77dc-448a-8744-257d55cee90b" providerId="ADAL" clId="{194E4A13-58D5-5498-AEFF-E6FC041D81F5}" dt="2026-05-02T22:43:00.883" v="129"/>
        <pc:sldMkLst>
          <pc:docMk/>
          <pc:sldMk cId="0" sldId="291"/>
        </pc:sldMkLst>
      </pc:sldChg>
      <pc:sldChg chg="add">
        <pc:chgData name="Helen Nguyen" userId="1112739b-77dc-448a-8744-257d55cee90b" providerId="ADAL" clId="{194E4A13-58D5-5498-AEFF-E6FC041D81F5}" dt="2026-05-02T22:43:44.259" v="132"/>
        <pc:sldMkLst>
          <pc:docMk/>
          <pc:sldMk cId="0" sldId="292"/>
        </pc:sldMkLst>
      </pc:sldChg>
      <pc:sldChg chg="new del">
        <pc:chgData name="Helen Nguyen" userId="1112739b-77dc-448a-8744-257d55cee90b" providerId="ADAL" clId="{194E4A13-58D5-5498-AEFF-E6FC041D81F5}" dt="2026-05-04T14:40:58.893" v="138" actId="2696"/>
        <pc:sldMkLst>
          <pc:docMk/>
          <pc:sldMk cId="2887596007" sldId="293"/>
        </pc:sldMkLst>
      </pc:sldChg>
      <pc:sldChg chg="add del setBg">
        <pc:chgData name="Helen Nguyen" userId="1112739b-77dc-448a-8744-257d55cee90b" providerId="ADAL" clId="{194E4A13-58D5-5498-AEFF-E6FC041D81F5}" dt="2026-05-04T14:44:40.430" v="144"/>
        <pc:sldMkLst>
          <pc:docMk/>
          <pc:sldMk cId="0" sldId="294"/>
        </pc:sldMkLst>
      </pc:sldChg>
      <pc:sldChg chg="add">
        <pc:chgData name="Helen Nguyen" userId="1112739b-77dc-448a-8744-257d55cee90b" providerId="ADAL" clId="{194E4A13-58D5-5498-AEFF-E6FC041D81F5}" dt="2026-05-04T14:40:57.289" v="137"/>
        <pc:sldMkLst>
          <pc:docMk/>
          <pc:sldMk cId="1536956798" sldId="295"/>
        </pc:sldMkLst>
      </pc:sldChg>
    </pc:docChg>
  </pc:docChgLst>
</pc:chgInfo>
</file>

<file path=ppt/comments/modernComment_11F_0.xml><?xml version="1.0" encoding="utf-8"?>
<p188:cmLst xmlns:a="http://schemas.openxmlformats.org/drawingml/2006/main" xmlns:r="http://schemas.openxmlformats.org/officeDocument/2006/relationships" xmlns:p188="http://schemas.microsoft.com/office/powerpoint/2018/8/main">
  <p188:cm id="{2A722BC9-B5D5-6842-815F-845742818217}" authorId="{38FFA44F-F2CB-31E9-D638-FA3346F2E98C}" created="2026-05-03T23:01:18.295">
    <pc:sldMkLst xmlns:pc="http://schemas.microsoft.com/office/powerpoint/2013/main/command">
      <pc:docMk/>
      <pc:sldMk cId="0" sldId="287"/>
    </pc:sldMkLst>
    <p188:txBody>
      <a:bodyPr/>
      <a:lstStyle/>
      <a:p>
        <a:r>
          <a:rPr lang="en-US"/>
          <a:t>Helen</a:t>
        </a:r>
      </a:p>
    </p188:txBody>
  </p188:cm>
</p188:cmLst>
</file>

<file path=ppt/comments/modernComment_100_0.xml><?xml version="1.0" encoding="utf-8"?>
<p188:cmLst xmlns:a="http://schemas.openxmlformats.org/drawingml/2006/main" xmlns:r="http://schemas.openxmlformats.org/officeDocument/2006/relationships" xmlns:p188="http://schemas.microsoft.com/office/powerpoint/2018/8/main">
  <p188:cm id="{349A8214-32CA-2E44-9568-1BCC67211496}" authorId="{38FFA44F-F2CB-31E9-D638-FA3346F2E98C}" created="2026-05-03T22:59:15.802">
    <pc:sldMkLst xmlns:pc="http://schemas.microsoft.com/office/powerpoint/2013/main/command">
      <pc:docMk/>
      <pc:sldMk cId="0" sldId="256"/>
    </pc:sldMkLst>
    <p188:txBody>
      <a:bodyPr/>
      <a:lstStyle/>
      <a:p>
        <a:r>
          <a:rPr lang="en-US"/>
          <a:t>Helen</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29D6E4B1-EBE2-7C49-B774-0C8AF101ACD2}" authorId="{38FFA44F-F2CB-31E9-D638-FA3346F2E98C}" created="2026-05-03T22:59:22.604">
    <pc:sldMkLst xmlns:pc="http://schemas.microsoft.com/office/powerpoint/2013/main/command">
      <pc:docMk/>
      <pc:sldMk cId="0" sldId="257"/>
    </pc:sldMkLst>
    <p188:txBody>
      <a:bodyPr/>
      <a:lstStyle/>
      <a:p>
        <a:r>
          <a:rPr lang="en-US"/>
          <a:t>Everyone</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375B4131-B03B-DD41-AB26-BF67FAED7949}" authorId="{38FFA44F-F2CB-31E9-D638-FA3346F2E98C}" created="2026-05-03T22:59:33.436">
    <pc:sldMkLst xmlns:pc="http://schemas.microsoft.com/office/powerpoint/2013/main/command">
      <pc:docMk/>
      <pc:sldMk cId="0" sldId="258"/>
    </pc:sldMkLst>
    <p188:txBody>
      <a:bodyPr/>
      <a:lstStyle/>
      <a:p>
        <a:r>
          <a:rPr lang="en-US"/>
          <a:t>Helen</a:t>
        </a:r>
      </a:p>
    </p188:txBody>
  </p188:cm>
</p188:cmLst>
</file>

<file path=ppt/comments/modernComment_105_0.xml><?xml version="1.0" encoding="utf-8"?>
<p188:cmLst xmlns:a="http://schemas.openxmlformats.org/drawingml/2006/main" xmlns:r="http://schemas.openxmlformats.org/officeDocument/2006/relationships" xmlns:p188="http://schemas.microsoft.com/office/powerpoint/2018/8/main">
  <p188:cm id="{0A57993D-5ECA-6140-9FF1-DEDD73FD3750}" authorId="{38FFA44F-F2CB-31E9-D638-FA3346F2E98C}" created="2026-05-03T23:01:11.475">
    <pc:sldMkLst xmlns:pc="http://schemas.microsoft.com/office/powerpoint/2013/main/command">
      <pc:docMk/>
      <pc:sldMk cId="0" sldId="261"/>
    </pc:sldMkLst>
    <p188:txBody>
      <a:bodyPr/>
      <a:lstStyle/>
      <a:p>
        <a:r>
          <a:rPr lang="en-US"/>
          <a:t>Helen</a:t>
        </a:r>
      </a:p>
    </p188:txBody>
  </p188:cm>
</p188:cmLst>
</file>

<file path=ppt/comments/modernComment_110_0.xml><?xml version="1.0" encoding="utf-8"?>
<p188:cmLst xmlns:a="http://schemas.openxmlformats.org/drawingml/2006/main" xmlns:r="http://schemas.openxmlformats.org/officeDocument/2006/relationships" xmlns:p188="http://schemas.microsoft.com/office/powerpoint/2018/8/main">
  <p188:cm id="{A8014FBD-99B2-B140-832B-93FE243BED3B}" authorId="{38FFA44F-F2CB-31E9-D638-FA3346F2E98C}" created="2026-05-03T22:59:59.628">
    <pc:sldMkLst xmlns:pc="http://schemas.microsoft.com/office/powerpoint/2013/main/command">
      <pc:docMk/>
      <pc:sldMk cId="0" sldId="272"/>
    </pc:sldMkLst>
    <p188:txBody>
      <a:bodyPr/>
      <a:lstStyle/>
      <a:p>
        <a:r>
          <a:rPr lang="en-US"/>
          <a:t>Helen</a:t>
        </a:r>
      </a:p>
    </p188:txBody>
  </p188:cm>
</p188:cmLst>
</file>

<file path=ppt/comments/modernComment_124_0.xml><?xml version="1.0" encoding="utf-8"?>
<p188:cmLst xmlns:a="http://schemas.openxmlformats.org/drawingml/2006/main" xmlns:r="http://schemas.openxmlformats.org/officeDocument/2006/relationships" xmlns:p188="http://schemas.microsoft.com/office/powerpoint/2018/8/main">
  <p188:cm id="{31954996-337D-7F43-BF4E-EEBC84CB8CE6}" authorId="{38FFA44F-F2CB-31E9-D638-FA3346F2E98C}" created="2026-05-03T23:00:04.266">
    <pc:sldMkLst xmlns:pc="http://schemas.microsoft.com/office/powerpoint/2013/main/command">
      <pc:docMk/>
      <pc:sldMk cId="0" sldId="292"/>
    </pc:sldMkLst>
    <p188:txBody>
      <a:bodyPr/>
      <a:lstStyle/>
      <a:p>
        <a:r>
          <a:rPr lang="en-US"/>
          <a:t>Helen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39706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We are Team Data Avengers, presenting our recommended big data pipeline for MediaWave Streaming. This engagement focused on a single objective: turn five disconnected data sources into a unified platform that surfaces actionable engagement and content insights. Over the next twelve minutes, we will walk through the problem we addressed, what the data revealed, our architecture, our recommendations, and the path to scale. Transition: Let us begin with our team.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team brings five complementary perspectives to this engagement. Helen led project management and client communication. Quang owned the streaming architecture. Juan led infrastructure and data lake design. Aleksandr handled orchestration and quality assurance. Yusuke led the analytics work that produced our findings. Transition: We will now define the problem this engagement was scoped to solve.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briefing is structured as a consulting deliverable rather than a technical walkthrough. We start with the problem and the headline findings, then move through architecture, deeper insights, recommended actions, and scaling considerations. We will reserve technical detail for sections three and six, where the CIO's primary diligence questions concentrate. Transition: We begin with the engagement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We frame the engagement problem in business terms. MediaWave's data does not lack quantity. It lacks integration. The questions that matter most to engagement and retention cross dataset boundaries that current tooling does not. Transition: Five files, three unanswered questions.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MediaWave operates with five data sources covering profiles, viewing, catalog, interactions, and quality. On their own, each is comprehensive. Together, in their current state, they are unusable for the questions that matter to engagement and retention. The three questions on the right each require joining data that today lives in different formats, different storage locations, and different ownership. Each unanswered question maps to a recurring revenue exposure: avoidable content waste, avoidable churn, and a delayed retention response. Transition: We will now share what we found once those joins were possible.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Before we describe the architecture, we present the three findings that emerged once integration was achieved. These are stated as headlines. The full insight set follows in section four. Transition: Three numbers, one slide.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findings frame our recommendation. Two confirm the hypotheses we set out to test. One contradicts it — and that is itself a finding. First, content ROI: 73 percent of catalog cost is concentrated in titles whose ROI falls below the median. The bottom decile alone represents $3.13 billion in annual license cost, with an 860-times variance separating the worst and best titles. Second, engagement: contrary to our hypothesis, the completion-rate gap across plan tiers is less than one percentage point. Basic, Standard, and Premium users behave nearly identically. This is a counter-finding — it means recommendation tuning should focus on title-level features, not subscriber tier. Third, retention: total monthly hours watched is the dominant churn precursor. Retained users watch 26.4 hours per month; churned users 15.2 — a 42 percent gap. Buffering and completion-percentage signals turned out to be flat. Volume, not quality, is the predictor. Transition: Each of these emerged from a four-layer pipeline architecture, which we describe next.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Architecture overview. Three slides only: pipeline shape, technology choices with rationale, and production-readiness controls. We will revisit deeper technical detail in the appendix if questions arise. Transition: The pipeline runs from a single command.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implements four layers in sequence: storage, batch transformation, real-time streaming, and orchestration. All services are containerized. The full stack deploys from a single command and is fully reproducible across team members and grading environments. Each layer is independently scalable, which becomes relevant in section six. Transition: The next slide explains why these four technologies, specifically.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actual path data takes through the pipeline. Five raw sources land in HDFS in their original formats. PySpark cleans, standardizes, and joins them into three analytics tables stored as Parquet. Each analytics table maps directly to one of the business questions we cover next. In parallel, viewing events flow through Kafka and Spark Structured Streaming to produce real-time alerts. Both batch and streaming paths feed into business use; the analytics tables drive scheduled review and modeling, while streaming drives operational alerts. Transition: We chose this stack deliberately — the next slide explains why.</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evaluated each technology against credible alternatives before commitment. For storage: HDFS over raw S3 because of native replication and a clear migration path; over local filesystem because local does not scale. For compute: PySpark over pandas because the same code that handles fifty million rows today scales to billions without rewrite. Polars is fast but bounded to a single node. For streaming: Kafka over Kinesis to avoid AWS lock-in; over RabbitMQ because Kafka's throughput ceiling is two orders of magnitude higher. For orchestration: Airflow over cron because retry, SLA, and DAG abstractions are first-class. Prefect was viable but the operational community is smaller. Each choice supports a clear path to managed cloud services when MediaWave commits to that transition.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defensible engineering decision in our pipeline lives in the join logic. Viewing-history is the central fact table. Content-catalog joins on content_id; user-profiles joins on user_id. Both are clean. The design challenge: streaming-quality has no session-level join key. If we joined at session level we would either drop most viewing rows or fabricate synthetic keys. Both compromise data integrity. Our solution: aggregate quality metrics to the user level — average buffering events, average bitrate, average latency — then join at user_id. This preserves every viewing event, attaches meaningful quality context, and produces one analytics-ready table that backs all four insights we present in section four. This is the kind of decision a CIO's data engineering review would expect to see documented. We can defend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MediaWave's data needs are not uniform. Some questions are deeply historical — content ROI, churn modeling, engagement segmentation. These require batch correctness and the ability to recompute over arbitrary time windows. Other questions are operational — concurrent viewers per title, sessions hitting buffering thresholds. These require sub-minute latency, not historical depth. Lambda architecture serves both. Batch handles deep analytics with full data correctness. Streaming handles low-latency alerts. Both feed a unified analytics zone, which means data scientists query one place. We considered Kappa — pure streaming, no batch — and rejected it. Historical re-processing in Kappa requires replaying the full event log, which is expensive and slow for the deep analytics MediaWave needs. The trade-off: Lambda runs two code paths. We accept that complexity in exchange for the right tool for each question type.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in this pipeline is enforced at three distinct layers, each catching a different class of failure. Tier one is schema-level cleaning inside the Spark transformation. We filter null join keys, cap impossible duration values, clamp out-of-range completion percentages, standardize categorical strings, and replace nulls with sentinels in optional fields. This catches malformed rows from upstream sources at the entry to the curated zone. Tier two is a quality gate task in the Airflow DAG, running between the clean and join stages. It verifies row count thresholds and null counts on join columns. If thresholds are breached, the DAG fails with email-on-failure alerting. This catches drift in upstream data shape — situations where the source itself has changed in unexpected ways. Tier three is watermarking in the streaming layer. Fifteen-minute watermark for viewer aggregations, thirty-minute for session aggregations. Events arriving past the watermark are dropped intentionally, which bounds state and prevents memory growth. This catches late and out-of-order streaming events. Defense in depth. No single layer is the whole quality strategy. Each tier addresses what the others cannot.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controls make this pipeline production-ready rather than a student exercise. First, data quality gates run between every stage and fail the DAG before bad data reaches analytics. Second, idempotent re-runs: the pipeline can be safely replayed from any failure point with no duplicate rows. We verified this empirically. Third, monitoring: Airflow handles retries and alerting, and a separate health-check DAG monitors streaming components every fifteen minutes. Together, these controls give operations a thirty-minute maximum time to detect and respond to issues. Transition: With architecture established, we now share the four insights the data revealed.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133DE-05DF-2509-63AD-D8E9D2C5F5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D4BFC-8F79-250F-A4E3-586A2F4D5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24B681-FFFB-BA7E-074E-8C05C4915AB7}"/>
              </a:ext>
            </a:extLst>
          </p:cNvPr>
          <p:cNvSpPr>
            <a:spLocks noGrp="1"/>
          </p:cNvSpPr>
          <p:nvPr>
            <p:ph type="body" idx="1"/>
          </p:nvPr>
        </p:nvSpPr>
        <p:spPr/>
        <p:txBody>
          <a:bodyPr/>
          <a:lstStyle/>
          <a:p>
            <a:r>
              <a:rPr lang="en-US" dirty="0"/>
              <a:t>Before we present what the data reveals, we want to confirm the pipeline actually runs. These four screenshots are taken from a live deployment of the stack on a single machine. Top-left, HDFS shows raw data successfully landed across all five datasets in the landing zone. Top-right, the Spark master shows our worker is registered and the batch job completed without errors. Bottom-left, Airflow shows the DAG executed end-to-end with every task green. Bottom-right, Kafka shows events flowing through our user-activity topic. The pipeline is not a diagram — it is a working system.</a:t>
            </a:r>
          </a:p>
        </p:txBody>
      </p:sp>
    </p:spTree>
    <p:extLst>
      <p:ext uri="{BB962C8B-B14F-4D97-AF65-F5344CB8AC3E}">
        <p14:creationId xmlns:p14="http://schemas.microsoft.com/office/powerpoint/2010/main" val="24818237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We move from infrastructure to insight. Four findings, each grounded in a specific analytics table our pipeline produces. Transition: We start with content ROI.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insight introduces a custom metric: cost per viewing hour, calculated as monthly license cost divided by total viewing hours generated. This reframes content from a binary in-catalog or out-of-catalog decision into a continuous ROI signal. The bottom decile of titles by this metric drives a disproportionate share of license cost relative to engagement. Recommendation: drop those titles at the next license cycle, with estimated annual savings shown. Transition: Engagement patterns within the catalog are also uneven.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insight introduces a custom metric: cost per viewing hour, calculated as monthly license cost divided by total viewing hours generated. The variance is dramatic. The worst-ROI title in the catalog, Frozen Roads, costs $19,634 per hour watched. The best, Midnight Bridges 2, costs $23 per hour. That is an 860-times spread between best and worst. Aggregated, 73 percent of catalog cost concentrates in titles whose ROI falls below the median. The bottom decile alone — the worst 10 percent of titles by ROI — drives $3.13 billion in annual license cost, representing 17 percent of the total catalog budget. Recommendation: drop the bottom decile at the next license cycle. The full $3.13 billion represents the upper bound on annual savings; conservative renegotiation rather than full discontinuation would still yield $1.5 to $2 billion. Transition: Engagement patterns within the catalog tell a different story than we expected.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insight is a clear engagement gap across subscription tiers. Premium subscribers watch more hours per month and complete a higher share of what they start. Two hypotheses explain this: tier-aware recommendation algorithms surfacing different content, or content-commitment effects where higher-paying subscribers select content they are more likely to finish. Both hypotheses point to the same intervention. Recommendation: tune the recommendation algorithm to surface higher-completion content for Basic users, with the goal of driving upgrade conversions through demonstrated engagement quality. Transition: Engagement patterns within a single tier also reveal the precursors to churn.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second insight contradicts a common product hypothesis. We expected Premium subscribers to complete more of what they start, perhaps reflecting tier-aware recommendation algorithms or content commitment effects. The data shows the opposite. Average completion is 52.8 percent for Basic, 52.6 percent for Standard, and 52.9 percent for Premium. The full spread across all three tiers is less than one percentage point. Watch hours per month are also identical at 0.73. This is a counter-finding, and a useful one. Tier does not predict engagement. The signal MediaWave should personalize on lives at the title level — title completion ranges from 28.9 percent for the worst-performing title to 76.7 percent for the best, a 48-percentage-point variance that recommendation algorithms can actually exploit. Recommendation: redirect personalization investment from tier-aware logic, which has nothing to act on, to title-level signals, which have substantial variance to capture. Transition: One signal does separate users meaningfully — but it is on the retention side, not the engagement side.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third insight identifies three measurable signals that predict churn a full thirty days before cancellation. Completion percentage drops. Interaction count drops. Buffering events rise. None of these alone is sufficient, but the combination is highly predictive. Recommendation: build a churn early-warning model using these three features. Users hitting the threshold trigger automated retention interventions before they cancel. Even a five-percent reduction in monthly churn translates to a meaningful annual revenue figure, which we will quantify in section five. Transition: One of those three signals — buffering — is also infrastructure-related, which leads to insight four.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third insight identifies the strongest churn precursor in MediaWave's data. Retained users watch an average of 26.4 hours per month. Churned users watch 15.2. That is a 42 percent gap — the largest user-level signal we found. We tested the signals we initially expected to predict churn: buffering rate, completion percentage, and unique titles watched per month. None of them separated churners from retained users. Buffering averages were 2.17 versus 2.20. Completion was 52.76 versus 52.72. These are statistically meaningless differences. The lesson: in this dataset, churn is a function of total engagement volume, not engagement quality. Recommendation: build the churn early-warning model on monthly hours watched and a derived velocity feature — recent hours divided by historical hours. Skip the buffering and completion features that intuition would suggest, because they do not predict in this data. Transition: Streaming quality, however, has its own story to tell — also counterintuitive.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fourth insight is the second counter-finding in this engagement. We expected streaming quality to be geographically concentrated and to correlate with completion, identifying specific region-ISP combinations where infrastructure investment would most reduce churn. The data does not support this. All seven CDN regions cluster between 2.17 and 2.25 buffering events per session — a 3.3 percent spread. All ten ISPs cluster similarly tightly. The buffering-completion correlation is approximately zero. This means selective CDN investment does not have an obvious target in current data. The recommendation reverses what we initially proposed. Recommendation: de-prioritize geographic CDN investment for now. Reallocate budget toward levers with measurable impact — content ROI optimization or churn early-warning. The CDN case can be revisited if more granular session-level quality data becomes available. Transition: Each of these insights, including the counter-findings, translates into a specific recommendation.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fourth insight ties buffering directly to completion. The correlation is strong and negative across all sessions: when buffering rises, completion falls. More importantly, the worst buffering experiences are geographically concentrated. Three region-by-ISP combinations account for a disproportionate share of poor streaming sessions. This is actionable. Recommendation: negotiate dedicated peering or upgrade CDN capacity for those three combinations. A twenty-percent buffering reduction translates directly to extended watch time and reduced churn risk. Transition: Each of these four insights maps to a specific, prioritized action.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We translate our four insights into four prioritized actions. Each action is paired with expected impact and a time-to-implement estimate. Transition: Four actions, ranked by impact-to-effort ratio.</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prioritized actions. Each is sourced from one of our four insights, including the two counter-findings. Action one is the highest impact-to-effort ratio in the engagement: dropping bottom-decile titles at the next license cycle. The full $3.13 billion represents the upper bound on annual savings; conservative renegotiation yields $1.5 to $2 billion. Action two is building the churn early-warning model on the strongest signal we found, monthly hours watched. Targeting just ten percent of the 19.6 thousand current churners would yield meaningful revenue retention. Action three pivots personalization investment from tier-aware logic, which has nothing to act on, to title-level signals, which have a 48 percentage point variance to capture. Action four is the most uncomfortable: pulling back from the geographic CDN investment hypothesis. The data does not support selective region/ISP upgrades, and a CIO should know this before committing budget to it. All four actions draw on analytics tables our pipeline produces today. No new data sources required. Transition: Finally, scaling considerations for production volume.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prioritized actions. Each is sourced from one of our four insights, paired with expected impact and time-to-implement. Action one is the highest impact-to-effort ratio: dropping bottom-decile titles at the next license cycle requires only an analyst review of our content_performance table. Action two is the longest-running but highest revenue impact: building the churn model. Actions three and four can run in parallel through the second half of the year. All four actions draw on analytics tables our pipeline produces today. No new data sources are required. Transition: Finally, scaling considerations for production volume.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six. The CIO's natural question: does this scale to production volume? We address bottlenecks at ten-times and one-hundred-times current data volume, and map the entire stack to managed cloud equivalents. Transition: Specific bottlenecks, specific fixes, specific cloud services.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At ten-times current volume, the architecture remains intact; we add Spark workers, expand Kafka partitions, and tune shuffle parameters. At one-hundred-times, the same architecture continues but we transition to a true distributed cluster: more workers with larger memory, higher replication factor, and CeleryExecutor for Airflow distributed scheduling. The lower table shows that every layer maps to managed cloud services across AWS, GCP, and Azure. There is no vendor commitment in our current architecture. For MediaWave at one-hundred-times scale we recommend AWS-based deployment, projected at approximately seventy-percent lower total cost of ownership once operational labor is included. Transition: We close on questions.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from this build. What worked: a single docker-compose with shared network removed service-discovery friction completely; reusable cleaning logic across all five datasets and the cost-per-viewing-hour metric were strong design choices that linked technical work directly to business value. What was hard: schema alignment across batch and streaming layers, the missing session-level join key in streaming-quality which we worked around with user-level aggregation, and Apple Silicon compatibility that required platform declarations on every service. What we would do differently: define data contracts between stages on Day 1, add a second Kafka topic for alerts to demonstrate multi-topic patterns, and run earlier full-stack integration testing before each stage owner finishes their layer. Transition: We will take questions now.</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take questions now. Each team member is positioned to address questions in their domain — Quang on streaming, Juan on infrastructure, Aleksandr on orchestration, Yusuke on analytics. We have prepared appendix slides for the most likely technical questions, available if needed.</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0.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0.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0.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1F_0.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microsoft.com/office/2018/10/relationships/comments" Target="../comments/modernComment_110_0.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124_0.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731520" y="2194560"/>
            <a:ext cx="10698480" cy="548640"/>
          </a:xfrm>
          <a:prstGeom prst="rect">
            <a:avLst/>
          </a:prstGeom>
          <a:noFill/>
          <a:ln/>
        </p:spPr>
        <p:txBody>
          <a:bodyPr wrap="square" lIns="0" tIns="0" rIns="0" bIns="0" rtlCol="0" anchor="ctr"/>
          <a:lstStyle/>
          <a:p>
            <a:pPr marL="0" indent="0">
              <a:buNone/>
            </a:pPr>
            <a:r>
              <a:rPr lang="en-US" sz="1800" kern="0" spc="600" dirty="0">
                <a:solidFill>
                  <a:srgbClr val="3FE0E0"/>
                </a:solidFill>
                <a:latin typeface="Calibri" pitchFamily="34" charset="0"/>
                <a:ea typeface="Calibri" pitchFamily="34" charset="-122"/>
                <a:cs typeface="Calibri" pitchFamily="34" charset="-120"/>
              </a:rPr>
              <a:t>MEDIAWAVE STREAMING</a:t>
            </a:r>
            <a:endParaRPr lang="en-US" sz="1800" dirty="0"/>
          </a:p>
        </p:txBody>
      </p:sp>
      <p:sp>
        <p:nvSpPr>
          <p:cNvPr id="10" name="Text 8"/>
          <p:cNvSpPr/>
          <p:nvPr/>
        </p:nvSpPr>
        <p:spPr>
          <a:xfrm>
            <a:off x="731520" y="2743200"/>
            <a:ext cx="10698480" cy="1097280"/>
          </a:xfrm>
          <a:prstGeom prst="rect">
            <a:avLst/>
          </a:prstGeom>
          <a:noFill/>
          <a:ln/>
        </p:spPr>
        <p:txBody>
          <a:bodyPr wrap="square" lIns="0" tIns="0" rIns="0" bIns="0" rtlCol="0" anchor="ctr"/>
          <a:lstStyle/>
          <a:p>
            <a:pPr marL="0" indent="0">
              <a:buNone/>
            </a:pPr>
            <a:r>
              <a:rPr lang="en-US" sz="6400" b="1" dirty="0">
                <a:solidFill>
                  <a:srgbClr val="FFFFFF"/>
                </a:solidFill>
                <a:latin typeface="Calibri" pitchFamily="34" charset="0"/>
                <a:ea typeface="Calibri" pitchFamily="34" charset="-122"/>
                <a:cs typeface="Calibri" pitchFamily="34" charset="-120"/>
              </a:rPr>
              <a:t>Big Data Pipeline</a:t>
            </a:r>
            <a:endParaRPr lang="en-US" sz="6400" dirty="0"/>
          </a:p>
        </p:txBody>
      </p:sp>
      <p:sp>
        <p:nvSpPr>
          <p:cNvPr id="11" name="Shape 9"/>
          <p:cNvSpPr/>
          <p:nvPr/>
        </p:nvSpPr>
        <p:spPr>
          <a:xfrm>
            <a:off x="731520" y="4023360"/>
            <a:ext cx="1371600" cy="0"/>
          </a:xfrm>
          <a:prstGeom prst="line">
            <a:avLst/>
          </a:prstGeom>
          <a:noFill/>
          <a:ln w="38100">
            <a:solidFill>
              <a:srgbClr val="3FE0E0"/>
            </a:solidFill>
            <a:prstDash val="solid"/>
          </a:ln>
        </p:spPr>
        <p:txBody>
          <a:bodyPr/>
          <a:lstStyle/>
          <a:p>
            <a:endParaRPr lang="en-US"/>
          </a:p>
        </p:txBody>
      </p:sp>
      <p:sp>
        <p:nvSpPr>
          <p:cNvPr id="12" name="Text 10"/>
          <p:cNvSpPr/>
          <p:nvPr/>
        </p:nvSpPr>
        <p:spPr>
          <a:xfrm>
            <a:off x="731520" y="4160520"/>
            <a:ext cx="10698480" cy="457200"/>
          </a:xfrm>
          <a:prstGeom prst="rect">
            <a:avLst/>
          </a:prstGeom>
          <a:noFill/>
          <a:ln/>
        </p:spPr>
        <p:txBody>
          <a:bodyPr wrap="square" lIns="0" tIns="0" rIns="0" bIns="0" rtlCol="0" anchor="ctr"/>
          <a:lstStyle/>
          <a:p>
            <a:pPr marL="0" indent="0">
              <a:buNone/>
            </a:pPr>
            <a:r>
              <a:rPr lang="en-US" sz="1800" i="1" dirty="0">
                <a:solidFill>
                  <a:srgbClr val="B7D7DC"/>
                </a:solidFill>
                <a:latin typeface="Calibri" pitchFamily="34" charset="0"/>
                <a:ea typeface="Calibri" pitchFamily="34" charset="-122"/>
                <a:cs typeface="Calibri" pitchFamily="34" charset="-120"/>
              </a:rPr>
              <a:t>From data fragmentation to engagement intelligence</a:t>
            </a:r>
            <a:endParaRPr lang="en-US" sz="1800" dirty="0"/>
          </a:p>
        </p:txBody>
      </p:sp>
      <p:sp>
        <p:nvSpPr>
          <p:cNvPr id="13" name="Text 11"/>
          <p:cNvSpPr/>
          <p:nvPr/>
        </p:nvSpPr>
        <p:spPr>
          <a:xfrm>
            <a:off x="731520" y="5486400"/>
            <a:ext cx="3657600" cy="274320"/>
          </a:xfrm>
          <a:prstGeom prst="rect">
            <a:avLst/>
          </a:prstGeom>
          <a:noFill/>
          <a:ln/>
        </p:spPr>
        <p:txBody>
          <a:bodyPr wrap="square" lIns="0" tIns="0" rIns="0" bIns="0" rtlCol="0" anchor="ctr"/>
          <a:lstStyle/>
          <a:p>
            <a:pPr marL="0" indent="0">
              <a:buNone/>
            </a:pPr>
            <a:r>
              <a:rPr lang="en-US" sz="1000" kern="0" spc="300" dirty="0">
                <a:solidFill>
                  <a:srgbClr val="7FA8AE"/>
                </a:solidFill>
                <a:latin typeface="Calibri" pitchFamily="34" charset="0"/>
                <a:ea typeface="Calibri" pitchFamily="34" charset="-122"/>
                <a:cs typeface="Calibri" pitchFamily="34" charset="-120"/>
              </a:rPr>
              <a:t>PREPARED FOR</a:t>
            </a:r>
            <a:endParaRPr lang="en-US" sz="1000" dirty="0"/>
          </a:p>
        </p:txBody>
      </p:sp>
      <p:sp>
        <p:nvSpPr>
          <p:cNvPr id="14" name="Text 12"/>
          <p:cNvSpPr/>
          <p:nvPr/>
        </p:nvSpPr>
        <p:spPr>
          <a:xfrm>
            <a:off x="731520" y="5760720"/>
            <a:ext cx="548640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Office of the CIO · MediaWave Streaming</a:t>
            </a:r>
            <a:endParaRPr lang="en-US" sz="1400" dirty="0"/>
          </a:p>
        </p:txBody>
      </p:sp>
      <p:sp>
        <p:nvSpPr>
          <p:cNvPr id="15" name="Text 13"/>
          <p:cNvSpPr/>
          <p:nvPr/>
        </p:nvSpPr>
        <p:spPr>
          <a:xfrm>
            <a:off x="7589520" y="5486400"/>
            <a:ext cx="3657600" cy="274320"/>
          </a:xfrm>
          <a:prstGeom prst="rect">
            <a:avLst/>
          </a:prstGeom>
          <a:noFill/>
          <a:ln/>
        </p:spPr>
        <p:txBody>
          <a:bodyPr wrap="square" lIns="0" tIns="0" rIns="0" bIns="0" rtlCol="0" anchor="ctr"/>
          <a:lstStyle/>
          <a:p>
            <a:pPr marL="0" indent="0" algn="r">
              <a:buNone/>
            </a:pPr>
            <a:r>
              <a:rPr lang="en-US" sz="1000" kern="0" spc="300" dirty="0">
                <a:solidFill>
                  <a:srgbClr val="7FA8AE"/>
                </a:solidFill>
                <a:latin typeface="Calibri" pitchFamily="34" charset="0"/>
                <a:ea typeface="Calibri" pitchFamily="34" charset="-122"/>
                <a:cs typeface="Calibri" pitchFamily="34" charset="-120"/>
              </a:rPr>
              <a:t>PREPARED BY</a:t>
            </a:r>
            <a:endParaRPr lang="en-US" sz="1000" dirty="0"/>
          </a:p>
        </p:txBody>
      </p:sp>
      <p:sp>
        <p:nvSpPr>
          <p:cNvPr id="16" name="Text 14"/>
          <p:cNvSpPr/>
          <p:nvPr/>
        </p:nvSpPr>
        <p:spPr>
          <a:xfrm>
            <a:off x="6675120" y="5760720"/>
            <a:ext cx="5029200" cy="365760"/>
          </a:xfrm>
          <a:prstGeom prst="rect">
            <a:avLst/>
          </a:prstGeom>
          <a:noFill/>
          <a:ln/>
        </p:spPr>
        <p:txBody>
          <a:bodyPr wrap="square" lIns="0" tIns="0" rIns="0" bIns="0"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Team Data Avengers · ISM 6562 · May 2026</a:t>
            </a:r>
            <a:endParaRPr lang="en-US" sz="1400" dirty="0"/>
          </a:p>
        </p:txBody>
      </p:sp>
    </p:spTree>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365760"/>
            <a:ext cx="914400" cy="91440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01</a:t>
            </a:r>
            <a:endParaRPr lang="en-US" sz="5600" dirty="0"/>
          </a:p>
        </p:txBody>
      </p:sp>
      <p:sp>
        <p:nvSpPr>
          <p:cNvPr id="10" name="Shape 8"/>
          <p:cNvSpPr/>
          <p:nvPr/>
        </p:nvSpPr>
        <p:spPr>
          <a:xfrm>
            <a:off x="1463040" y="548640"/>
            <a:ext cx="0" cy="777240"/>
          </a:xfrm>
          <a:prstGeom prst="line">
            <a:avLst/>
          </a:prstGeom>
          <a:noFill/>
          <a:ln w="25400">
            <a:solidFill>
              <a:srgbClr val="3FE0E0"/>
            </a:solidFill>
            <a:prstDash val="solid"/>
          </a:ln>
        </p:spPr>
        <p:txBody>
          <a:bodyPr/>
          <a:lstStyle/>
          <a:p>
            <a:endParaRPr lang="en-US"/>
          </a:p>
        </p:txBody>
      </p:sp>
      <p:sp>
        <p:nvSpPr>
          <p:cNvPr id="11" name="Text 9"/>
          <p:cNvSpPr/>
          <p:nvPr/>
        </p:nvSpPr>
        <p:spPr>
          <a:xfrm>
            <a:off x="1691640" y="365760"/>
            <a:ext cx="8229600" cy="64008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TEAM INTRODUCTION</a:t>
            </a:r>
            <a:endParaRPr lang="en-US" sz="2800" dirty="0"/>
          </a:p>
        </p:txBody>
      </p:sp>
      <p:sp>
        <p:nvSpPr>
          <p:cNvPr id="12" name="Text 10"/>
          <p:cNvSpPr/>
          <p:nvPr/>
        </p:nvSpPr>
        <p:spPr>
          <a:xfrm>
            <a:off x="1691640" y="960120"/>
            <a:ext cx="8229600" cy="365760"/>
          </a:xfrm>
          <a:prstGeom prst="rect">
            <a:avLst/>
          </a:prstGeom>
          <a:noFill/>
          <a:ln/>
        </p:spPr>
        <p:txBody>
          <a:bodyPr wrap="square" lIns="0" tIns="0" rIns="0" bIns="0" rtlCol="0" anchor="ctr"/>
          <a:lstStyle/>
          <a:p>
            <a:pPr marL="0" indent="0">
              <a:buNone/>
            </a:pPr>
            <a:r>
              <a:rPr lang="en-US" sz="1400" kern="0" spc="400" dirty="0">
                <a:solidFill>
                  <a:srgbClr val="3FE0E0"/>
                </a:solidFill>
                <a:latin typeface="Calibri" pitchFamily="34" charset="0"/>
                <a:ea typeface="Calibri" pitchFamily="34" charset="-122"/>
                <a:cs typeface="Calibri" pitchFamily="34" charset="-120"/>
              </a:rPr>
              <a:t>DATA AVENGERS</a:t>
            </a:r>
            <a:endParaRPr lang="en-US" sz="1400" dirty="0"/>
          </a:p>
        </p:txBody>
      </p:sp>
      <p:sp>
        <p:nvSpPr>
          <p:cNvPr id="13" name="Shape 11"/>
          <p:cNvSpPr/>
          <p:nvPr/>
        </p:nvSpPr>
        <p:spPr>
          <a:xfrm>
            <a:off x="868680" y="2240280"/>
            <a:ext cx="1554480" cy="1554480"/>
          </a:xfrm>
          <a:prstGeom prst="ellipse">
            <a:avLst/>
          </a:prstGeom>
          <a:solidFill>
            <a:srgbClr val="3FE0E0"/>
          </a:solidFill>
          <a:ln w="12700">
            <a:solidFill>
              <a:srgbClr val="3FE0E0"/>
            </a:solidFill>
            <a:prstDash val="solid"/>
          </a:ln>
        </p:spPr>
        <p:txBody>
          <a:bodyPr/>
          <a:lstStyle/>
          <a:p>
            <a:endParaRPr lang="en-US"/>
          </a:p>
        </p:txBody>
      </p:sp>
      <p:sp>
        <p:nvSpPr>
          <p:cNvPr id="14" name="Shape 12"/>
          <p:cNvSpPr/>
          <p:nvPr/>
        </p:nvSpPr>
        <p:spPr>
          <a:xfrm>
            <a:off x="914400" y="2286000"/>
            <a:ext cx="1463040" cy="1463040"/>
          </a:xfrm>
          <a:prstGeom prst="ellipse">
            <a:avLst/>
          </a:prstGeom>
          <a:solidFill>
            <a:srgbClr val="0A4250"/>
          </a:solidFill>
          <a:ln w="12700">
            <a:solidFill>
              <a:srgbClr val="0A4250"/>
            </a:solidFill>
            <a:prstDash val="solid"/>
          </a:ln>
        </p:spPr>
        <p:txBody>
          <a:bodyPr/>
          <a:lstStyle/>
          <a:p>
            <a:endParaRPr lang="en-US"/>
          </a:p>
        </p:txBody>
      </p:sp>
      <p:sp>
        <p:nvSpPr>
          <p:cNvPr id="15" name="Text 13"/>
          <p:cNvSpPr/>
          <p:nvPr/>
        </p:nvSpPr>
        <p:spPr>
          <a:xfrm>
            <a:off x="914400" y="2286000"/>
            <a:ext cx="1463040" cy="1463040"/>
          </a:xfrm>
          <a:prstGeom prst="rect">
            <a:avLst/>
          </a:prstGeom>
          <a:noFill/>
          <a:ln/>
        </p:spPr>
        <p:txBody>
          <a:bodyPr wrap="square" lIns="0" tIns="0" rIns="0" bIns="0" rtlCol="0" anchor="ctr"/>
          <a:lstStyle/>
          <a:p>
            <a:pPr marL="0" indent="0" algn="ctr">
              <a:buNone/>
            </a:pPr>
            <a:r>
              <a:rPr lang="en-US" sz="1100" i="1" dirty="0">
                <a:solidFill>
                  <a:srgbClr val="7FA8AE"/>
                </a:solidFill>
                <a:latin typeface="Calibri" pitchFamily="34" charset="0"/>
                <a:ea typeface="Calibri" pitchFamily="34" charset="-122"/>
                <a:cs typeface="Calibri" pitchFamily="34" charset="-120"/>
              </a:rPr>
              <a:t>Photo</a:t>
            </a:r>
            <a:endParaRPr lang="en-US" sz="1100" dirty="0"/>
          </a:p>
        </p:txBody>
      </p:sp>
      <p:sp>
        <p:nvSpPr>
          <p:cNvPr id="16" name="Text 14"/>
          <p:cNvSpPr/>
          <p:nvPr/>
        </p:nvSpPr>
        <p:spPr>
          <a:xfrm>
            <a:off x="548640" y="3931920"/>
            <a:ext cx="21945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Helen Nguyen</a:t>
            </a:r>
            <a:endParaRPr lang="en-US" sz="1400" dirty="0"/>
          </a:p>
        </p:txBody>
      </p:sp>
      <p:sp>
        <p:nvSpPr>
          <p:cNvPr id="17" name="Text 15"/>
          <p:cNvSpPr/>
          <p:nvPr/>
        </p:nvSpPr>
        <p:spPr>
          <a:xfrm>
            <a:off x="548640" y="4572000"/>
            <a:ext cx="2194560" cy="365760"/>
          </a:xfrm>
          <a:prstGeom prst="rect">
            <a:avLst/>
          </a:prstGeom>
          <a:noFill/>
          <a:ln/>
        </p:spPr>
        <p:txBody>
          <a:bodyPr wrap="square" lIns="0" tIns="0" rIns="0" bIns="0" rtlCol="0" anchor="ctr"/>
          <a:lstStyle/>
          <a:p>
            <a:pPr marL="0" indent="0" algn="ctr">
              <a:buNone/>
            </a:pPr>
            <a:r>
              <a:rPr lang="en-US" sz="1200" dirty="0">
                <a:solidFill>
                  <a:srgbClr val="B7D7DC"/>
                </a:solidFill>
                <a:latin typeface="Calibri" pitchFamily="34" charset="0"/>
                <a:ea typeface="Calibri" pitchFamily="34" charset="-122"/>
                <a:cs typeface="Calibri" pitchFamily="34" charset="-120"/>
              </a:rPr>
              <a:t>Engagement Lead</a:t>
            </a:r>
            <a:endParaRPr lang="en-US" sz="1200" dirty="0"/>
          </a:p>
        </p:txBody>
      </p:sp>
      <p:sp>
        <p:nvSpPr>
          <p:cNvPr id="18" name="Shape 16"/>
          <p:cNvSpPr/>
          <p:nvPr/>
        </p:nvSpPr>
        <p:spPr>
          <a:xfrm>
            <a:off x="3063240" y="2240280"/>
            <a:ext cx="1554480" cy="1554480"/>
          </a:xfrm>
          <a:prstGeom prst="ellipse">
            <a:avLst/>
          </a:prstGeom>
          <a:solidFill>
            <a:srgbClr val="3FE0E0"/>
          </a:solidFill>
          <a:ln w="12700">
            <a:solidFill>
              <a:srgbClr val="3FE0E0"/>
            </a:solidFill>
            <a:prstDash val="solid"/>
          </a:ln>
        </p:spPr>
        <p:txBody>
          <a:bodyPr/>
          <a:lstStyle/>
          <a:p>
            <a:endParaRPr lang="en-US"/>
          </a:p>
        </p:txBody>
      </p:sp>
      <p:sp>
        <p:nvSpPr>
          <p:cNvPr id="19" name="Shape 17"/>
          <p:cNvSpPr/>
          <p:nvPr/>
        </p:nvSpPr>
        <p:spPr>
          <a:xfrm>
            <a:off x="3108960" y="2286000"/>
            <a:ext cx="1463040" cy="1463040"/>
          </a:xfrm>
          <a:prstGeom prst="ellipse">
            <a:avLst/>
          </a:prstGeom>
          <a:solidFill>
            <a:srgbClr val="0A4250"/>
          </a:solidFill>
          <a:ln w="12700">
            <a:solidFill>
              <a:srgbClr val="0A4250"/>
            </a:solidFill>
            <a:prstDash val="solid"/>
          </a:ln>
        </p:spPr>
        <p:txBody>
          <a:bodyPr/>
          <a:lstStyle/>
          <a:p>
            <a:endParaRPr lang="en-US"/>
          </a:p>
        </p:txBody>
      </p:sp>
      <p:sp>
        <p:nvSpPr>
          <p:cNvPr id="20" name="Text 18"/>
          <p:cNvSpPr/>
          <p:nvPr/>
        </p:nvSpPr>
        <p:spPr>
          <a:xfrm>
            <a:off x="3108960" y="2286000"/>
            <a:ext cx="1463040" cy="1463040"/>
          </a:xfrm>
          <a:prstGeom prst="rect">
            <a:avLst/>
          </a:prstGeom>
          <a:noFill/>
          <a:ln/>
        </p:spPr>
        <p:txBody>
          <a:bodyPr wrap="square" lIns="0" tIns="0" rIns="0" bIns="0" rtlCol="0" anchor="ctr"/>
          <a:lstStyle/>
          <a:p>
            <a:pPr marL="0" indent="0" algn="ctr">
              <a:buNone/>
            </a:pPr>
            <a:r>
              <a:rPr lang="en-US" sz="1100" i="1" dirty="0">
                <a:solidFill>
                  <a:srgbClr val="7FA8AE"/>
                </a:solidFill>
                <a:latin typeface="Calibri" pitchFamily="34" charset="0"/>
                <a:ea typeface="Calibri" pitchFamily="34" charset="-122"/>
                <a:cs typeface="Calibri" pitchFamily="34" charset="-120"/>
              </a:rPr>
              <a:t>Photo</a:t>
            </a:r>
            <a:endParaRPr lang="en-US" sz="1100" dirty="0"/>
          </a:p>
        </p:txBody>
      </p:sp>
      <p:sp>
        <p:nvSpPr>
          <p:cNvPr id="21" name="Text 19"/>
          <p:cNvSpPr/>
          <p:nvPr/>
        </p:nvSpPr>
        <p:spPr>
          <a:xfrm>
            <a:off x="2743200" y="3931920"/>
            <a:ext cx="21945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Quang Nguyen</a:t>
            </a:r>
            <a:endParaRPr lang="en-US" sz="1400" dirty="0"/>
          </a:p>
        </p:txBody>
      </p:sp>
      <p:sp>
        <p:nvSpPr>
          <p:cNvPr id="22" name="Text 20"/>
          <p:cNvSpPr/>
          <p:nvPr/>
        </p:nvSpPr>
        <p:spPr>
          <a:xfrm>
            <a:off x="2743200" y="4572000"/>
            <a:ext cx="2194560" cy="365760"/>
          </a:xfrm>
          <a:prstGeom prst="rect">
            <a:avLst/>
          </a:prstGeom>
          <a:noFill/>
          <a:ln/>
        </p:spPr>
        <p:txBody>
          <a:bodyPr wrap="square" lIns="0" tIns="0" rIns="0" bIns="0" rtlCol="0" anchor="ctr"/>
          <a:lstStyle/>
          <a:p>
            <a:pPr marL="0" indent="0" algn="ctr">
              <a:buNone/>
            </a:pPr>
            <a:r>
              <a:rPr lang="en-US" sz="1200" dirty="0">
                <a:solidFill>
                  <a:srgbClr val="B7D7DC"/>
                </a:solidFill>
                <a:latin typeface="Calibri" pitchFamily="34" charset="0"/>
                <a:ea typeface="Calibri" pitchFamily="34" charset="-122"/>
                <a:cs typeface="Calibri" pitchFamily="34" charset="-120"/>
              </a:rPr>
              <a:t>Streaming Lead</a:t>
            </a:r>
            <a:endParaRPr lang="en-US" sz="1200" dirty="0"/>
          </a:p>
        </p:txBody>
      </p:sp>
      <p:sp>
        <p:nvSpPr>
          <p:cNvPr id="23" name="Shape 21"/>
          <p:cNvSpPr/>
          <p:nvPr/>
        </p:nvSpPr>
        <p:spPr>
          <a:xfrm>
            <a:off x="5257800" y="2240280"/>
            <a:ext cx="1554480" cy="1554480"/>
          </a:xfrm>
          <a:prstGeom prst="ellipse">
            <a:avLst/>
          </a:prstGeom>
          <a:solidFill>
            <a:srgbClr val="3FE0E0"/>
          </a:solidFill>
          <a:ln w="12700">
            <a:solidFill>
              <a:srgbClr val="3FE0E0"/>
            </a:solidFill>
            <a:prstDash val="solid"/>
          </a:ln>
        </p:spPr>
        <p:txBody>
          <a:bodyPr/>
          <a:lstStyle/>
          <a:p>
            <a:endParaRPr lang="en-US"/>
          </a:p>
        </p:txBody>
      </p:sp>
      <p:sp>
        <p:nvSpPr>
          <p:cNvPr id="24" name="Shape 22"/>
          <p:cNvSpPr/>
          <p:nvPr/>
        </p:nvSpPr>
        <p:spPr>
          <a:xfrm>
            <a:off x="5303520" y="2286000"/>
            <a:ext cx="1463040" cy="1463040"/>
          </a:xfrm>
          <a:prstGeom prst="ellipse">
            <a:avLst/>
          </a:prstGeom>
          <a:solidFill>
            <a:srgbClr val="0A4250"/>
          </a:solidFill>
          <a:ln w="12700">
            <a:solidFill>
              <a:srgbClr val="0A4250"/>
            </a:solidFill>
            <a:prstDash val="solid"/>
          </a:ln>
        </p:spPr>
        <p:txBody>
          <a:bodyPr/>
          <a:lstStyle/>
          <a:p>
            <a:endParaRPr lang="en-US"/>
          </a:p>
        </p:txBody>
      </p:sp>
      <p:sp>
        <p:nvSpPr>
          <p:cNvPr id="25" name="Text 23"/>
          <p:cNvSpPr/>
          <p:nvPr/>
        </p:nvSpPr>
        <p:spPr>
          <a:xfrm>
            <a:off x="5303520" y="2286000"/>
            <a:ext cx="1463040" cy="1463040"/>
          </a:xfrm>
          <a:prstGeom prst="rect">
            <a:avLst/>
          </a:prstGeom>
          <a:noFill/>
          <a:ln/>
        </p:spPr>
        <p:txBody>
          <a:bodyPr wrap="square" lIns="0" tIns="0" rIns="0" bIns="0" rtlCol="0" anchor="ctr"/>
          <a:lstStyle/>
          <a:p>
            <a:pPr marL="0" indent="0" algn="ctr">
              <a:buNone/>
            </a:pPr>
            <a:r>
              <a:rPr lang="en-US" sz="1100" i="1" dirty="0">
                <a:solidFill>
                  <a:srgbClr val="7FA8AE"/>
                </a:solidFill>
                <a:latin typeface="Calibri" pitchFamily="34" charset="0"/>
                <a:ea typeface="Calibri" pitchFamily="34" charset="-122"/>
                <a:cs typeface="Calibri" pitchFamily="34" charset="-120"/>
              </a:rPr>
              <a:t>Photo</a:t>
            </a:r>
            <a:endParaRPr lang="en-US" sz="1100" dirty="0"/>
          </a:p>
        </p:txBody>
      </p:sp>
      <p:sp>
        <p:nvSpPr>
          <p:cNvPr id="26" name="Text 24"/>
          <p:cNvSpPr/>
          <p:nvPr/>
        </p:nvSpPr>
        <p:spPr>
          <a:xfrm>
            <a:off x="4937760" y="3931920"/>
            <a:ext cx="21945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Juan Rivera</a:t>
            </a:r>
            <a:endParaRPr lang="en-US" sz="1400" dirty="0"/>
          </a:p>
        </p:txBody>
      </p:sp>
      <p:sp>
        <p:nvSpPr>
          <p:cNvPr id="27" name="Text 25"/>
          <p:cNvSpPr/>
          <p:nvPr/>
        </p:nvSpPr>
        <p:spPr>
          <a:xfrm>
            <a:off x="4937760" y="4572000"/>
            <a:ext cx="2194560" cy="365760"/>
          </a:xfrm>
          <a:prstGeom prst="rect">
            <a:avLst/>
          </a:prstGeom>
          <a:noFill/>
          <a:ln/>
        </p:spPr>
        <p:txBody>
          <a:bodyPr wrap="square" lIns="0" tIns="0" rIns="0" bIns="0" rtlCol="0" anchor="ctr"/>
          <a:lstStyle/>
          <a:p>
            <a:pPr marL="0" indent="0" algn="ctr">
              <a:buNone/>
            </a:pPr>
            <a:r>
              <a:rPr lang="en-US" sz="1200" dirty="0">
                <a:solidFill>
                  <a:srgbClr val="B7D7DC"/>
                </a:solidFill>
                <a:latin typeface="Calibri" pitchFamily="34" charset="0"/>
                <a:ea typeface="Calibri" pitchFamily="34" charset="-122"/>
                <a:cs typeface="Calibri" pitchFamily="34" charset="-120"/>
              </a:rPr>
              <a:t>Infrastructure Lead</a:t>
            </a:r>
            <a:endParaRPr lang="en-US" sz="1200" dirty="0"/>
          </a:p>
        </p:txBody>
      </p:sp>
      <p:sp>
        <p:nvSpPr>
          <p:cNvPr id="28" name="Shape 26"/>
          <p:cNvSpPr/>
          <p:nvPr/>
        </p:nvSpPr>
        <p:spPr>
          <a:xfrm>
            <a:off x="7452360" y="2240280"/>
            <a:ext cx="1554480" cy="1554480"/>
          </a:xfrm>
          <a:prstGeom prst="ellipse">
            <a:avLst/>
          </a:prstGeom>
          <a:solidFill>
            <a:srgbClr val="3FE0E0"/>
          </a:solidFill>
          <a:ln w="12700">
            <a:solidFill>
              <a:srgbClr val="3FE0E0"/>
            </a:solidFill>
            <a:prstDash val="solid"/>
          </a:ln>
        </p:spPr>
        <p:txBody>
          <a:bodyPr/>
          <a:lstStyle/>
          <a:p>
            <a:endParaRPr lang="en-US"/>
          </a:p>
        </p:txBody>
      </p:sp>
      <p:sp>
        <p:nvSpPr>
          <p:cNvPr id="29" name="Shape 27"/>
          <p:cNvSpPr/>
          <p:nvPr/>
        </p:nvSpPr>
        <p:spPr>
          <a:xfrm>
            <a:off x="7498080" y="2286000"/>
            <a:ext cx="1463040" cy="1463040"/>
          </a:xfrm>
          <a:prstGeom prst="ellipse">
            <a:avLst/>
          </a:prstGeom>
          <a:solidFill>
            <a:srgbClr val="0A4250"/>
          </a:solidFill>
          <a:ln w="12700">
            <a:solidFill>
              <a:srgbClr val="0A4250"/>
            </a:solidFill>
            <a:prstDash val="solid"/>
          </a:ln>
        </p:spPr>
        <p:txBody>
          <a:bodyPr/>
          <a:lstStyle/>
          <a:p>
            <a:endParaRPr lang="en-US"/>
          </a:p>
        </p:txBody>
      </p:sp>
      <p:sp>
        <p:nvSpPr>
          <p:cNvPr id="30" name="Text 28"/>
          <p:cNvSpPr/>
          <p:nvPr/>
        </p:nvSpPr>
        <p:spPr>
          <a:xfrm>
            <a:off x="7498080" y="2286000"/>
            <a:ext cx="1463040" cy="1463040"/>
          </a:xfrm>
          <a:prstGeom prst="rect">
            <a:avLst/>
          </a:prstGeom>
          <a:noFill/>
          <a:ln/>
        </p:spPr>
        <p:txBody>
          <a:bodyPr wrap="square" lIns="0" tIns="0" rIns="0" bIns="0" rtlCol="0" anchor="ctr"/>
          <a:lstStyle/>
          <a:p>
            <a:pPr marL="0" indent="0" algn="ctr">
              <a:buNone/>
            </a:pPr>
            <a:r>
              <a:rPr lang="en-US" sz="1100" i="1" dirty="0">
                <a:solidFill>
                  <a:srgbClr val="7FA8AE"/>
                </a:solidFill>
                <a:latin typeface="Calibri" pitchFamily="34" charset="0"/>
                <a:ea typeface="Calibri" pitchFamily="34" charset="-122"/>
                <a:cs typeface="Calibri" pitchFamily="34" charset="-120"/>
              </a:rPr>
              <a:t>Photo</a:t>
            </a:r>
            <a:endParaRPr lang="en-US" sz="1100" dirty="0"/>
          </a:p>
        </p:txBody>
      </p:sp>
      <p:sp>
        <p:nvSpPr>
          <p:cNvPr id="31" name="Text 29"/>
          <p:cNvSpPr/>
          <p:nvPr/>
        </p:nvSpPr>
        <p:spPr>
          <a:xfrm>
            <a:off x="7132320" y="3931920"/>
            <a:ext cx="21945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Aleksandr Nicolaev</a:t>
            </a:r>
            <a:endParaRPr lang="en-US" sz="1400" dirty="0"/>
          </a:p>
        </p:txBody>
      </p:sp>
      <p:sp>
        <p:nvSpPr>
          <p:cNvPr id="32" name="Text 30"/>
          <p:cNvSpPr/>
          <p:nvPr/>
        </p:nvSpPr>
        <p:spPr>
          <a:xfrm>
            <a:off x="7132320" y="4572000"/>
            <a:ext cx="2194560" cy="365760"/>
          </a:xfrm>
          <a:prstGeom prst="rect">
            <a:avLst/>
          </a:prstGeom>
          <a:noFill/>
          <a:ln/>
        </p:spPr>
        <p:txBody>
          <a:bodyPr wrap="square" lIns="0" tIns="0" rIns="0" bIns="0" rtlCol="0" anchor="ctr"/>
          <a:lstStyle/>
          <a:p>
            <a:pPr marL="0" indent="0" algn="ctr">
              <a:buNone/>
            </a:pPr>
            <a:r>
              <a:rPr lang="en-US" sz="1200" dirty="0">
                <a:solidFill>
                  <a:srgbClr val="B7D7DC"/>
                </a:solidFill>
                <a:latin typeface="Calibri" pitchFamily="34" charset="0"/>
                <a:ea typeface="Calibri" pitchFamily="34" charset="-122"/>
                <a:cs typeface="Calibri" pitchFamily="34" charset="-120"/>
              </a:rPr>
              <a:t>Orchestration Lead</a:t>
            </a:r>
            <a:endParaRPr lang="en-US" sz="1200" dirty="0"/>
          </a:p>
        </p:txBody>
      </p:sp>
      <p:sp>
        <p:nvSpPr>
          <p:cNvPr id="33" name="Shape 31"/>
          <p:cNvSpPr/>
          <p:nvPr/>
        </p:nvSpPr>
        <p:spPr>
          <a:xfrm>
            <a:off x="9646920" y="2240280"/>
            <a:ext cx="1554480" cy="1554480"/>
          </a:xfrm>
          <a:prstGeom prst="ellipse">
            <a:avLst/>
          </a:prstGeom>
          <a:solidFill>
            <a:srgbClr val="3FE0E0"/>
          </a:solidFill>
          <a:ln w="12700">
            <a:solidFill>
              <a:srgbClr val="3FE0E0"/>
            </a:solidFill>
            <a:prstDash val="solid"/>
          </a:ln>
        </p:spPr>
        <p:txBody>
          <a:bodyPr/>
          <a:lstStyle/>
          <a:p>
            <a:endParaRPr lang="en-US"/>
          </a:p>
        </p:txBody>
      </p:sp>
      <p:sp>
        <p:nvSpPr>
          <p:cNvPr id="34" name="Shape 32"/>
          <p:cNvSpPr/>
          <p:nvPr/>
        </p:nvSpPr>
        <p:spPr>
          <a:xfrm>
            <a:off x="9692640" y="2286000"/>
            <a:ext cx="1463040" cy="1463040"/>
          </a:xfrm>
          <a:prstGeom prst="ellipse">
            <a:avLst/>
          </a:prstGeom>
          <a:solidFill>
            <a:srgbClr val="0A4250"/>
          </a:solidFill>
          <a:ln w="12700">
            <a:solidFill>
              <a:srgbClr val="0A4250"/>
            </a:solidFill>
            <a:prstDash val="solid"/>
          </a:ln>
        </p:spPr>
        <p:txBody>
          <a:bodyPr/>
          <a:lstStyle/>
          <a:p>
            <a:endParaRPr lang="en-US"/>
          </a:p>
        </p:txBody>
      </p:sp>
      <p:sp>
        <p:nvSpPr>
          <p:cNvPr id="35" name="Text 33"/>
          <p:cNvSpPr/>
          <p:nvPr/>
        </p:nvSpPr>
        <p:spPr>
          <a:xfrm>
            <a:off x="9692640" y="2286000"/>
            <a:ext cx="1463040" cy="1463040"/>
          </a:xfrm>
          <a:prstGeom prst="rect">
            <a:avLst/>
          </a:prstGeom>
          <a:noFill/>
          <a:ln/>
        </p:spPr>
        <p:txBody>
          <a:bodyPr wrap="square" lIns="0" tIns="0" rIns="0" bIns="0" rtlCol="0" anchor="ctr"/>
          <a:lstStyle/>
          <a:p>
            <a:pPr marL="0" indent="0" algn="ctr">
              <a:buNone/>
            </a:pPr>
            <a:r>
              <a:rPr lang="en-US" sz="1100" i="1" dirty="0">
                <a:solidFill>
                  <a:srgbClr val="7FA8AE"/>
                </a:solidFill>
                <a:latin typeface="Calibri" pitchFamily="34" charset="0"/>
                <a:ea typeface="Calibri" pitchFamily="34" charset="-122"/>
                <a:cs typeface="Calibri" pitchFamily="34" charset="-120"/>
              </a:rPr>
              <a:t>Photo</a:t>
            </a:r>
            <a:endParaRPr lang="en-US" sz="1100" dirty="0"/>
          </a:p>
        </p:txBody>
      </p:sp>
      <p:sp>
        <p:nvSpPr>
          <p:cNvPr id="36" name="Text 34"/>
          <p:cNvSpPr/>
          <p:nvPr/>
        </p:nvSpPr>
        <p:spPr>
          <a:xfrm>
            <a:off x="9326880" y="3931920"/>
            <a:ext cx="21945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Yusuke Yoshizawa</a:t>
            </a:r>
            <a:endParaRPr lang="en-US" sz="1400" dirty="0"/>
          </a:p>
        </p:txBody>
      </p:sp>
      <p:sp>
        <p:nvSpPr>
          <p:cNvPr id="37" name="Text 35"/>
          <p:cNvSpPr/>
          <p:nvPr/>
        </p:nvSpPr>
        <p:spPr>
          <a:xfrm>
            <a:off x="9326880" y="4572000"/>
            <a:ext cx="2194560" cy="365760"/>
          </a:xfrm>
          <a:prstGeom prst="rect">
            <a:avLst/>
          </a:prstGeom>
          <a:noFill/>
          <a:ln/>
        </p:spPr>
        <p:txBody>
          <a:bodyPr wrap="square" lIns="0" tIns="0" rIns="0" bIns="0" rtlCol="0" anchor="ctr"/>
          <a:lstStyle/>
          <a:p>
            <a:pPr marL="0" indent="0" algn="ctr">
              <a:buNone/>
            </a:pPr>
            <a:r>
              <a:rPr lang="en-US" sz="1200" dirty="0">
                <a:solidFill>
                  <a:srgbClr val="B7D7DC"/>
                </a:solidFill>
                <a:latin typeface="Calibri" pitchFamily="34" charset="0"/>
                <a:ea typeface="Calibri" pitchFamily="34" charset="-122"/>
                <a:cs typeface="Calibri" pitchFamily="34" charset="-120"/>
              </a:rPr>
              <a:t>Analytics Lead</a:t>
            </a:r>
            <a:endParaRPr lang="en-US" sz="1200" dirty="0"/>
          </a:p>
        </p:txBody>
      </p:sp>
      <p:sp>
        <p:nvSpPr>
          <p:cNvPr id="38" name="Text 36"/>
          <p:cNvSpPr/>
          <p:nvPr/>
        </p:nvSpPr>
        <p:spPr>
          <a:xfrm>
            <a:off x="457200" y="5852160"/>
            <a:ext cx="11247120" cy="365760"/>
          </a:xfrm>
          <a:prstGeom prst="rect">
            <a:avLst/>
          </a:prstGeom>
          <a:noFill/>
          <a:ln/>
        </p:spPr>
        <p:txBody>
          <a:bodyPr wrap="square" lIns="0" tIns="0" rIns="0" bIns="0" rtlCol="0" anchor="ctr"/>
          <a:lstStyle/>
          <a:p>
            <a:pPr marL="0" indent="0" algn="ctr">
              <a:buNone/>
            </a:pPr>
            <a:r>
              <a:rPr lang="en-US" sz="1200" i="1" dirty="0">
                <a:solidFill>
                  <a:srgbClr val="7FA8AE"/>
                </a:solidFill>
                <a:latin typeface="Calibri" pitchFamily="34" charset="0"/>
                <a:ea typeface="Calibri" pitchFamily="34" charset="-122"/>
                <a:cs typeface="Calibri" pitchFamily="34" charset="-120"/>
              </a:rPr>
              <a:t>Big Data strategy and implementation for MediaWave Streaming</a:t>
            </a:r>
            <a:endParaRPr lang="en-US" sz="1200" dirty="0"/>
          </a:p>
        </p:txBody>
      </p:sp>
    </p:spTree>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What we will cover</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i="1" kern="0" spc="100" dirty="0">
                <a:solidFill>
                  <a:srgbClr val="3FE0E0"/>
                </a:solidFill>
                <a:latin typeface="Calibri" pitchFamily="34" charset="0"/>
                <a:ea typeface="Calibri" pitchFamily="34" charset="-122"/>
                <a:cs typeface="Calibri" pitchFamily="34" charset="-120"/>
              </a:rPr>
              <a:t>A six-section briefing for the CIO</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endParaRPr lang="en-US"/>
          </a:p>
        </p:txBody>
      </p:sp>
      <p:sp>
        <p:nvSpPr>
          <p:cNvPr id="12" name="Text 10"/>
          <p:cNvSpPr/>
          <p:nvPr/>
        </p:nvSpPr>
        <p:spPr>
          <a:xfrm>
            <a:off x="640080" y="1828800"/>
            <a:ext cx="822960" cy="457200"/>
          </a:xfrm>
          <a:prstGeom prst="rect">
            <a:avLst/>
          </a:prstGeom>
          <a:noFill/>
          <a:ln/>
        </p:spPr>
        <p:txBody>
          <a:bodyPr wrap="square" lIns="0" tIns="0" rIns="0" bIns="0" rtlCol="0" anchor="ctr"/>
          <a:lstStyle/>
          <a:p>
            <a:pPr marL="0" indent="0">
              <a:buNone/>
            </a:pPr>
            <a:r>
              <a:rPr lang="en-US" sz="2200" b="1" dirty="0">
                <a:solidFill>
                  <a:srgbClr val="3FE0E0"/>
                </a:solidFill>
                <a:latin typeface="Calibri" pitchFamily="34" charset="0"/>
                <a:ea typeface="Calibri" pitchFamily="34" charset="-122"/>
                <a:cs typeface="Calibri" pitchFamily="34" charset="-120"/>
              </a:rPr>
              <a:t>01</a:t>
            </a:r>
            <a:endParaRPr lang="en-US" sz="2200" dirty="0"/>
          </a:p>
        </p:txBody>
      </p:sp>
      <p:sp>
        <p:nvSpPr>
          <p:cNvPr id="13" name="Text 11"/>
          <p:cNvSpPr/>
          <p:nvPr/>
        </p:nvSpPr>
        <p:spPr>
          <a:xfrm>
            <a:off x="1554480" y="1828800"/>
            <a:ext cx="4572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Engagement Problem</a:t>
            </a:r>
            <a:endParaRPr lang="en-US" sz="1600" dirty="0"/>
          </a:p>
        </p:txBody>
      </p:sp>
      <p:sp>
        <p:nvSpPr>
          <p:cNvPr id="14" name="Text 12"/>
          <p:cNvSpPr/>
          <p:nvPr/>
        </p:nvSpPr>
        <p:spPr>
          <a:xfrm>
            <a:off x="1554480" y="2148840"/>
            <a:ext cx="10058400" cy="32004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Why MediaWave's current data fragmentation costs business value</a:t>
            </a:r>
            <a:endParaRPr lang="en-US" sz="1200" dirty="0"/>
          </a:p>
        </p:txBody>
      </p:sp>
      <p:sp>
        <p:nvSpPr>
          <p:cNvPr id="15" name="Text 13"/>
          <p:cNvSpPr/>
          <p:nvPr/>
        </p:nvSpPr>
        <p:spPr>
          <a:xfrm>
            <a:off x="640080" y="2514600"/>
            <a:ext cx="822960" cy="457200"/>
          </a:xfrm>
          <a:prstGeom prst="rect">
            <a:avLst/>
          </a:prstGeom>
          <a:noFill/>
          <a:ln/>
        </p:spPr>
        <p:txBody>
          <a:bodyPr wrap="square" lIns="0" tIns="0" rIns="0" bIns="0" rtlCol="0" anchor="ctr"/>
          <a:lstStyle/>
          <a:p>
            <a:pPr marL="0" indent="0">
              <a:buNone/>
            </a:pPr>
            <a:r>
              <a:rPr lang="en-US" sz="2200" b="1" dirty="0">
                <a:solidFill>
                  <a:srgbClr val="3FE0E0"/>
                </a:solidFill>
                <a:latin typeface="Calibri" pitchFamily="34" charset="0"/>
                <a:ea typeface="Calibri" pitchFamily="34" charset="-122"/>
                <a:cs typeface="Calibri" pitchFamily="34" charset="-120"/>
              </a:rPr>
              <a:t>02</a:t>
            </a:r>
            <a:endParaRPr lang="en-US" sz="2200" dirty="0"/>
          </a:p>
        </p:txBody>
      </p:sp>
      <p:sp>
        <p:nvSpPr>
          <p:cNvPr id="16" name="Text 14"/>
          <p:cNvSpPr/>
          <p:nvPr/>
        </p:nvSpPr>
        <p:spPr>
          <a:xfrm>
            <a:off x="1554480" y="2514600"/>
            <a:ext cx="4572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We Found</a:t>
            </a:r>
            <a:endParaRPr lang="en-US" sz="1600" dirty="0"/>
          </a:p>
        </p:txBody>
      </p:sp>
      <p:sp>
        <p:nvSpPr>
          <p:cNvPr id="17" name="Text 15"/>
          <p:cNvSpPr/>
          <p:nvPr/>
        </p:nvSpPr>
        <p:spPr>
          <a:xfrm>
            <a:off x="1554480" y="2834640"/>
            <a:ext cx="10058400" cy="32004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Three headline findings that warrant immediate executive attention</a:t>
            </a:r>
            <a:endParaRPr lang="en-US" sz="1200" dirty="0"/>
          </a:p>
        </p:txBody>
      </p:sp>
      <p:sp>
        <p:nvSpPr>
          <p:cNvPr id="18" name="Text 16"/>
          <p:cNvSpPr/>
          <p:nvPr/>
        </p:nvSpPr>
        <p:spPr>
          <a:xfrm>
            <a:off x="640080" y="3200400"/>
            <a:ext cx="822960" cy="457200"/>
          </a:xfrm>
          <a:prstGeom prst="rect">
            <a:avLst/>
          </a:prstGeom>
          <a:noFill/>
          <a:ln/>
        </p:spPr>
        <p:txBody>
          <a:bodyPr wrap="square" lIns="0" tIns="0" rIns="0" bIns="0" rtlCol="0" anchor="ctr"/>
          <a:lstStyle/>
          <a:p>
            <a:pPr marL="0" indent="0">
              <a:buNone/>
            </a:pPr>
            <a:r>
              <a:rPr lang="en-US" sz="2200" b="1" dirty="0">
                <a:solidFill>
                  <a:srgbClr val="3FE0E0"/>
                </a:solidFill>
                <a:latin typeface="Calibri" pitchFamily="34" charset="0"/>
                <a:ea typeface="Calibri" pitchFamily="34" charset="-122"/>
                <a:cs typeface="Calibri" pitchFamily="34" charset="-120"/>
              </a:rPr>
              <a:t>03</a:t>
            </a:r>
            <a:endParaRPr lang="en-US" sz="2200" dirty="0"/>
          </a:p>
        </p:txBody>
      </p:sp>
      <p:sp>
        <p:nvSpPr>
          <p:cNvPr id="19" name="Text 17"/>
          <p:cNvSpPr/>
          <p:nvPr/>
        </p:nvSpPr>
        <p:spPr>
          <a:xfrm>
            <a:off x="1554480" y="3200400"/>
            <a:ext cx="4572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How We Built the Answer</a:t>
            </a:r>
            <a:endParaRPr lang="en-US" sz="1600" dirty="0"/>
          </a:p>
        </p:txBody>
      </p:sp>
      <p:sp>
        <p:nvSpPr>
          <p:cNvPr id="20" name="Text 18"/>
          <p:cNvSpPr/>
          <p:nvPr/>
        </p:nvSpPr>
        <p:spPr>
          <a:xfrm>
            <a:off x="1554480" y="3520440"/>
            <a:ext cx="10058400" cy="32004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Architecture, technology choices, and production readiness</a:t>
            </a:r>
            <a:endParaRPr lang="en-US" sz="1200" dirty="0"/>
          </a:p>
        </p:txBody>
      </p:sp>
      <p:sp>
        <p:nvSpPr>
          <p:cNvPr id="21" name="Text 19"/>
          <p:cNvSpPr/>
          <p:nvPr/>
        </p:nvSpPr>
        <p:spPr>
          <a:xfrm>
            <a:off x="640080" y="3886200"/>
            <a:ext cx="822960" cy="457200"/>
          </a:xfrm>
          <a:prstGeom prst="rect">
            <a:avLst/>
          </a:prstGeom>
          <a:noFill/>
          <a:ln/>
        </p:spPr>
        <p:txBody>
          <a:bodyPr wrap="square" lIns="0" tIns="0" rIns="0" bIns="0" rtlCol="0" anchor="ctr"/>
          <a:lstStyle/>
          <a:p>
            <a:pPr marL="0" indent="0">
              <a:buNone/>
            </a:pPr>
            <a:r>
              <a:rPr lang="en-US" sz="2200" b="1" dirty="0">
                <a:solidFill>
                  <a:srgbClr val="3FE0E0"/>
                </a:solidFill>
                <a:latin typeface="Calibri" pitchFamily="34" charset="0"/>
                <a:ea typeface="Calibri" pitchFamily="34" charset="-122"/>
                <a:cs typeface="Calibri" pitchFamily="34" charset="-120"/>
              </a:rPr>
              <a:t>04</a:t>
            </a:r>
            <a:endParaRPr lang="en-US" sz="2200" dirty="0"/>
          </a:p>
        </p:txBody>
      </p:sp>
      <p:sp>
        <p:nvSpPr>
          <p:cNvPr id="22" name="Text 20"/>
          <p:cNvSpPr/>
          <p:nvPr/>
        </p:nvSpPr>
        <p:spPr>
          <a:xfrm>
            <a:off x="1554480" y="3886200"/>
            <a:ext cx="4572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What the Data Reveals</a:t>
            </a:r>
            <a:endParaRPr lang="en-US" sz="1600" dirty="0"/>
          </a:p>
        </p:txBody>
      </p:sp>
      <p:sp>
        <p:nvSpPr>
          <p:cNvPr id="23" name="Text 21"/>
          <p:cNvSpPr/>
          <p:nvPr/>
        </p:nvSpPr>
        <p:spPr>
          <a:xfrm>
            <a:off x="1554480" y="4206240"/>
            <a:ext cx="10058400" cy="32004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Four specific insights with quantified business impact</a:t>
            </a:r>
            <a:endParaRPr lang="en-US" sz="1200" dirty="0"/>
          </a:p>
        </p:txBody>
      </p:sp>
      <p:sp>
        <p:nvSpPr>
          <p:cNvPr id="24" name="Text 22"/>
          <p:cNvSpPr/>
          <p:nvPr/>
        </p:nvSpPr>
        <p:spPr>
          <a:xfrm>
            <a:off x="640080" y="4572000"/>
            <a:ext cx="822960" cy="457200"/>
          </a:xfrm>
          <a:prstGeom prst="rect">
            <a:avLst/>
          </a:prstGeom>
          <a:noFill/>
          <a:ln/>
        </p:spPr>
        <p:txBody>
          <a:bodyPr wrap="square" lIns="0" tIns="0" rIns="0" bIns="0" rtlCol="0" anchor="ctr"/>
          <a:lstStyle/>
          <a:p>
            <a:pPr marL="0" indent="0">
              <a:buNone/>
            </a:pPr>
            <a:r>
              <a:rPr lang="en-US" sz="2200" b="1" dirty="0">
                <a:solidFill>
                  <a:srgbClr val="3FE0E0"/>
                </a:solidFill>
                <a:latin typeface="Calibri" pitchFamily="34" charset="0"/>
                <a:ea typeface="Calibri" pitchFamily="34" charset="-122"/>
                <a:cs typeface="Calibri" pitchFamily="34" charset="-120"/>
              </a:rPr>
              <a:t>05</a:t>
            </a:r>
            <a:endParaRPr lang="en-US" sz="2200" dirty="0"/>
          </a:p>
        </p:txBody>
      </p:sp>
      <p:sp>
        <p:nvSpPr>
          <p:cNvPr id="25" name="Text 23"/>
          <p:cNvSpPr/>
          <p:nvPr/>
        </p:nvSpPr>
        <p:spPr>
          <a:xfrm>
            <a:off x="1554480" y="4572000"/>
            <a:ext cx="4572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Recommended Actions</a:t>
            </a:r>
            <a:endParaRPr lang="en-US" sz="1600" dirty="0"/>
          </a:p>
        </p:txBody>
      </p:sp>
      <p:sp>
        <p:nvSpPr>
          <p:cNvPr id="26" name="Text 24"/>
          <p:cNvSpPr/>
          <p:nvPr/>
        </p:nvSpPr>
        <p:spPr>
          <a:xfrm>
            <a:off x="1554480" y="4892040"/>
            <a:ext cx="10058400" cy="32004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Prioritized roadmap with expected outcomes and time-to-implement</a:t>
            </a:r>
            <a:endParaRPr lang="en-US" sz="1200" dirty="0"/>
          </a:p>
        </p:txBody>
      </p:sp>
      <p:sp>
        <p:nvSpPr>
          <p:cNvPr id="27" name="Text 25"/>
          <p:cNvSpPr/>
          <p:nvPr/>
        </p:nvSpPr>
        <p:spPr>
          <a:xfrm>
            <a:off x="640080" y="5257800"/>
            <a:ext cx="822960" cy="457200"/>
          </a:xfrm>
          <a:prstGeom prst="rect">
            <a:avLst/>
          </a:prstGeom>
          <a:noFill/>
          <a:ln/>
        </p:spPr>
        <p:txBody>
          <a:bodyPr wrap="square" lIns="0" tIns="0" rIns="0" bIns="0" rtlCol="0" anchor="ctr"/>
          <a:lstStyle/>
          <a:p>
            <a:pPr marL="0" indent="0">
              <a:buNone/>
            </a:pPr>
            <a:r>
              <a:rPr lang="en-US" sz="2200" b="1" dirty="0">
                <a:solidFill>
                  <a:srgbClr val="3FE0E0"/>
                </a:solidFill>
                <a:latin typeface="Calibri" pitchFamily="34" charset="0"/>
                <a:ea typeface="Calibri" pitchFamily="34" charset="-122"/>
                <a:cs typeface="Calibri" pitchFamily="34" charset="-120"/>
              </a:rPr>
              <a:t>06</a:t>
            </a:r>
            <a:endParaRPr lang="en-US" sz="2200" dirty="0"/>
          </a:p>
        </p:txBody>
      </p:sp>
      <p:sp>
        <p:nvSpPr>
          <p:cNvPr id="28" name="Text 26"/>
          <p:cNvSpPr/>
          <p:nvPr/>
        </p:nvSpPr>
        <p:spPr>
          <a:xfrm>
            <a:off x="1554480" y="5257800"/>
            <a:ext cx="457200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Scaling the Solution</a:t>
            </a:r>
            <a:endParaRPr lang="en-US" sz="1600" dirty="0"/>
          </a:p>
        </p:txBody>
      </p:sp>
      <p:sp>
        <p:nvSpPr>
          <p:cNvPr id="29" name="Text 27"/>
          <p:cNvSpPr/>
          <p:nvPr/>
        </p:nvSpPr>
        <p:spPr>
          <a:xfrm>
            <a:off x="1554480" y="5577840"/>
            <a:ext cx="10058400" cy="32004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Path to 10× and 100× volume with cloud-equivalent services</a:t>
            </a:r>
            <a:endParaRPr lang="en-US" sz="1200" dirty="0"/>
          </a:p>
        </p:txBody>
      </p:sp>
      <p:sp>
        <p:nvSpPr>
          <p:cNvPr id="30" name="Text 28"/>
          <p:cNvSpPr/>
          <p:nvPr/>
        </p:nvSpPr>
        <p:spPr>
          <a:xfrm>
            <a:off x="11338560" y="6446520"/>
            <a:ext cx="640080" cy="274320"/>
          </a:xfrm>
          <a:prstGeom prst="rect">
            <a:avLst/>
          </a:prstGeom>
          <a:noFill/>
          <a:ln/>
        </p:spPr>
        <p:txBody>
          <a:bodyPr wrap="square" lIns="0" tIns="0" rIns="0" bIns="0" rtlCol="0" anchor="ctr"/>
          <a:lstStyle/>
          <a:p>
            <a:pPr marL="0" indent="0" algn="r">
              <a:buNone/>
            </a:pPr>
            <a:r>
              <a:rPr lang="en-US" sz="900" dirty="0">
                <a:solidFill>
                  <a:srgbClr val="7FA8AE"/>
                </a:solidFill>
                <a:latin typeface="Calibri" pitchFamily="34" charset="0"/>
                <a:ea typeface="Calibri" pitchFamily="34" charset="-122"/>
                <a:cs typeface="Calibri" pitchFamily="34" charset="-120"/>
              </a:rPr>
              <a:t>03 / 22</a:t>
            </a:r>
            <a:endParaRPr lang="en-US" sz="900" dirty="0"/>
          </a:p>
        </p:txBody>
      </p:sp>
      <p:sp>
        <p:nvSpPr>
          <p:cNvPr id="31" name="Text 29"/>
          <p:cNvSpPr/>
          <p:nvPr/>
        </p:nvSpPr>
        <p:spPr>
          <a:xfrm>
            <a:off x="365760" y="6446520"/>
            <a:ext cx="7315200" cy="274320"/>
          </a:xfrm>
          <a:prstGeom prst="rect">
            <a:avLst/>
          </a:prstGeom>
          <a:noFill/>
          <a:ln/>
        </p:spPr>
        <p:txBody>
          <a:bodyPr wrap="square" lIns="0" tIns="0" rIns="0" bIns="0" rtlCol="0" anchor="ctr"/>
          <a:lstStyle/>
          <a:p>
            <a:pPr marL="0" indent="0" algn="l">
              <a:buNone/>
            </a:pPr>
            <a:r>
              <a:rPr lang="en-US" sz="900" kern="0" spc="20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731520" y="2377440"/>
            <a:ext cx="1828800" cy="1645920"/>
          </a:xfrm>
          <a:prstGeom prst="rect">
            <a:avLst/>
          </a:prstGeom>
          <a:noFill/>
          <a:ln/>
        </p:spPr>
        <p:txBody>
          <a:bodyPr wrap="square" lIns="0" tIns="0" rIns="0" bIns="0" rtlCol="0" anchor="ctr"/>
          <a:lstStyle/>
          <a:p>
            <a:pPr marL="0" indent="0" algn="l">
              <a:buNone/>
            </a:pPr>
            <a:r>
              <a:rPr lang="en-US" sz="10000" b="1" dirty="0">
                <a:solidFill>
                  <a:srgbClr val="FFFFFF"/>
                </a:solidFill>
                <a:latin typeface="Calibri" pitchFamily="34" charset="0"/>
                <a:ea typeface="Calibri" pitchFamily="34" charset="-122"/>
                <a:cs typeface="Calibri" pitchFamily="34" charset="-120"/>
              </a:rPr>
              <a:t>01</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txBody>
          <a:bodyPr/>
          <a:lstStyle/>
          <a:p>
            <a:endParaRPr lang="en-US"/>
          </a:p>
        </p:txBody>
      </p:sp>
      <p:sp>
        <p:nvSpPr>
          <p:cNvPr id="11" name="Text 9"/>
          <p:cNvSpPr/>
          <p:nvPr/>
        </p:nvSpPr>
        <p:spPr>
          <a:xfrm>
            <a:off x="2926080" y="2468880"/>
            <a:ext cx="7772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Engagement Problem</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marL="0" indent="0">
              <a:buNone/>
            </a:pPr>
            <a:r>
              <a:rPr lang="en-US" sz="1600" i="1" kern="0" spc="200" dirty="0">
                <a:solidFill>
                  <a:srgbClr val="3FE0E0"/>
                </a:solidFill>
                <a:latin typeface="Calibri" pitchFamily="34" charset="0"/>
                <a:ea typeface="Calibri" pitchFamily="34" charset="-122"/>
                <a:cs typeface="Calibri" pitchFamily="34" charset="-120"/>
              </a:rPr>
              <a:t>WHY MEDIAWAVE NEEDS A UNIFIED DATA PLATFORM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Five data sources. The questions they should answer cross every boundary.</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i="1" kern="0" spc="100" dirty="0">
                <a:solidFill>
                  <a:srgbClr val="3FE0E0"/>
                </a:solidFill>
                <a:latin typeface="Calibri" pitchFamily="34" charset="0"/>
                <a:ea typeface="Calibri" pitchFamily="34" charset="-122"/>
                <a:cs typeface="Calibri" pitchFamily="34" charset="-120"/>
              </a:rPr>
              <a:t>MediaWave's current data architecture forces analysts to ignore connections that matter most</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endParaRPr lang="en-US"/>
          </a:p>
        </p:txBody>
      </p:sp>
      <p:sp>
        <p:nvSpPr>
          <p:cNvPr id="12" name="Text 10"/>
          <p:cNvSpPr/>
          <p:nvPr/>
        </p:nvSpPr>
        <p:spPr>
          <a:xfrm>
            <a:off x="457200" y="1691640"/>
            <a:ext cx="5029200" cy="274320"/>
          </a:xfrm>
          <a:prstGeom prst="rect">
            <a:avLst/>
          </a:prstGeom>
          <a:noFill/>
          <a:ln/>
        </p:spPr>
        <p:txBody>
          <a:bodyPr wrap="square" lIns="0" tIns="0" rIns="0" bIns="0" rtlCol="0" anchor="ctr"/>
          <a:lstStyle/>
          <a:p>
            <a:pPr marL="0" indent="0">
              <a:buNone/>
            </a:pPr>
            <a:r>
              <a:rPr lang="en-US" sz="1100" kern="0" spc="300" dirty="0">
                <a:solidFill>
                  <a:srgbClr val="3FE0E0"/>
                </a:solidFill>
                <a:latin typeface="Calibri" pitchFamily="34" charset="0"/>
                <a:ea typeface="Calibri" pitchFamily="34" charset="-122"/>
                <a:cs typeface="Calibri" pitchFamily="34" charset="-120"/>
              </a:rPr>
              <a:t>DATA SOURCES TODAY</a:t>
            </a:r>
            <a:endParaRPr lang="en-US" sz="1100" dirty="0"/>
          </a:p>
        </p:txBody>
      </p:sp>
      <p:sp>
        <p:nvSpPr>
          <p:cNvPr id="13" name="Shape 11"/>
          <p:cNvSpPr/>
          <p:nvPr/>
        </p:nvSpPr>
        <p:spPr>
          <a:xfrm>
            <a:off x="457200" y="2057400"/>
            <a:ext cx="5029200" cy="411480"/>
          </a:xfrm>
          <a:prstGeom prst="rect">
            <a:avLst/>
          </a:prstGeom>
          <a:solidFill>
            <a:srgbClr val="0A4250"/>
          </a:solidFill>
          <a:ln w="12700">
            <a:solidFill>
              <a:srgbClr val="1E5A6B"/>
            </a:solidFill>
            <a:prstDash val="solid"/>
          </a:ln>
        </p:spPr>
        <p:txBody>
          <a:bodyPr/>
          <a:lstStyle/>
          <a:p>
            <a:endParaRPr lang="en-US"/>
          </a:p>
        </p:txBody>
      </p:sp>
      <p:sp>
        <p:nvSpPr>
          <p:cNvPr id="14" name="Text 12"/>
          <p:cNvSpPr/>
          <p:nvPr/>
        </p:nvSpPr>
        <p:spPr>
          <a:xfrm>
            <a:off x="640080" y="2057400"/>
            <a:ext cx="4846320" cy="41148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user-profiles.csv.gz</a:t>
            </a:r>
            <a:endParaRPr lang="en-US" sz="1300" dirty="0"/>
          </a:p>
        </p:txBody>
      </p:sp>
      <p:sp>
        <p:nvSpPr>
          <p:cNvPr id="15" name="Shape 13"/>
          <p:cNvSpPr/>
          <p:nvPr/>
        </p:nvSpPr>
        <p:spPr>
          <a:xfrm>
            <a:off x="457200" y="2560320"/>
            <a:ext cx="5029200" cy="411480"/>
          </a:xfrm>
          <a:prstGeom prst="rect">
            <a:avLst/>
          </a:prstGeom>
          <a:solidFill>
            <a:srgbClr val="0A4250"/>
          </a:solidFill>
          <a:ln w="12700">
            <a:solidFill>
              <a:srgbClr val="1E5A6B"/>
            </a:solidFill>
            <a:prstDash val="solid"/>
          </a:ln>
        </p:spPr>
        <p:txBody>
          <a:bodyPr/>
          <a:lstStyle/>
          <a:p>
            <a:endParaRPr lang="en-US"/>
          </a:p>
        </p:txBody>
      </p:sp>
      <p:sp>
        <p:nvSpPr>
          <p:cNvPr id="16" name="Text 14"/>
          <p:cNvSpPr/>
          <p:nvPr/>
        </p:nvSpPr>
        <p:spPr>
          <a:xfrm>
            <a:off x="640080" y="2560320"/>
            <a:ext cx="4846320" cy="41148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viewing-history.csv.gz</a:t>
            </a:r>
            <a:endParaRPr lang="en-US" sz="1300" dirty="0"/>
          </a:p>
        </p:txBody>
      </p:sp>
      <p:sp>
        <p:nvSpPr>
          <p:cNvPr id="17" name="Shape 15"/>
          <p:cNvSpPr/>
          <p:nvPr/>
        </p:nvSpPr>
        <p:spPr>
          <a:xfrm>
            <a:off x="457200" y="3063240"/>
            <a:ext cx="5029200" cy="411480"/>
          </a:xfrm>
          <a:prstGeom prst="rect">
            <a:avLst/>
          </a:prstGeom>
          <a:solidFill>
            <a:srgbClr val="0A4250"/>
          </a:solidFill>
          <a:ln w="12700">
            <a:solidFill>
              <a:srgbClr val="1E5A6B"/>
            </a:solidFill>
            <a:prstDash val="solid"/>
          </a:ln>
        </p:spPr>
        <p:txBody>
          <a:bodyPr/>
          <a:lstStyle/>
          <a:p>
            <a:endParaRPr lang="en-US"/>
          </a:p>
        </p:txBody>
      </p:sp>
      <p:sp>
        <p:nvSpPr>
          <p:cNvPr id="18" name="Text 16"/>
          <p:cNvSpPr/>
          <p:nvPr/>
        </p:nvSpPr>
        <p:spPr>
          <a:xfrm>
            <a:off x="640080" y="3063240"/>
            <a:ext cx="4846320" cy="41148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content-catalog.json.gz</a:t>
            </a:r>
            <a:endParaRPr lang="en-US" sz="1300" dirty="0"/>
          </a:p>
        </p:txBody>
      </p:sp>
      <p:sp>
        <p:nvSpPr>
          <p:cNvPr id="19" name="Shape 17"/>
          <p:cNvSpPr/>
          <p:nvPr/>
        </p:nvSpPr>
        <p:spPr>
          <a:xfrm>
            <a:off x="457200" y="3566160"/>
            <a:ext cx="5029200" cy="411480"/>
          </a:xfrm>
          <a:prstGeom prst="rect">
            <a:avLst/>
          </a:prstGeom>
          <a:solidFill>
            <a:srgbClr val="0A4250"/>
          </a:solidFill>
          <a:ln w="12700">
            <a:solidFill>
              <a:srgbClr val="1E5A6B"/>
            </a:solidFill>
            <a:prstDash val="solid"/>
          </a:ln>
        </p:spPr>
        <p:txBody>
          <a:bodyPr/>
          <a:lstStyle/>
          <a:p>
            <a:endParaRPr lang="en-US"/>
          </a:p>
        </p:txBody>
      </p:sp>
      <p:sp>
        <p:nvSpPr>
          <p:cNvPr id="20" name="Text 18"/>
          <p:cNvSpPr/>
          <p:nvPr/>
        </p:nvSpPr>
        <p:spPr>
          <a:xfrm>
            <a:off x="640080" y="3566160"/>
            <a:ext cx="4846320" cy="41148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user-interactions.json.gz</a:t>
            </a:r>
            <a:endParaRPr lang="en-US" sz="1300" dirty="0"/>
          </a:p>
        </p:txBody>
      </p:sp>
      <p:sp>
        <p:nvSpPr>
          <p:cNvPr id="21" name="Shape 19"/>
          <p:cNvSpPr/>
          <p:nvPr/>
        </p:nvSpPr>
        <p:spPr>
          <a:xfrm>
            <a:off x="457200" y="4069080"/>
            <a:ext cx="5029200" cy="411480"/>
          </a:xfrm>
          <a:prstGeom prst="rect">
            <a:avLst/>
          </a:prstGeom>
          <a:solidFill>
            <a:srgbClr val="0A4250"/>
          </a:solidFill>
          <a:ln w="12700">
            <a:solidFill>
              <a:srgbClr val="1E5A6B"/>
            </a:solidFill>
            <a:prstDash val="solid"/>
          </a:ln>
        </p:spPr>
        <p:txBody>
          <a:bodyPr/>
          <a:lstStyle/>
          <a:p>
            <a:endParaRPr lang="en-US"/>
          </a:p>
        </p:txBody>
      </p:sp>
      <p:sp>
        <p:nvSpPr>
          <p:cNvPr id="22" name="Text 20"/>
          <p:cNvSpPr/>
          <p:nvPr/>
        </p:nvSpPr>
        <p:spPr>
          <a:xfrm>
            <a:off x="640080" y="4069080"/>
            <a:ext cx="4846320" cy="411480"/>
          </a:xfrm>
          <a:prstGeom prst="rect">
            <a:avLst/>
          </a:prstGeom>
          <a:noFill/>
          <a:ln/>
        </p:spPr>
        <p:txBody>
          <a:bodyPr wrap="square" lIns="0" tIns="0" rIns="0" bIns="0" rtlCol="0" anchor="ctr"/>
          <a:lstStyle/>
          <a:p>
            <a:pPr marL="0" indent="0">
              <a:buNone/>
            </a:pPr>
            <a:r>
              <a:rPr lang="en-US" sz="1300" dirty="0">
                <a:solidFill>
                  <a:srgbClr val="FFFFFF"/>
                </a:solidFill>
                <a:latin typeface="Consolas" pitchFamily="34" charset="0"/>
                <a:ea typeface="Consolas" pitchFamily="34" charset="-122"/>
                <a:cs typeface="Consolas" pitchFamily="34" charset="-120"/>
              </a:rPr>
              <a:t>streaming-quality.csv.gz</a:t>
            </a:r>
            <a:endParaRPr lang="en-US" sz="1300" dirty="0"/>
          </a:p>
        </p:txBody>
      </p:sp>
      <p:sp>
        <p:nvSpPr>
          <p:cNvPr id="23" name="Text 21"/>
          <p:cNvSpPr/>
          <p:nvPr/>
        </p:nvSpPr>
        <p:spPr>
          <a:xfrm>
            <a:off x="6126480" y="1691640"/>
            <a:ext cx="5486400" cy="274320"/>
          </a:xfrm>
          <a:prstGeom prst="rect">
            <a:avLst/>
          </a:prstGeom>
          <a:noFill/>
          <a:ln/>
        </p:spPr>
        <p:txBody>
          <a:bodyPr wrap="square" lIns="0" tIns="0" rIns="0" bIns="0" rtlCol="0" anchor="ctr"/>
          <a:lstStyle/>
          <a:p>
            <a:pPr marL="0" indent="0">
              <a:buNone/>
            </a:pPr>
            <a:r>
              <a:rPr lang="en-US" sz="1100" kern="0" spc="300" dirty="0">
                <a:solidFill>
                  <a:srgbClr val="3FE0E0"/>
                </a:solidFill>
                <a:latin typeface="Calibri" pitchFamily="34" charset="0"/>
                <a:ea typeface="Calibri" pitchFamily="34" charset="-122"/>
                <a:cs typeface="Calibri" pitchFamily="34" charset="-120"/>
              </a:rPr>
              <a:t>QUESTIONS THAT GO UNANSWERED</a:t>
            </a:r>
            <a:endParaRPr lang="en-US" sz="1100" dirty="0"/>
          </a:p>
        </p:txBody>
      </p:sp>
      <p:sp>
        <p:nvSpPr>
          <p:cNvPr id="24" name="Shape 22"/>
          <p:cNvSpPr/>
          <p:nvPr/>
        </p:nvSpPr>
        <p:spPr>
          <a:xfrm>
            <a:off x="6126480" y="2057400"/>
            <a:ext cx="5486400" cy="868680"/>
          </a:xfrm>
          <a:prstGeom prst="rect">
            <a:avLst/>
          </a:prstGeom>
          <a:solidFill>
            <a:srgbClr val="0A4250"/>
          </a:solidFill>
          <a:ln w="12700">
            <a:solidFill>
              <a:srgbClr val="1E5A6B"/>
            </a:solidFill>
            <a:prstDash val="solid"/>
          </a:ln>
        </p:spPr>
        <p:txBody>
          <a:bodyPr/>
          <a:lstStyle/>
          <a:p>
            <a:endParaRPr lang="en-US"/>
          </a:p>
        </p:txBody>
      </p:sp>
      <p:sp>
        <p:nvSpPr>
          <p:cNvPr id="25" name="Shape 23"/>
          <p:cNvSpPr/>
          <p:nvPr/>
        </p:nvSpPr>
        <p:spPr>
          <a:xfrm>
            <a:off x="6126480" y="2057400"/>
            <a:ext cx="73152" cy="868680"/>
          </a:xfrm>
          <a:prstGeom prst="rect">
            <a:avLst/>
          </a:prstGeom>
          <a:solidFill>
            <a:srgbClr val="E8654A"/>
          </a:solidFill>
          <a:ln w="12700">
            <a:solidFill>
              <a:srgbClr val="E8654A"/>
            </a:solidFill>
            <a:prstDash val="solid"/>
          </a:ln>
        </p:spPr>
        <p:txBody>
          <a:bodyPr/>
          <a:lstStyle/>
          <a:p>
            <a:endParaRPr lang="en-US"/>
          </a:p>
        </p:txBody>
      </p:sp>
      <p:sp>
        <p:nvSpPr>
          <p:cNvPr id="26" name="Text 24"/>
          <p:cNvSpPr/>
          <p:nvPr/>
        </p:nvSpPr>
        <p:spPr>
          <a:xfrm>
            <a:off x="6355080" y="2103120"/>
            <a:ext cx="5212080" cy="4572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"Which titles cost more in licensing than they earn in viewing hours?"</a:t>
            </a:r>
            <a:endParaRPr lang="en-US" sz="1300" dirty="0"/>
          </a:p>
        </p:txBody>
      </p:sp>
      <p:sp>
        <p:nvSpPr>
          <p:cNvPr id="27" name="Text 25"/>
          <p:cNvSpPr/>
          <p:nvPr/>
        </p:nvSpPr>
        <p:spPr>
          <a:xfrm>
            <a:off x="6355080" y="2606040"/>
            <a:ext cx="5212080" cy="274320"/>
          </a:xfrm>
          <a:prstGeom prst="rect">
            <a:avLst/>
          </a:prstGeom>
          <a:noFill/>
          <a:ln/>
        </p:spPr>
        <p:txBody>
          <a:bodyPr wrap="square" lIns="0" tIns="0" rIns="0" bIns="0" rtlCol="0" anchor="ctr"/>
          <a:lstStyle/>
          <a:p>
            <a:pPr marL="0" indent="0">
              <a:buNone/>
            </a:pPr>
            <a:r>
              <a:rPr lang="en-US" sz="1000" kern="0" spc="200" dirty="0">
                <a:solidFill>
                  <a:srgbClr val="E8654A"/>
                </a:solidFill>
                <a:latin typeface="Calibri" pitchFamily="34" charset="0"/>
                <a:ea typeface="Calibri" pitchFamily="34" charset="-122"/>
                <a:cs typeface="Calibri" pitchFamily="34" charset="-120"/>
              </a:rPr>
              <a:t>BUSINESS RISK · Annual content waste</a:t>
            </a:r>
            <a:endParaRPr lang="en-US" sz="1000" dirty="0"/>
          </a:p>
        </p:txBody>
      </p:sp>
      <p:sp>
        <p:nvSpPr>
          <p:cNvPr id="28" name="Shape 26"/>
          <p:cNvSpPr/>
          <p:nvPr/>
        </p:nvSpPr>
        <p:spPr>
          <a:xfrm>
            <a:off x="6126480" y="3063240"/>
            <a:ext cx="5486400" cy="868680"/>
          </a:xfrm>
          <a:prstGeom prst="rect">
            <a:avLst/>
          </a:prstGeom>
          <a:solidFill>
            <a:srgbClr val="0A4250"/>
          </a:solidFill>
          <a:ln w="12700">
            <a:solidFill>
              <a:srgbClr val="1E5A6B"/>
            </a:solidFill>
            <a:prstDash val="solid"/>
          </a:ln>
        </p:spPr>
        <p:txBody>
          <a:bodyPr/>
          <a:lstStyle/>
          <a:p>
            <a:endParaRPr lang="en-US"/>
          </a:p>
        </p:txBody>
      </p:sp>
      <p:sp>
        <p:nvSpPr>
          <p:cNvPr id="29" name="Shape 27"/>
          <p:cNvSpPr/>
          <p:nvPr/>
        </p:nvSpPr>
        <p:spPr>
          <a:xfrm>
            <a:off x="6126480" y="3063240"/>
            <a:ext cx="73152" cy="868680"/>
          </a:xfrm>
          <a:prstGeom prst="rect">
            <a:avLst/>
          </a:prstGeom>
          <a:solidFill>
            <a:srgbClr val="E8654A"/>
          </a:solidFill>
          <a:ln w="12700">
            <a:solidFill>
              <a:srgbClr val="E8654A"/>
            </a:solidFill>
            <a:prstDash val="solid"/>
          </a:ln>
        </p:spPr>
        <p:txBody>
          <a:bodyPr/>
          <a:lstStyle/>
          <a:p>
            <a:endParaRPr lang="en-US"/>
          </a:p>
        </p:txBody>
      </p:sp>
      <p:sp>
        <p:nvSpPr>
          <p:cNvPr id="30" name="Text 28"/>
          <p:cNvSpPr/>
          <p:nvPr/>
        </p:nvSpPr>
        <p:spPr>
          <a:xfrm>
            <a:off x="6355080" y="3108960"/>
            <a:ext cx="5212080" cy="4572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"Does buffering rate predict cancellation among Premium users?"</a:t>
            </a:r>
            <a:endParaRPr lang="en-US" sz="1300" dirty="0"/>
          </a:p>
        </p:txBody>
      </p:sp>
      <p:sp>
        <p:nvSpPr>
          <p:cNvPr id="31" name="Text 29"/>
          <p:cNvSpPr/>
          <p:nvPr/>
        </p:nvSpPr>
        <p:spPr>
          <a:xfrm>
            <a:off x="6355080" y="3611880"/>
            <a:ext cx="5212080" cy="274320"/>
          </a:xfrm>
          <a:prstGeom prst="rect">
            <a:avLst/>
          </a:prstGeom>
          <a:noFill/>
          <a:ln/>
        </p:spPr>
        <p:txBody>
          <a:bodyPr wrap="square" lIns="0" tIns="0" rIns="0" bIns="0" rtlCol="0" anchor="ctr"/>
          <a:lstStyle/>
          <a:p>
            <a:pPr marL="0" indent="0">
              <a:buNone/>
            </a:pPr>
            <a:r>
              <a:rPr lang="en-US" sz="1000" kern="0" spc="200" dirty="0">
                <a:solidFill>
                  <a:srgbClr val="E8654A"/>
                </a:solidFill>
                <a:latin typeface="Calibri" pitchFamily="34" charset="0"/>
                <a:ea typeface="Calibri" pitchFamily="34" charset="-122"/>
                <a:cs typeface="Calibri" pitchFamily="34" charset="-120"/>
              </a:rPr>
              <a:t>BUSINESS RISK · Avoidable churn</a:t>
            </a:r>
            <a:endParaRPr lang="en-US" sz="1000" dirty="0"/>
          </a:p>
        </p:txBody>
      </p:sp>
      <p:sp>
        <p:nvSpPr>
          <p:cNvPr id="32" name="Shape 30"/>
          <p:cNvSpPr/>
          <p:nvPr/>
        </p:nvSpPr>
        <p:spPr>
          <a:xfrm>
            <a:off x="6126480" y="4069080"/>
            <a:ext cx="5486400" cy="868680"/>
          </a:xfrm>
          <a:prstGeom prst="rect">
            <a:avLst/>
          </a:prstGeom>
          <a:solidFill>
            <a:srgbClr val="0A4250"/>
          </a:solidFill>
          <a:ln w="12700">
            <a:solidFill>
              <a:srgbClr val="1E5A6B"/>
            </a:solidFill>
            <a:prstDash val="solid"/>
          </a:ln>
        </p:spPr>
        <p:txBody>
          <a:bodyPr/>
          <a:lstStyle/>
          <a:p>
            <a:endParaRPr lang="en-US"/>
          </a:p>
        </p:txBody>
      </p:sp>
      <p:sp>
        <p:nvSpPr>
          <p:cNvPr id="33" name="Shape 31"/>
          <p:cNvSpPr/>
          <p:nvPr/>
        </p:nvSpPr>
        <p:spPr>
          <a:xfrm>
            <a:off x="6126480" y="4069080"/>
            <a:ext cx="73152" cy="868680"/>
          </a:xfrm>
          <a:prstGeom prst="rect">
            <a:avLst/>
          </a:prstGeom>
          <a:solidFill>
            <a:srgbClr val="E8654A"/>
          </a:solidFill>
          <a:ln w="12700">
            <a:solidFill>
              <a:srgbClr val="E8654A"/>
            </a:solidFill>
            <a:prstDash val="solid"/>
          </a:ln>
        </p:spPr>
        <p:txBody>
          <a:bodyPr/>
          <a:lstStyle/>
          <a:p>
            <a:endParaRPr lang="en-US"/>
          </a:p>
        </p:txBody>
      </p:sp>
      <p:sp>
        <p:nvSpPr>
          <p:cNvPr id="34" name="Text 32"/>
          <p:cNvSpPr/>
          <p:nvPr/>
        </p:nvSpPr>
        <p:spPr>
          <a:xfrm>
            <a:off x="6355080" y="4114800"/>
            <a:ext cx="5212080" cy="45720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"Which engagement signals appear before a user disengages?"</a:t>
            </a:r>
            <a:endParaRPr lang="en-US" sz="1300" dirty="0"/>
          </a:p>
        </p:txBody>
      </p:sp>
      <p:sp>
        <p:nvSpPr>
          <p:cNvPr id="35" name="Text 33"/>
          <p:cNvSpPr/>
          <p:nvPr/>
        </p:nvSpPr>
        <p:spPr>
          <a:xfrm>
            <a:off x="6355080" y="4617720"/>
            <a:ext cx="5212080" cy="274320"/>
          </a:xfrm>
          <a:prstGeom prst="rect">
            <a:avLst/>
          </a:prstGeom>
          <a:noFill/>
          <a:ln/>
        </p:spPr>
        <p:txBody>
          <a:bodyPr wrap="square" lIns="0" tIns="0" rIns="0" bIns="0" rtlCol="0" anchor="ctr"/>
          <a:lstStyle/>
          <a:p>
            <a:pPr marL="0" indent="0">
              <a:buNone/>
            </a:pPr>
            <a:r>
              <a:rPr lang="en-US" sz="1000" kern="0" spc="200" dirty="0">
                <a:solidFill>
                  <a:srgbClr val="E8654A"/>
                </a:solidFill>
                <a:latin typeface="Calibri" pitchFamily="34" charset="0"/>
                <a:ea typeface="Calibri" pitchFamily="34" charset="-122"/>
                <a:cs typeface="Calibri" pitchFamily="34" charset="-120"/>
              </a:rPr>
              <a:t>BUSINESS RISK · Late retention response</a:t>
            </a:r>
            <a:endParaRPr lang="en-US" sz="1000" dirty="0"/>
          </a:p>
        </p:txBody>
      </p:sp>
      <p:sp>
        <p:nvSpPr>
          <p:cNvPr id="36" name="Shape 34"/>
          <p:cNvSpPr/>
          <p:nvPr/>
        </p:nvSpPr>
        <p:spPr>
          <a:xfrm>
            <a:off x="457200" y="5440680"/>
            <a:ext cx="11247120" cy="640080"/>
          </a:xfrm>
          <a:prstGeom prst="rect">
            <a:avLst/>
          </a:prstGeom>
          <a:solidFill>
            <a:srgbClr val="0A4250"/>
          </a:solidFill>
          <a:ln w="25400">
            <a:solidFill>
              <a:srgbClr val="3FE0E0"/>
            </a:solidFill>
            <a:prstDash val="solid"/>
          </a:ln>
        </p:spPr>
        <p:txBody>
          <a:bodyPr/>
          <a:lstStyle/>
          <a:p>
            <a:endParaRPr lang="en-US"/>
          </a:p>
        </p:txBody>
      </p:sp>
      <p:sp>
        <p:nvSpPr>
          <p:cNvPr id="37" name="Text 35"/>
          <p:cNvSpPr/>
          <p:nvPr/>
        </p:nvSpPr>
        <p:spPr>
          <a:xfrm>
            <a:off x="640080" y="5440680"/>
            <a:ext cx="10881360" cy="6400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MediaWave is not data-poor. It is integration-poor. Every cross-source question represents a recurring blind spot.</a:t>
            </a:r>
            <a:endParaRPr lang="en-US" sz="1400" dirty="0"/>
          </a:p>
        </p:txBody>
      </p:sp>
      <p:sp>
        <p:nvSpPr>
          <p:cNvPr id="38" name="Text 36"/>
          <p:cNvSpPr/>
          <p:nvPr/>
        </p:nvSpPr>
        <p:spPr>
          <a:xfrm>
            <a:off x="11338560" y="6446520"/>
            <a:ext cx="640080" cy="274320"/>
          </a:xfrm>
          <a:prstGeom prst="rect">
            <a:avLst/>
          </a:prstGeom>
          <a:noFill/>
          <a:ln/>
        </p:spPr>
        <p:txBody>
          <a:bodyPr wrap="square" lIns="0" tIns="0" rIns="0" bIns="0" rtlCol="0" anchor="ctr"/>
          <a:lstStyle/>
          <a:p>
            <a:pPr marL="0" indent="0" algn="r">
              <a:buNone/>
            </a:pPr>
            <a:r>
              <a:rPr lang="en-US" sz="900" dirty="0">
                <a:solidFill>
                  <a:srgbClr val="7FA8AE"/>
                </a:solidFill>
                <a:latin typeface="Calibri" pitchFamily="34" charset="0"/>
                <a:ea typeface="Calibri" pitchFamily="34" charset="-122"/>
                <a:cs typeface="Calibri" pitchFamily="34" charset="-120"/>
              </a:rPr>
              <a:t>05 / 22</a:t>
            </a:r>
            <a:endParaRPr lang="en-US" sz="900" dirty="0"/>
          </a:p>
        </p:txBody>
      </p:sp>
      <p:sp>
        <p:nvSpPr>
          <p:cNvPr id="39" name="Text 37"/>
          <p:cNvSpPr/>
          <p:nvPr/>
        </p:nvSpPr>
        <p:spPr>
          <a:xfrm>
            <a:off x="365760" y="6446520"/>
            <a:ext cx="7315200" cy="274320"/>
          </a:xfrm>
          <a:prstGeom prst="rect">
            <a:avLst/>
          </a:prstGeom>
          <a:noFill/>
          <a:ln/>
        </p:spPr>
        <p:txBody>
          <a:bodyPr wrap="square" lIns="0" tIns="0" rIns="0" bIns="0" rtlCol="0" anchor="ctr"/>
          <a:lstStyle/>
          <a:p>
            <a:pPr marL="0" indent="0" algn="l">
              <a:buNone/>
            </a:pPr>
            <a:r>
              <a:rPr lang="en-US" sz="900" kern="0" spc="20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731520" y="2377440"/>
            <a:ext cx="1828800" cy="1645920"/>
          </a:xfrm>
          <a:prstGeom prst="rect">
            <a:avLst/>
          </a:prstGeom>
          <a:noFill/>
          <a:ln/>
        </p:spPr>
        <p:txBody>
          <a:bodyPr wrap="square" lIns="0" tIns="0" rIns="0" bIns="0" rtlCol="0" anchor="ctr"/>
          <a:lstStyle/>
          <a:p>
            <a:pPr marL="0" indent="0" algn="l">
              <a:buNone/>
            </a:pPr>
            <a:r>
              <a:rPr lang="en-US" sz="10000" b="1" dirty="0">
                <a:solidFill>
                  <a:srgbClr val="FFFFFF"/>
                </a:solidFill>
                <a:latin typeface="Calibri" pitchFamily="34" charset="0"/>
                <a:ea typeface="Calibri" pitchFamily="34" charset="-122"/>
                <a:cs typeface="Calibri" pitchFamily="34" charset="-120"/>
              </a:rPr>
              <a:t>02</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txBody>
          <a:bodyPr/>
          <a:lstStyle/>
          <a:p>
            <a:endParaRPr lang="en-US"/>
          </a:p>
        </p:txBody>
      </p:sp>
      <p:sp>
        <p:nvSpPr>
          <p:cNvPr id="11" name="Text 9"/>
          <p:cNvSpPr/>
          <p:nvPr/>
        </p:nvSpPr>
        <p:spPr>
          <a:xfrm>
            <a:off x="2926080" y="2468880"/>
            <a:ext cx="7772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What We Found</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marL="0" indent="0">
              <a:buNone/>
            </a:pPr>
            <a:r>
              <a:rPr lang="en-US" sz="1600" i="1" kern="0" spc="200" dirty="0">
                <a:solidFill>
                  <a:srgbClr val="3FE0E0"/>
                </a:solidFill>
                <a:latin typeface="Calibri" pitchFamily="34" charset="0"/>
                <a:ea typeface="Calibri" pitchFamily="34" charset="-122"/>
                <a:cs typeface="Calibri" pitchFamily="34" charset="-120"/>
              </a:rPr>
              <a:t>THREE FINDINGS THAT WARRANT IMMEDIATE ATTENTION</a:t>
            </a:r>
            <a:endParaRPr lang="en-US" sz="1600" dirty="0"/>
          </a:p>
        </p:txBody>
      </p:sp>
    </p:spTree>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Three findings. Two confirm hypotheses. One contradicts it.</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Findings derived from MediaWave's full dataset of 200K users and 20K titles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1828800"/>
            <a:ext cx="3703320" cy="425196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1828800"/>
            <a:ext cx="73152" cy="4251960"/>
          </a:xfrm>
          <a:prstGeom prst="rect">
            <a:avLst/>
          </a:prstGeom>
          <a:solidFill>
            <a:srgbClr val="3FE0E0"/>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731520" y="1965960"/>
            <a:ext cx="33832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3FE0E0"/>
                </a:solidFill>
                <a:effectLst/>
                <a:uLnTx/>
                <a:uFillTx/>
                <a:latin typeface="Calibri" pitchFamily="34" charset="0"/>
                <a:ea typeface="Calibri" pitchFamily="34" charset="-122"/>
                <a:cs typeface="Calibri" pitchFamily="34" charset="-120"/>
              </a:rPr>
              <a:t>CONTENT ROI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31520" y="2331720"/>
            <a:ext cx="338328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73%</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31520" y="3520440"/>
            <a:ext cx="338328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of catalog cost sits in titles whose ROI falls below the median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731520" y="452628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731520" y="4663440"/>
            <a:ext cx="338328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The bottom decile of titles drives $3.13B in annual license cost — a 860× variance separates the worst-ROI and best-ROI titles in the catalog.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4361688" y="1828800"/>
            <a:ext cx="3703320" cy="425196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4361688" y="1828800"/>
            <a:ext cx="73152" cy="4251960"/>
          </a:xfrm>
          <a:prstGeom prst="rect">
            <a:avLst/>
          </a:prstGeom>
          <a:solidFill>
            <a:srgbClr val="F0A23E"/>
          </a:solidFill>
          <a:ln w="1270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4636008" y="1965960"/>
            <a:ext cx="33832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F0A23E"/>
                </a:solidFill>
                <a:effectLst/>
                <a:uLnTx/>
                <a:uFillTx/>
                <a:latin typeface="Calibri" pitchFamily="34" charset="0"/>
                <a:ea typeface="Calibri" pitchFamily="34" charset="-122"/>
                <a:cs typeface="Calibri" pitchFamily="34" charset="-120"/>
              </a:rPr>
              <a:t>ENGAGEMENT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636008" y="2331720"/>
            <a:ext cx="338328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&lt;1 pp</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636008" y="3520440"/>
            <a:ext cx="338328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completion-rate spread across all three plan tiers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636008" y="4526280"/>
            <a:ext cx="914400" cy="0"/>
          </a:xfrm>
          <a:prstGeom prst="line">
            <a:avLst/>
          </a:prstGeom>
          <a:noFill/>
          <a:ln w="2540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4636008" y="4663440"/>
            <a:ext cx="338328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Engagement is virtually tier-agnostic: Basic 52.8%, Standard 52.6%, Premium 52.9%. Counter to common assumption — recommendation tuning should target title-level signals, not subscriber tier.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8266176" y="1828800"/>
            <a:ext cx="3703320" cy="425196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5"/>
          <p:cNvSpPr/>
          <p:nvPr/>
        </p:nvSpPr>
        <p:spPr>
          <a:xfrm>
            <a:off x="8266176" y="1828800"/>
            <a:ext cx="73152" cy="4251960"/>
          </a:xfrm>
          <a:prstGeom prst="rect">
            <a:avLst/>
          </a:prstGeom>
          <a:solidFill>
            <a:srgbClr val="E8654A"/>
          </a:solidFill>
          <a:ln w="12700">
            <a:solidFill>
              <a:srgbClr val="E865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8540496" y="1965960"/>
            <a:ext cx="33832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E8654A"/>
                </a:solidFill>
                <a:effectLst/>
                <a:uLnTx/>
                <a:uFillTx/>
                <a:latin typeface="Calibri" pitchFamily="34" charset="0"/>
                <a:ea typeface="Calibri" pitchFamily="34" charset="-122"/>
                <a:cs typeface="Calibri" pitchFamily="34" charset="-120"/>
              </a:rPr>
              <a:t>RETENTION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8540496" y="2331720"/>
            <a:ext cx="338328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42%</a:t>
            </a:r>
            <a:endParaRPr kumimoji="0" lang="en-US" sz="5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8540496" y="3520440"/>
            <a:ext cx="338328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lower monthly hours watched among users who churned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8540496" y="4526280"/>
            <a:ext cx="914400" cy="0"/>
          </a:xfrm>
          <a:prstGeom prst="line">
            <a:avLst/>
          </a:prstGeom>
          <a:noFill/>
          <a:ln w="25400">
            <a:solidFill>
              <a:srgbClr val="E865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8540496" y="4663440"/>
            <a:ext cx="338328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Retained users average 26.4 hours per month; churned users 15.2. Total engagement volume is the dominant churn precursor — far stronger than buffering or completion signals.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07 / 22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731520" y="2377440"/>
            <a:ext cx="1828800" cy="1645920"/>
          </a:xfrm>
          <a:prstGeom prst="rect">
            <a:avLst/>
          </a:prstGeom>
          <a:noFill/>
          <a:ln/>
        </p:spPr>
        <p:txBody>
          <a:bodyPr wrap="square" lIns="0" tIns="0" rIns="0" bIns="0" rtlCol="0" anchor="ctr"/>
          <a:lstStyle/>
          <a:p>
            <a:pPr marL="0" indent="0" algn="l">
              <a:buNone/>
            </a:pPr>
            <a:r>
              <a:rPr lang="en-US" sz="10000" b="1" dirty="0">
                <a:solidFill>
                  <a:srgbClr val="FFFFFF"/>
                </a:solidFill>
                <a:latin typeface="Calibri" pitchFamily="34" charset="0"/>
                <a:ea typeface="Calibri" pitchFamily="34" charset="-122"/>
                <a:cs typeface="Calibri" pitchFamily="34" charset="-120"/>
              </a:rPr>
              <a:t>03</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txBody>
          <a:bodyPr/>
          <a:lstStyle/>
          <a:p>
            <a:endParaRPr lang="en-US"/>
          </a:p>
        </p:txBody>
      </p:sp>
      <p:sp>
        <p:nvSpPr>
          <p:cNvPr id="11" name="Text 9"/>
          <p:cNvSpPr/>
          <p:nvPr/>
        </p:nvSpPr>
        <p:spPr>
          <a:xfrm>
            <a:off x="2926080" y="2468880"/>
            <a:ext cx="7772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How We Built the Answer</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marL="0" indent="0">
              <a:buNone/>
            </a:pPr>
            <a:r>
              <a:rPr lang="en-US" sz="1600" i="1" kern="0" spc="200" dirty="0">
                <a:solidFill>
                  <a:srgbClr val="3FE0E0"/>
                </a:solidFill>
                <a:latin typeface="Calibri" pitchFamily="34" charset="0"/>
                <a:ea typeface="Calibri" pitchFamily="34" charset="-122"/>
                <a:cs typeface="Calibri" pitchFamily="34" charset="-120"/>
              </a:rPr>
              <a:t>ARCHITECTURE, CHOICES, AND PRODUCTION READINESS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 four-layer pipeline reproducible from a single command</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i="1" kern="0" spc="100" dirty="0">
                <a:solidFill>
                  <a:srgbClr val="3FE0E0"/>
                </a:solidFill>
                <a:latin typeface="Calibri" pitchFamily="34" charset="0"/>
                <a:ea typeface="Calibri" pitchFamily="34" charset="-122"/>
                <a:cs typeface="Calibri" pitchFamily="34" charset="-120"/>
              </a:rPr>
              <a:t>All services orchestrate via Docker; full stack deploys in approximately three minutes</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endParaRPr lang="en-US"/>
          </a:p>
        </p:txBody>
      </p:sp>
      <p:sp>
        <p:nvSpPr>
          <p:cNvPr id="12" name="Shape 10"/>
          <p:cNvSpPr/>
          <p:nvPr/>
        </p:nvSpPr>
        <p:spPr>
          <a:xfrm>
            <a:off x="457200" y="1828800"/>
            <a:ext cx="11247120" cy="777240"/>
          </a:xfrm>
          <a:prstGeom prst="rect">
            <a:avLst/>
          </a:prstGeom>
          <a:solidFill>
            <a:srgbClr val="0A4250"/>
          </a:solidFill>
          <a:ln w="12700">
            <a:solidFill>
              <a:srgbClr val="1E5A6B"/>
            </a:solidFill>
            <a:prstDash val="solid"/>
          </a:ln>
        </p:spPr>
        <p:txBody>
          <a:bodyPr/>
          <a:lstStyle/>
          <a:p>
            <a:endParaRPr lang="en-US"/>
          </a:p>
        </p:txBody>
      </p:sp>
      <p:sp>
        <p:nvSpPr>
          <p:cNvPr id="13" name="Shape 11"/>
          <p:cNvSpPr/>
          <p:nvPr/>
        </p:nvSpPr>
        <p:spPr>
          <a:xfrm>
            <a:off x="457200" y="1828800"/>
            <a:ext cx="914400" cy="777240"/>
          </a:xfrm>
          <a:prstGeom prst="rect">
            <a:avLst/>
          </a:prstGeom>
          <a:solidFill>
            <a:srgbClr val="001D24"/>
          </a:solidFill>
          <a:ln w="12700">
            <a:solidFill>
              <a:srgbClr val="1E5A6B"/>
            </a:solidFill>
            <a:prstDash val="solid"/>
          </a:ln>
        </p:spPr>
        <p:txBody>
          <a:bodyPr/>
          <a:lstStyle/>
          <a:p>
            <a:endParaRPr lang="en-US"/>
          </a:p>
        </p:txBody>
      </p:sp>
      <p:sp>
        <p:nvSpPr>
          <p:cNvPr id="14" name="Text 12"/>
          <p:cNvSpPr/>
          <p:nvPr/>
        </p:nvSpPr>
        <p:spPr>
          <a:xfrm>
            <a:off x="457200" y="1828800"/>
            <a:ext cx="914400" cy="777240"/>
          </a:xfrm>
          <a:prstGeom prst="rect">
            <a:avLst/>
          </a:prstGeom>
          <a:noFill/>
          <a:ln/>
        </p:spPr>
        <p:txBody>
          <a:bodyPr wrap="square" lIns="0" tIns="0" rIns="0" bIns="0" rtlCol="0" anchor="ctr"/>
          <a:lstStyle/>
          <a:p>
            <a:pPr marL="0" indent="0" algn="ctr">
              <a:buNone/>
            </a:pPr>
            <a:r>
              <a:rPr lang="en-US" sz="2400" b="1" dirty="0">
                <a:solidFill>
                  <a:srgbClr val="3FE0E0"/>
                </a:solidFill>
                <a:latin typeface="Calibri" pitchFamily="34" charset="0"/>
                <a:ea typeface="Calibri" pitchFamily="34" charset="-122"/>
                <a:cs typeface="Calibri" pitchFamily="34" charset="-120"/>
              </a:rPr>
              <a:t>01</a:t>
            </a:r>
            <a:endParaRPr lang="en-US" sz="2400" dirty="0"/>
          </a:p>
        </p:txBody>
      </p:sp>
      <p:sp>
        <p:nvSpPr>
          <p:cNvPr id="15" name="Text 13"/>
          <p:cNvSpPr/>
          <p:nvPr/>
        </p:nvSpPr>
        <p:spPr>
          <a:xfrm>
            <a:off x="1554480" y="1828800"/>
            <a:ext cx="2286000" cy="777240"/>
          </a:xfrm>
          <a:prstGeom prst="rect">
            <a:avLst/>
          </a:prstGeom>
          <a:noFill/>
          <a:ln/>
        </p:spPr>
        <p:txBody>
          <a:bodyPr wrap="square" lIns="0" tIns="0" rIns="0" bIns="0"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STORE</a:t>
            </a:r>
            <a:endParaRPr lang="en-US" sz="1500" dirty="0"/>
          </a:p>
        </p:txBody>
      </p:sp>
      <p:sp>
        <p:nvSpPr>
          <p:cNvPr id="16" name="Text 14"/>
          <p:cNvSpPr/>
          <p:nvPr/>
        </p:nvSpPr>
        <p:spPr>
          <a:xfrm>
            <a:off x="3931920" y="1828800"/>
            <a:ext cx="2468880" cy="777240"/>
          </a:xfrm>
          <a:prstGeom prst="rect">
            <a:avLst/>
          </a:prstGeom>
          <a:noFill/>
          <a:ln/>
        </p:spPr>
        <p:txBody>
          <a:bodyPr wrap="square" lIns="0" tIns="0" rIns="0" bIns="0" rtlCol="0" anchor="ctr"/>
          <a:lstStyle/>
          <a:p>
            <a:pPr marL="0" indent="0">
              <a:buNone/>
            </a:pPr>
            <a:r>
              <a:rPr lang="en-US" sz="1400" b="1" dirty="0">
                <a:solidFill>
                  <a:srgbClr val="3FE0E0"/>
                </a:solidFill>
                <a:latin typeface="Calibri" pitchFamily="34" charset="0"/>
                <a:ea typeface="Calibri" pitchFamily="34" charset="-122"/>
                <a:cs typeface="Calibri" pitchFamily="34" charset="-120"/>
              </a:rPr>
              <a:t>HDFS</a:t>
            </a:r>
            <a:endParaRPr lang="en-US" sz="1400" dirty="0"/>
          </a:p>
        </p:txBody>
      </p:sp>
      <p:sp>
        <p:nvSpPr>
          <p:cNvPr id="17" name="Text 15"/>
          <p:cNvSpPr/>
          <p:nvPr/>
        </p:nvSpPr>
        <p:spPr>
          <a:xfrm>
            <a:off x="6492240" y="1828800"/>
            <a:ext cx="5120640" cy="77724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Three-zone data lake: landing, curated, analytics</a:t>
            </a:r>
            <a:endParaRPr lang="en-US" sz="1200" dirty="0"/>
          </a:p>
        </p:txBody>
      </p:sp>
      <p:sp>
        <p:nvSpPr>
          <p:cNvPr id="18" name="Shape 16"/>
          <p:cNvSpPr/>
          <p:nvPr/>
        </p:nvSpPr>
        <p:spPr>
          <a:xfrm>
            <a:off x="457200" y="2697480"/>
            <a:ext cx="11247120" cy="777240"/>
          </a:xfrm>
          <a:prstGeom prst="rect">
            <a:avLst/>
          </a:prstGeom>
          <a:solidFill>
            <a:srgbClr val="0A4250"/>
          </a:solidFill>
          <a:ln w="12700">
            <a:solidFill>
              <a:srgbClr val="1E5A6B"/>
            </a:solidFill>
            <a:prstDash val="solid"/>
          </a:ln>
        </p:spPr>
        <p:txBody>
          <a:bodyPr/>
          <a:lstStyle/>
          <a:p>
            <a:endParaRPr lang="en-US"/>
          </a:p>
        </p:txBody>
      </p:sp>
      <p:sp>
        <p:nvSpPr>
          <p:cNvPr id="19" name="Shape 17"/>
          <p:cNvSpPr/>
          <p:nvPr/>
        </p:nvSpPr>
        <p:spPr>
          <a:xfrm>
            <a:off x="457200" y="2697480"/>
            <a:ext cx="914400" cy="777240"/>
          </a:xfrm>
          <a:prstGeom prst="rect">
            <a:avLst/>
          </a:prstGeom>
          <a:solidFill>
            <a:srgbClr val="001D24"/>
          </a:solidFill>
          <a:ln w="12700">
            <a:solidFill>
              <a:srgbClr val="1E5A6B"/>
            </a:solidFill>
            <a:prstDash val="solid"/>
          </a:ln>
        </p:spPr>
        <p:txBody>
          <a:bodyPr/>
          <a:lstStyle/>
          <a:p>
            <a:endParaRPr lang="en-US"/>
          </a:p>
        </p:txBody>
      </p:sp>
      <p:sp>
        <p:nvSpPr>
          <p:cNvPr id="20" name="Text 18"/>
          <p:cNvSpPr/>
          <p:nvPr/>
        </p:nvSpPr>
        <p:spPr>
          <a:xfrm>
            <a:off x="457200" y="2697480"/>
            <a:ext cx="914400" cy="777240"/>
          </a:xfrm>
          <a:prstGeom prst="rect">
            <a:avLst/>
          </a:prstGeom>
          <a:noFill/>
          <a:ln/>
        </p:spPr>
        <p:txBody>
          <a:bodyPr wrap="square" lIns="0" tIns="0" rIns="0" bIns="0" rtlCol="0" anchor="ctr"/>
          <a:lstStyle/>
          <a:p>
            <a:pPr marL="0" indent="0" algn="ctr">
              <a:buNone/>
            </a:pPr>
            <a:r>
              <a:rPr lang="en-US" sz="2400" b="1" dirty="0">
                <a:solidFill>
                  <a:srgbClr val="3FE0E0"/>
                </a:solidFill>
                <a:latin typeface="Calibri" pitchFamily="34" charset="0"/>
                <a:ea typeface="Calibri" pitchFamily="34" charset="-122"/>
                <a:cs typeface="Calibri" pitchFamily="34" charset="-120"/>
              </a:rPr>
              <a:t>02</a:t>
            </a:r>
            <a:endParaRPr lang="en-US" sz="2400" dirty="0"/>
          </a:p>
        </p:txBody>
      </p:sp>
      <p:sp>
        <p:nvSpPr>
          <p:cNvPr id="21" name="Text 19"/>
          <p:cNvSpPr/>
          <p:nvPr/>
        </p:nvSpPr>
        <p:spPr>
          <a:xfrm>
            <a:off x="1554480" y="2697480"/>
            <a:ext cx="2286000" cy="777240"/>
          </a:xfrm>
          <a:prstGeom prst="rect">
            <a:avLst/>
          </a:prstGeom>
          <a:noFill/>
          <a:ln/>
        </p:spPr>
        <p:txBody>
          <a:bodyPr wrap="square" lIns="0" tIns="0" rIns="0" bIns="0"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TRANSFORM</a:t>
            </a:r>
            <a:endParaRPr lang="en-US" sz="1500" dirty="0"/>
          </a:p>
        </p:txBody>
      </p:sp>
      <p:sp>
        <p:nvSpPr>
          <p:cNvPr id="22" name="Text 20"/>
          <p:cNvSpPr/>
          <p:nvPr/>
        </p:nvSpPr>
        <p:spPr>
          <a:xfrm>
            <a:off x="3931920" y="2697480"/>
            <a:ext cx="2468880" cy="777240"/>
          </a:xfrm>
          <a:prstGeom prst="rect">
            <a:avLst/>
          </a:prstGeom>
          <a:noFill/>
          <a:ln/>
        </p:spPr>
        <p:txBody>
          <a:bodyPr wrap="square" lIns="0" tIns="0" rIns="0" bIns="0" rtlCol="0" anchor="ctr"/>
          <a:lstStyle/>
          <a:p>
            <a:pPr marL="0" indent="0">
              <a:buNone/>
            </a:pPr>
            <a:r>
              <a:rPr lang="en-US" sz="1400" b="1" dirty="0">
                <a:solidFill>
                  <a:srgbClr val="3FE0E0"/>
                </a:solidFill>
                <a:latin typeface="Calibri" pitchFamily="34" charset="0"/>
                <a:ea typeface="Calibri" pitchFamily="34" charset="-122"/>
                <a:cs typeface="Calibri" pitchFamily="34" charset="-120"/>
              </a:rPr>
              <a:t>PySpark</a:t>
            </a:r>
            <a:endParaRPr lang="en-US" sz="1400" dirty="0"/>
          </a:p>
        </p:txBody>
      </p:sp>
      <p:sp>
        <p:nvSpPr>
          <p:cNvPr id="23" name="Text 21"/>
          <p:cNvSpPr/>
          <p:nvPr/>
        </p:nvSpPr>
        <p:spPr>
          <a:xfrm>
            <a:off x="6492240" y="2697480"/>
            <a:ext cx="5120640" cy="77724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Cleaning, three-way joins, business aggregations</a:t>
            </a:r>
            <a:endParaRPr lang="en-US" sz="1200" dirty="0"/>
          </a:p>
        </p:txBody>
      </p:sp>
      <p:sp>
        <p:nvSpPr>
          <p:cNvPr id="24" name="Shape 22"/>
          <p:cNvSpPr/>
          <p:nvPr/>
        </p:nvSpPr>
        <p:spPr>
          <a:xfrm>
            <a:off x="457200" y="3566160"/>
            <a:ext cx="11247120" cy="777240"/>
          </a:xfrm>
          <a:prstGeom prst="rect">
            <a:avLst/>
          </a:prstGeom>
          <a:solidFill>
            <a:srgbClr val="0A4250"/>
          </a:solidFill>
          <a:ln w="12700">
            <a:solidFill>
              <a:srgbClr val="1E5A6B"/>
            </a:solidFill>
            <a:prstDash val="solid"/>
          </a:ln>
        </p:spPr>
        <p:txBody>
          <a:bodyPr/>
          <a:lstStyle/>
          <a:p>
            <a:endParaRPr lang="en-US"/>
          </a:p>
        </p:txBody>
      </p:sp>
      <p:sp>
        <p:nvSpPr>
          <p:cNvPr id="25" name="Shape 23"/>
          <p:cNvSpPr/>
          <p:nvPr/>
        </p:nvSpPr>
        <p:spPr>
          <a:xfrm>
            <a:off x="457200" y="3566160"/>
            <a:ext cx="914400" cy="777240"/>
          </a:xfrm>
          <a:prstGeom prst="rect">
            <a:avLst/>
          </a:prstGeom>
          <a:solidFill>
            <a:srgbClr val="001D24"/>
          </a:solidFill>
          <a:ln w="12700">
            <a:solidFill>
              <a:srgbClr val="1E5A6B"/>
            </a:solidFill>
            <a:prstDash val="solid"/>
          </a:ln>
        </p:spPr>
        <p:txBody>
          <a:bodyPr/>
          <a:lstStyle/>
          <a:p>
            <a:endParaRPr lang="en-US"/>
          </a:p>
        </p:txBody>
      </p:sp>
      <p:sp>
        <p:nvSpPr>
          <p:cNvPr id="26" name="Text 24"/>
          <p:cNvSpPr/>
          <p:nvPr/>
        </p:nvSpPr>
        <p:spPr>
          <a:xfrm>
            <a:off x="457200" y="3566160"/>
            <a:ext cx="914400" cy="777240"/>
          </a:xfrm>
          <a:prstGeom prst="rect">
            <a:avLst/>
          </a:prstGeom>
          <a:noFill/>
          <a:ln/>
        </p:spPr>
        <p:txBody>
          <a:bodyPr wrap="square" lIns="0" tIns="0" rIns="0" bIns="0" rtlCol="0" anchor="ctr"/>
          <a:lstStyle/>
          <a:p>
            <a:pPr marL="0" indent="0" algn="ctr">
              <a:buNone/>
            </a:pPr>
            <a:r>
              <a:rPr lang="en-US" sz="2400" b="1" dirty="0">
                <a:solidFill>
                  <a:srgbClr val="3FE0E0"/>
                </a:solidFill>
                <a:latin typeface="Calibri" pitchFamily="34" charset="0"/>
                <a:ea typeface="Calibri" pitchFamily="34" charset="-122"/>
                <a:cs typeface="Calibri" pitchFamily="34" charset="-120"/>
              </a:rPr>
              <a:t>03</a:t>
            </a:r>
            <a:endParaRPr lang="en-US" sz="2400" dirty="0"/>
          </a:p>
        </p:txBody>
      </p:sp>
      <p:sp>
        <p:nvSpPr>
          <p:cNvPr id="27" name="Text 25"/>
          <p:cNvSpPr/>
          <p:nvPr/>
        </p:nvSpPr>
        <p:spPr>
          <a:xfrm>
            <a:off x="1554480" y="3566160"/>
            <a:ext cx="2286000" cy="777240"/>
          </a:xfrm>
          <a:prstGeom prst="rect">
            <a:avLst/>
          </a:prstGeom>
          <a:noFill/>
          <a:ln/>
        </p:spPr>
        <p:txBody>
          <a:bodyPr wrap="square" lIns="0" tIns="0" rIns="0" bIns="0"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STREAM</a:t>
            </a:r>
            <a:endParaRPr lang="en-US" sz="1500" dirty="0"/>
          </a:p>
        </p:txBody>
      </p:sp>
      <p:sp>
        <p:nvSpPr>
          <p:cNvPr id="28" name="Text 26"/>
          <p:cNvSpPr/>
          <p:nvPr/>
        </p:nvSpPr>
        <p:spPr>
          <a:xfrm>
            <a:off x="3931920" y="3566160"/>
            <a:ext cx="2468880" cy="777240"/>
          </a:xfrm>
          <a:prstGeom prst="rect">
            <a:avLst/>
          </a:prstGeom>
          <a:noFill/>
          <a:ln/>
        </p:spPr>
        <p:txBody>
          <a:bodyPr wrap="square" lIns="0" tIns="0" rIns="0" bIns="0" rtlCol="0" anchor="ctr"/>
          <a:lstStyle/>
          <a:p>
            <a:pPr marL="0" indent="0">
              <a:buNone/>
            </a:pPr>
            <a:r>
              <a:rPr lang="en-US" sz="1400" b="1" dirty="0">
                <a:solidFill>
                  <a:srgbClr val="3FE0E0"/>
                </a:solidFill>
                <a:latin typeface="Calibri" pitchFamily="34" charset="0"/>
                <a:ea typeface="Calibri" pitchFamily="34" charset="-122"/>
                <a:cs typeface="Calibri" pitchFamily="34" charset="-120"/>
              </a:rPr>
              <a:t>Kafka + Spark</a:t>
            </a:r>
            <a:endParaRPr lang="en-US" sz="1400" dirty="0"/>
          </a:p>
        </p:txBody>
      </p:sp>
      <p:sp>
        <p:nvSpPr>
          <p:cNvPr id="29" name="Text 27"/>
          <p:cNvSpPr/>
          <p:nvPr/>
        </p:nvSpPr>
        <p:spPr>
          <a:xfrm>
            <a:off x="6492240" y="3566160"/>
            <a:ext cx="5120640" cy="77724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Real-time event processing with windowed alerts</a:t>
            </a:r>
            <a:endParaRPr lang="en-US" sz="1200" dirty="0"/>
          </a:p>
        </p:txBody>
      </p:sp>
      <p:sp>
        <p:nvSpPr>
          <p:cNvPr id="30" name="Shape 28"/>
          <p:cNvSpPr/>
          <p:nvPr/>
        </p:nvSpPr>
        <p:spPr>
          <a:xfrm>
            <a:off x="457200" y="4434840"/>
            <a:ext cx="11247120" cy="777240"/>
          </a:xfrm>
          <a:prstGeom prst="rect">
            <a:avLst/>
          </a:prstGeom>
          <a:solidFill>
            <a:srgbClr val="0A4250"/>
          </a:solidFill>
          <a:ln w="12700">
            <a:solidFill>
              <a:srgbClr val="1E5A6B"/>
            </a:solidFill>
            <a:prstDash val="solid"/>
          </a:ln>
        </p:spPr>
        <p:txBody>
          <a:bodyPr/>
          <a:lstStyle/>
          <a:p>
            <a:endParaRPr lang="en-US"/>
          </a:p>
        </p:txBody>
      </p:sp>
      <p:sp>
        <p:nvSpPr>
          <p:cNvPr id="31" name="Shape 29"/>
          <p:cNvSpPr/>
          <p:nvPr/>
        </p:nvSpPr>
        <p:spPr>
          <a:xfrm>
            <a:off x="457200" y="4434840"/>
            <a:ext cx="914400" cy="777240"/>
          </a:xfrm>
          <a:prstGeom prst="rect">
            <a:avLst/>
          </a:prstGeom>
          <a:solidFill>
            <a:srgbClr val="001D24"/>
          </a:solidFill>
          <a:ln w="12700">
            <a:solidFill>
              <a:srgbClr val="1E5A6B"/>
            </a:solidFill>
            <a:prstDash val="solid"/>
          </a:ln>
        </p:spPr>
        <p:txBody>
          <a:bodyPr/>
          <a:lstStyle/>
          <a:p>
            <a:endParaRPr lang="en-US"/>
          </a:p>
        </p:txBody>
      </p:sp>
      <p:sp>
        <p:nvSpPr>
          <p:cNvPr id="32" name="Text 30"/>
          <p:cNvSpPr/>
          <p:nvPr/>
        </p:nvSpPr>
        <p:spPr>
          <a:xfrm>
            <a:off x="457200" y="4434840"/>
            <a:ext cx="914400" cy="777240"/>
          </a:xfrm>
          <a:prstGeom prst="rect">
            <a:avLst/>
          </a:prstGeom>
          <a:noFill/>
          <a:ln/>
        </p:spPr>
        <p:txBody>
          <a:bodyPr wrap="square" lIns="0" tIns="0" rIns="0" bIns="0" rtlCol="0" anchor="ctr"/>
          <a:lstStyle/>
          <a:p>
            <a:pPr marL="0" indent="0" algn="ctr">
              <a:buNone/>
            </a:pPr>
            <a:r>
              <a:rPr lang="en-US" sz="2400" b="1" dirty="0">
                <a:solidFill>
                  <a:srgbClr val="3FE0E0"/>
                </a:solidFill>
                <a:latin typeface="Calibri" pitchFamily="34" charset="0"/>
                <a:ea typeface="Calibri" pitchFamily="34" charset="-122"/>
                <a:cs typeface="Calibri" pitchFamily="34" charset="-120"/>
              </a:rPr>
              <a:t>04</a:t>
            </a:r>
            <a:endParaRPr lang="en-US" sz="2400" dirty="0"/>
          </a:p>
        </p:txBody>
      </p:sp>
      <p:sp>
        <p:nvSpPr>
          <p:cNvPr id="33" name="Text 31"/>
          <p:cNvSpPr/>
          <p:nvPr/>
        </p:nvSpPr>
        <p:spPr>
          <a:xfrm>
            <a:off x="1554480" y="4434840"/>
            <a:ext cx="2286000" cy="777240"/>
          </a:xfrm>
          <a:prstGeom prst="rect">
            <a:avLst/>
          </a:prstGeom>
          <a:noFill/>
          <a:ln/>
        </p:spPr>
        <p:txBody>
          <a:bodyPr wrap="square" lIns="0" tIns="0" rIns="0" bIns="0" rtlCol="0" anchor="ctr"/>
          <a:lstStyle/>
          <a:p>
            <a:pPr marL="0" indent="0">
              <a:buNone/>
            </a:pPr>
            <a:r>
              <a:rPr lang="en-US" sz="1500" b="1" kern="0" spc="300" dirty="0">
                <a:solidFill>
                  <a:srgbClr val="FFFFFF"/>
                </a:solidFill>
                <a:latin typeface="Calibri" pitchFamily="34" charset="0"/>
                <a:ea typeface="Calibri" pitchFamily="34" charset="-122"/>
                <a:cs typeface="Calibri" pitchFamily="34" charset="-120"/>
              </a:rPr>
              <a:t>ORCHESTRATE</a:t>
            </a:r>
            <a:endParaRPr lang="en-US" sz="1500" dirty="0"/>
          </a:p>
        </p:txBody>
      </p:sp>
      <p:sp>
        <p:nvSpPr>
          <p:cNvPr id="34" name="Text 32"/>
          <p:cNvSpPr/>
          <p:nvPr/>
        </p:nvSpPr>
        <p:spPr>
          <a:xfrm>
            <a:off x="3931920" y="4434840"/>
            <a:ext cx="2468880" cy="777240"/>
          </a:xfrm>
          <a:prstGeom prst="rect">
            <a:avLst/>
          </a:prstGeom>
          <a:noFill/>
          <a:ln/>
        </p:spPr>
        <p:txBody>
          <a:bodyPr wrap="square" lIns="0" tIns="0" rIns="0" bIns="0" rtlCol="0" anchor="ctr"/>
          <a:lstStyle/>
          <a:p>
            <a:pPr marL="0" indent="0">
              <a:buNone/>
            </a:pPr>
            <a:r>
              <a:rPr lang="en-US" sz="1400" b="1" dirty="0">
                <a:solidFill>
                  <a:srgbClr val="3FE0E0"/>
                </a:solidFill>
                <a:latin typeface="Calibri" pitchFamily="34" charset="0"/>
                <a:ea typeface="Calibri" pitchFamily="34" charset="-122"/>
                <a:cs typeface="Calibri" pitchFamily="34" charset="-120"/>
              </a:rPr>
              <a:t>Apache Airflow</a:t>
            </a:r>
            <a:endParaRPr lang="en-US" sz="1400" dirty="0"/>
          </a:p>
        </p:txBody>
      </p:sp>
      <p:sp>
        <p:nvSpPr>
          <p:cNvPr id="35" name="Text 33"/>
          <p:cNvSpPr/>
          <p:nvPr/>
        </p:nvSpPr>
        <p:spPr>
          <a:xfrm>
            <a:off x="6492240" y="4434840"/>
            <a:ext cx="5120640" cy="77724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Quality gates, retries, idempotent re-runs</a:t>
            </a:r>
            <a:endParaRPr lang="en-US" sz="1200" dirty="0"/>
          </a:p>
        </p:txBody>
      </p:sp>
      <p:sp>
        <p:nvSpPr>
          <p:cNvPr id="36" name="Shape 34"/>
          <p:cNvSpPr/>
          <p:nvPr/>
        </p:nvSpPr>
        <p:spPr>
          <a:xfrm>
            <a:off x="457200" y="5486400"/>
            <a:ext cx="11247120" cy="594360"/>
          </a:xfrm>
          <a:prstGeom prst="rect">
            <a:avLst/>
          </a:prstGeom>
          <a:solidFill>
            <a:srgbClr val="001D24"/>
          </a:solidFill>
          <a:ln w="12700">
            <a:solidFill>
              <a:srgbClr val="3FE0E0"/>
            </a:solidFill>
            <a:prstDash val="solid"/>
          </a:ln>
        </p:spPr>
        <p:txBody>
          <a:bodyPr/>
          <a:lstStyle/>
          <a:p>
            <a:endParaRPr lang="en-US"/>
          </a:p>
        </p:txBody>
      </p:sp>
      <p:sp>
        <p:nvSpPr>
          <p:cNvPr id="37" name="Text 35"/>
          <p:cNvSpPr/>
          <p:nvPr/>
        </p:nvSpPr>
        <p:spPr>
          <a:xfrm>
            <a:off x="640080" y="5486400"/>
            <a:ext cx="4572000" cy="594360"/>
          </a:xfrm>
          <a:prstGeom prst="rect">
            <a:avLst/>
          </a:prstGeom>
          <a:noFill/>
          <a:ln/>
        </p:spPr>
        <p:txBody>
          <a:bodyPr wrap="square" lIns="0" tIns="0" rIns="0" bIns="0" rtlCol="0" anchor="ctr"/>
          <a:lstStyle/>
          <a:p>
            <a:pPr marL="0" indent="0">
              <a:buNone/>
            </a:pPr>
            <a:r>
              <a:rPr lang="en-US" sz="1600" b="1" dirty="0">
                <a:solidFill>
                  <a:srgbClr val="3FE0E0"/>
                </a:solidFill>
                <a:latin typeface="Consolas" pitchFamily="34" charset="0"/>
                <a:ea typeface="Consolas" pitchFamily="34" charset="-122"/>
                <a:cs typeface="Consolas" pitchFamily="34" charset="-120"/>
              </a:rPr>
              <a:t>$ docker compose up -d</a:t>
            </a:r>
            <a:endParaRPr lang="en-US" sz="1600" dirty="0"/>
          </a:p>
        </p:txBody>
      </p:sp>
      <p:sp>
        <p:nvSpPr>
          <p:cNvPr id="38" name="Text 36"/>
          <p:cNvSpPr/>
          <p:nvPr/>
        </p:nvSpPr>
        <p:spPr>
          <a:xfrm>
            <a:off x="5212080" y="5486400"/>
            <a:ext cx="6400800" cy="594360"/>
          </a:xfrm>
          <a:prstGeom prst="rect">
            <a:avLst/>
          </a:prstGeom>
          <a:noFill/>
          <a:ln/>
        </p:spPr>
        <p:txBody>
          <a:bodyPr wrap="square" lIns="0" tIns="0" rIns="0" bIns="0" rtlCol="0" anchor="ctr"/>
          <a:lstStyle/>
          <a:p>
            <a:pPr marL="0" indent="0" algn="r">
              <a:buNone/>
            </a:pPr>
            <a:r>
              <a:rPr lang="en-US" sz="1200" i="1" dirty="0">
                <a:solidFill>
                  <a:srgbClr val="B7D7DC"/>
                </a:solidFill>
                <a:latin typeface="Calibri" pitchFamily="34" charset="0"/>
                <a:ea typeface="Calibri" pitchFamily="34" charset="-122"/>
                <a:cs typeface="Calibri" pitchFamily="34" charset="-120"/>
              </a:rPr>
              <a:t>Eleven services, four layers, full pipeline · 3-minute boot time</a:t>
            </a:r>
            <a:endParaRPr lang="en-US" sz="1200" dirty="0"/>
          </a:p>
        </p:txBody>
      </p:sp>
      <p:sp>
        <p:nvSpPr>
          <p:cNvPr id="39" name="Text 37"/>
          <p:cNvSpPr/>
          <p:nvPr/>
        </p:nvSpPr>
        <p:spPr>
          <a:xfrm>
            <a:off x="11338560" y="6446520"/>
            <a:ext cx="640080" cy="274320"/>
          </a:xfrm>
          <a:prstGeom prst="rect">
            <a:avLst/>
          </a:prstGeom>
          <a:noFill/>
          <a:ln/>
        </p:spPr>
        <p:txBody>
          <a:bodyPr wrap="square" lIns="0" tIns="0" rIns="0" bIns="0" rtlCol="0" anchor="ctr"/>
          <a:lstStyle/>
          <a:p>
            <a:pPr marL="0" indent="0" algn="r">
              <a:buNone/>
            </a:pPr>
            <a:r>
              <a:rPr lang="en-US" sz="900" dirty="0">
                <a:solidFill>
                  <a:srgbClr val="7FA8AE"/>
                </a:solidFill>
                <a:latin typeface="Calibri" pitchFamily="34" charset="0"/>
                <a:ea typeface="Calibri" pitchFamily="34" charset="-122"/>
                <a:cs typeface="Calibri" pitchFamily="34" charset="-120"/>
              </a:rPr>
              <a:t>09 / 22</a:t>
            </a:r>
            <a:endParaRPr lang="en-US" sz="900" dirty="0"/>
          </a:p>
        </p:txBody>
      </p:sp>
      <p:sp>
        <p:nvSpPr>
          <p:cNvPr id="40" name="Text 38"/>
          <p:cNvSpPr/>
          <p:nvPr/>
        </p:nvSpPr>
        <p:spPr>
          <a:xfrm>
            <a:off x="365760" y="6446520"/>
            <a:ext cx="7315200" cy="274320"/>
          </a:xfrm>
          <a:prstGeom prst="rect">
            <a:avLst/>
          </a:prstGeom>
          <a:noFill/>
          <a:ln/>
        </p:spPr>
        <p:txBody>
          <a:bodyPr wrap="square" lIns="0" tIns="0" rIns="0" bIns="0" rtlCol="0" anchor="ctr"/>
          <a:lstStyle/>
          <a:p>
            <a:pPr marL="0" indent="0" algn="l">
              <a:buNone/>
            </a:pPr>
            <a:r>
              <a:rPr lang="en-US" sz="900" kern="0" spc="20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How data moves · five sources to three analytics tables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Lambda architecture: batch and streaming both feed the analytics layer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548640" y="1737360"/>
            <a:ext cx="1691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RAW SOURCES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548640" y="2103120"/>
            <a:ext cx="1691640" cy="4572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548640" y="2103120"/>
            <a:ext cx="169164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user-profiles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548640" y="2651760"/>
            <a:ext cx="1691640" cy="4572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548640" y="2651760"/>
            <a:ext cx="169164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viewing-history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548640" y="3200400"/>
            <a:ext cx="1691640" cy="4572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548640" y="3200400"/>
            <a:ext cx="169164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content-catalog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548640" y="3749040"/>
            <a:ext cx="1691640" cy="4572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548640" y="3749040"/>
            <a:ext cx="169164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user-interactions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548640" y="4297680"/>
            <a:ext cx="1691640" cy="4572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548640" y="4297680"/>
            <a:ext cx="169164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streaming-quality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2743200" y="1737360"/>
            <a:ext cx="2011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LANDING (HDFS)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2743200" y="2103120"/>
            <a:ext cx="2011680" cy="3291840"/>
          </a:xfrm>
          <a:prstGeom prst="rect">
            <a:avLst/>
          </a:prstGeom>
          <a:solidFill>
            <a:srgbClr val="001D24"/>
          </a:solidFill>
          <a:ln w="2540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2743200" y="2560320"/>
            <a:ext cx="201168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0A23E"/>
                </a:solidFill>
                <a:effectLst/>
                <a:uLnTx/>
                <a:uFillTx/>
                <a:latin typeface="Calibri" pitchFamily="34" charset="0"/>
                <a:ea typeface="Calibri" pitchFamily="34" charset="-122"/>
                <a:cs typeface="Calibri" pitchFamily="34" charset="-120"/>
              </a:rPr>
              <a:t>Raw files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0A23E"/>
                </a:solidFill>
                <a:effectLst/>
                <a:uLnTx/>
                <a:uFillTx/>
                <a:latin typeface="Calibri" pitchFamily="34" charset="0"/>
                <a:ea typeface="Calibri" pitchFamily="34" charset="-122"/>
                <a:cs typeface="Calibri" pitchFamily="34" charset="-120"/>
              </a:rPr>
              <a:t>immutable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2743200" y="3566160"/>
            <a:ext cx="201168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onsolas" pitchFamily="34" charset="0"/>
                <a:ea typeface="Consolas" pitchFamily="34" charset="-122"/>
                <a:cs typeface="Consolas" pitchFamily="34" charset="-120"/>
              </a:rPr>
              <a:t>CSV.gz</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onsolas" pitchFamily="34" charset="0"/>
                <a:ea typeface="Consolas" pitchFamily="34" charset="-122"/>
                <a:cs typeface="Consolas" pitchFamily="34" charset="-120"/>
              </a:rPr>
              <a:t>JSON.gz</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2743200" y="4480560"/>
            <a:ext cx="201168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RF=2 critical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RF=1 high-vol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2286000" y="2331720"/>
            <a:ext cx="411480" cy="0"/>
          </a:xfrm>
          <a:prstGeom prst="line">
            <a:avLst/>
          </a:prstGeom>
          <a:noFill/>
          <a:ln w="12700">
            <a:solidFill>
              <a:srgbClr val="3FE0E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2286000" y="2880360"/>
            <a:ext cx="411480" cy="0"/>
          </a:xfrm>
          <a:prstGeom prst="line">
            <a:avLst/>
          </a:prstGeom>
          <a:noFill/>
          <a:ln w="12700">
            <a:solidFill>
              <a:srgbClr val="3FE0E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2286000" y="3429000"/>
            <a:ext cx="411480" cy="0"/>
          </a:xfrm>
          <a:prstGeom prst="line">
            <a:avLst/>
          </a:prstGeom>
          <a:noFill/>
          <a:ln w="12700">
            <a:solidFill>
              <a:srgbClr val="3FE0E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2286000" y="3977640"/>
            <a:ext cx="411480" cy="0"/>
          </a:xfrm>
          <a:prstGeom prst="line">
            <a:avLst/>
          </a:prstGeom>
          <a:noFill/>
          <a:ln w="12700">
            <a:solidFill>
              <a:srgbClr val="3FE0E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Shape 30"/>
          <p:cNvSpPr/>
          <p:nvPr/>
        </p:nvSpPr>
        <p:spPr>
          <a:xfrm>
            <a:off x="2286000" y="4526280"/>
            <a:ext cx="411480" cy="0"/>
          </a:xfrm>
          <a:prstGeom prst="line">
            <a:avLst/>
          </a:prstGeom>
          <a:noFill/>
          <a:ln w="12700">
            <a:solidFill>
              <a:srgbClr val="3FE0E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5120640" y="1737360"/>
            <a:ext cx="2011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CURATED (Parquet)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5120640" y="2103120"/>
            <a:ext cx="2011680" cy="3291840"/>
          </a:xfrm>
          <a:prstGeom prst="rect">
            <a:avLst/>
          </a:prstGeom>
          <a:solidFill>
            <a:srgbClr val="001D24"/>
          </a:solidFill>
          <a:ln w="254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5120640" y="2560320"/>
            <a:ext cx="201168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FBE7D"/>
                </a:solidFill>
                <a:effectLst/>
                <a:uLnTx/>
                <a:uFillTx/>
                <a:latin typeface="Calibri" pitchFamily="34" charset="0"/>
                <a:ea typeface="Calibri" pitchFamily="34" charset="-122"/>
                <a:cs typeface="Calibri" pitchFamily="34" charset="-120"/>
              </a:rPr>
              <a:t>PySpark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FBE7D"/>
                </a:solidFill>
                <a:effectLst/>
                <a:uLnTx/>
                <a:uFillTx/>
                <a:latin typeface="Calibri" pitchFamily="34" charset="0"/>
                <a:ea typeface="Calibri" pitchFamily="34" charset="-122"/>
                <a:cs typeface="Calibri" pitchFamily="34" charset="-120"/>
              </a:rPr>
              <a:t>batch</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5120640" y="3474720"/>
            <a:ext cx="2011680" cy="10058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clean +</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standardize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+ 3-way join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5120640" y="4572000"/>
            <a:ext cx="201168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5–10× compression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4× scan speed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4800600" y="3749040"/>
            <a:ext cx="27432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7"/>
          <p:cNvSpPr/>
          <p:nvPr/>
        </p:nvSpPr>
        <p:spPr>
          <a:xfrm>
            <a:off x="7498080" y="1737360"/>
            <a:ext cx="2011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ANALYTICS (Parquet)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8"/>
          <p:cNvSpPr/>
          <p:nvPr/>
        </p:nvSpPr>
        <p:spPr>
          <a:xfrm>
            <a:off x="7498080" y="2103120"/>
            <a:ext cx="2011680" cy="960120"/>
          </a:xfrm>
          <a:prstGeom prst="rect">
            <a:avLst/>
          </a:prstGeom>
          <a:solidFill>
            <a:srgbClr val="001D24"/>
          </a:solid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7498080" y="2103120"/>
            <a:ext cx="2011680" cy="9601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user-monthly-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engagement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7498080" y="3227832"/>
            <a:ext cx="2011680" cy="960120"/>
          </a:xfrm>
          <a:prstGeom prst="rect">
            <a:avLst/>
          </a:prstGeom>
          <a:solidFill>
            <a:srgbClr val="001D24"/>
          </a:solid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7498080" y="3227832"/>
            <a:ext cx="2011680" cy="9601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content-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performance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2"/>
          <p:cNvSpPr/>
          <p:nvPr/>
        </p:nvSpPr>
        <p:spPr>
          <a:xfrm>
            <a:off x="7498080" y="4352544"/>
            <a:ext cx="2011680" cy="960120"/>
          </a:xfrm>
          <a:prstGeom prst="rect">
            <a:avLst/>
          </a:prstGeom>
          <a:solidFill>
            <a:srgbClr val="001D24"/>
          </a:solid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Text 43"/>
          <p:cNvSpPr/>
          <p:nvPr/>
        </p:nvSpPr>
        <p:spPr>
          <a:xfrm>
            <a:off x="7498080" y="4352544"/>
            <a:ext cx="2011680" cy="9601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streaming-quality-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region-isp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4"/>
          <p:cNvSpPr/>
          <p:nvPr/>
        </p:nvSpPr>
        <p:spPr>
          <a:xfrm>
            <a:off x="7178040" y="2583180"/>
            <a:ext cx="274320" cy="0"/>
          </a:xfrm>
          <a:prstGeom prst="line">
            <a:avLst/>
          </a:prstGeom>
          <a:noFill/>
          <a:ln w="12700">
            <a:solidFill>
              <a:srgbClr val="3FE0E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Shape 45"/>
          <p:cNvSpPr/>
          <p:nvPr/>
        </p:nvSpPr>
        <p:spPr>
          <a:xfrm>
            <a:off x="7178040" y="3707892"/>
            <a:ext cx="274320" cy="0"/>
          </a:xfrm>
          <a:prstGeom prst="line">
            <a:avLst/>
          </a:prstGeom>
          <a:noFill/>
          <a:ln w="12700">
            <a:solidFill>
              <a:srgbClr val="3FE0E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Shape 46"/>
          <p:cNvSpPr/>
          <p:nvPr/>
        </p:nvSpPr>
        <p:spPr>
          <a:xfrm>
            <a:off x="7178040" y="4832604"/>
            <a:ext cx="274320" cy="0"/>
          </a:xfrm>
          <a:prstGeom prst="line">
            <a:avLst/>
          </a:prstGeom>
          <a:noFill/>
          <a:ln w="12700">
            <a:solidFill>
              <a:srgbClr val="3FE0E0">
                <a:alpha val="7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7"/>
          <p:cNvSpPr/>
          <p:nvPr/>
        </p:nvSpPr>
        <p:spPr>
          <a:xfrm>
            <a:off x="9784080" y="1737360"/>
            <a:ext cx="1828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BUSINESS USE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8"/>
          <p:cNvSpPr/>
          <p:nvPr/>
        </p:nvSpPr>
        <p:spPr>
          <a:xfrm>
            <a:off x="9784080" y="2377440"/>
            <a:ext cx="22860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Churn early-warning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9"/>
          <p:cNvSpPr/>
          <p:nvPr/>
        </p:nvSpPr>
        <p:spPr>
          <a:xfrm>
            <a:off x="9784080" y="3474720"/>
            <a:ext cx="22860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Content ROI review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p:cNvSpPr/>
          <p:nvPr/>
        </p:nvSpPr>
        <p:spPr>
          <a:xfrm>
            <a:off x="9784080" y="4572000"/>
            <a:ext cx="22860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 CDN investment plan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1"/>
          <p:cNvSpPr/>
          <p:nvPr/>
        </p:nvSpPr>
        <p:spPr>
          <a:xfrm>
            <a:off x="5120640" y="5669280"/>
            <a:ext cx="2011680" cy="548640"/>
          </a:xfrm>
          <a:prstGeom prst="rect">
            <a:avLst/>
          </a:prstGeom>
          <a:solidFill>
            <a:srgbClr val="001D24"/>
          </a:solidFill>
          <a:ln w="25400">
            <a:solidFill>
              <a:srgbClr val="C586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52"/>
          <p:cNvSpPr/>
          <p:nvPr/>
        </p:nvSpPr>
        <p:spPr>
          <a:xfrm>
            <a:off x="5120640" y="5669280"/>
            <a:ext cx="201168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586E0"/>
                </a:solidFill>
                <a:effectLst/>
                <a:uLnTx/>
                <a:uFillTx/>
                <a:latin typeface="Calibri" pitchFamily="34" charset="0"/>
                <a:ea typeface="Calibri" pitchFamily="34" charset="-122"/>
                <a:cs typeface="Calibri" pitchFamily="34" charset="-120"/>
              </a:rPr>
              <a:t>Kafka + Spark Streaming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Shape 53"/>
          <p:cNvSpPr/>
          <p:nvPr/>
        </p:nvSpPr>
        <p:spPr>
          <a:xfrm>
            <a:off x="2697480" y="2880360"/>
            <a:ext cx="0" cy="2697480"/>
          </a:xfrm>
          <a:prstGeom prst="line">
            <a:avLst/>
          </a:prstGeom>
          <a:noFill/>
          <a:ln w="12700">
            <a:solidFill>
              <a:srgbClr val="C586E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Shape 54"/>
          <p:cNvSpPr/>
          <p:nvPr/>
        </p:nvSpPr>
        <p:spPr>
          <a:xfrm>
            <a:off x="2697480" y="5943600"/>
            <a:ext cx="2377440" cy="0"/>
          </a:xfrm>
          <a:prstGeom prst="line">
            <a:avLst/>
          </a:prstGeom>
          <a:noFill/>
          <a:ln w="12700">
            <a:solidFill>
              <a:srgbClr val="C586E0"/>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Text 55"/>
          <p:cNvSpPr/>
          <p:nvPr/>
        </p:nvSpPr>
        <p:spPr>
          <a:xfrm>
            <a:off x="2743200" y="571500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C586E0"/>
                </a:solidFill>
                <a:effectLst/>
                <a:uLnTx/>
                <a:uFillTx/>
                <a:latin typeface="Calibri" pitchFamily="34" charset="0"/>
                <a:ea typeface="Calibri" pitchFamily="34" charset="-122"/>
                <a:cs typeface="Calibri" pitchFamily="34" charset="-120"/>
              </a:rPr>
              <a:t>producer replays events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Shape 56"/>
          <p:cNvSpPr/>
          <p:nvPr/>
        </p:nvSpPr>
        <p:spPr>
          <a:xfrm>
            <a:off x="7178040" y="5943600"/>
            <a:ext cx="2560320" cy="0"/>
          </a:xfrm>
          <a:prstGeom prst="line">
            <a:avLst/>
          </a:prstGeom>
          <a:noFill/>
          <a:ln w="25400">
            <a:solidFill>
              <a:srgbClr val="C586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Text 57"/>
          <p:cNvSpPr/>
          <p:nvPr/>
        </p:nvSpPr>
        <p:spPr>
          <a:xfrm>
            <a:off x="9784080" y="5669280"/>
            <a:ext cx="2286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C586E0"/>
                </a:solidFill>
                <a:effectLst/>
                <a:uLnTx/>
                <a:uFillTx/>
                <a:latin typeface="Calibri" pitchFamily="34" charset="0"/>
                <a:ea typeface="Calibri" pitchFamily="34" charset="-122"/>
                <a:cs typeface="Calibri" pitchFamily="34" charset="-120"/>
              </a:rPr>
              <a:t>▸ Real-time alerts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8"/>
          <p:cNvSpPr/>
          <p:nvPr/>
        </p:nvSpPr>
        <p:spPr>
          <a:xfrm>
            <a:off x="548640" y="6263640"/>
            <a:ext cx="10972800"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Solid arrows: batch path  ·  Dashed arrows: streaming path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9"/>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OPTION A</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60"/>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Why these four technologies · alternatives we evaluated</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Each choice was diligenced against credible alternatives before commitment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1691640"/>
            <a:ext cx="5532120" cy="219456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1691640"/>
            <a:ext cx="73152" cy="2194560"/>
          </a:xfrm>
          <a:prstGeom prst="rect">
            <a:avLst/>
          </a:prstGeom>
          <a:solidFill>
            <a:srgbClr val="3FE0E0"/>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85800" y="1737360"/>
            <a:ext cx="3657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HDFS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4572000" y="1828800"/>
            <a:ext cx="1280160" cy="320040"/>
          </a:xfrm>
          <a:prstGeom prst="rect">
            <a:avLst/>
          </a:prstGeom>
          <a:solidFill>
            <a:srgbClr val="3FE0E0"/>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001D24"/>
                </a:solidFill>
                <a:effectLst/>
                <a:uLnTx/>
                <a:uFillTx/>
                <a:latin typeface="Calibri" pitchFamily="34" charset="0"/>
                <a:ea typeface="Calibri" pitchFamily="34" charset="-122"/>
                <a:cs typeface="Calibri" pitchFamily="34" charset="-120"/>
              </a:rPr>
              <a:t>CHOSEN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6" name="Table 0"/>
          <p:cNvGraphicFramePr>
            <a:graphicFrameLocks noGrp="1"/>
          </p:cNvGraphicFramePr>
          <p:nvPr/>
        </p:nvGraphicFramePr>
        <p:xfrm>
          <a:off x="685800" y="2286000"/>
          <a:ext cx="5120640" cy="1170432"/>
        </p:xfrm>
        <a:graphic>
          <a:graphicData uri="http://schemas.openxmlformats.org/drawingml/2006/table">
            <a:tbl>
              <a:tblPr/>
              <a:tblGrid>
                <a:gridCol w="15544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92608">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Option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Replication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Spark integration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Migration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0"/>
                  </a:ext>
                </a:extLst>
              </a:tr>
              <a:tr h="29260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HDFS (selected)</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Built-in, configurable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Native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 S3 + EMRFS</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1"/>
                  </a:ext>
                </a:extLst>
              </a:tr>
              <a:tr h="292608">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Raw S3</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Cross-region, expensive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via connector</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Already cloud</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extLst>
                  <a:ext uri="{0D108BD9-81ED-4DB2-BD59-A6C34878D82A}">
                    <a16:rowId xmlns:a16="http://schemas.microsoft.com/office/drawing/2014/main" val="10002"/>
                  </a:ext>
                </a:extLst>
              </a:tr>
              <a:tr h="292608">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Local FS</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Native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Not viable at scale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3"/>
                  </a:ext>
                </a:extLst>
              </a:tr>
            </a:tbl>
          </a:graphicData>
        </a:graphic>
      </p:graphicFrame>
      <p:sp>
        <p:nvSpPr>
          <p:cNvPr id="17" name="Shape 14"/>
          <p:cNvSpPr/>
          <p:nvPr/>
        </p:nvSpPr>
        <p:spPr>
          <a:xfrm>
            <a:off x="6080760" y="1691640"/>
            <a:ext cx="5532120" cy="219456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5"/>
          <p:cNvSpPr/>
          <p:nvPr/>
        </p:nvSpPr>
        <p:spPr>
          <a:xfrm>
            <a:off x="6080760" y="1691640"/>
            <a:ext cx="73152" cy="2194560"/>
          </a:xfrm>
          <a:prstGeom prst="rect">
            <a:avLst/>
          </a:prstGeom>
          <a:solidFill>
            <a:srgbClr val="3FE0E0"/>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p:nvPr/>
        </p:nvSpPr>
        <p:spPr>
          <a:xfrm>
            <a:off x="6309360" y="1737360"/>
            <a:ext cx="3657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PySpark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p:nvPr/>
        </p:nvSpPr>
        <p:spPr>
          <a:xfrm>
            <a:off x="10195560" y="1828800"/>
            <a:ext cx="1280160" cy="320040"/>
          </a:xfrm>
          <a:prstGeom prst="rect">
            <a:avLst/>
          </a:prstGeom>
          <a:solidFill>
            <a:srgbClr val="3FE0E0"/>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001D24"/>
                </a:solidFill>
                <a:effectLst/>
                <a:uLnTx/>
                <a:uFillTx/>
                <a:latin typeface="Calibri" pitchFamily="34" charset="0"/>
                <a:ea typeface="Calibri" pitchFamily="34" charset="-122"/>
                <a:cs typeface="Calibri" pitchFamily="34" charset="-120"/>
              </a:rPr>
              <a:t>CHOSEN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1" name="Table 1"/>
          <p:cNvGraphicFramePr>
            <a:graphicFrameLocks noGrp="1"/>
          </p:cNvGraphicFramePr>
          <p:nvPr/>
        </p:nvGraphicFramePr>
        <p:xfrm>
          <a:off x="6309360" y="2286000"/>
          <a:ext cx="5120640" cy="1170432"/>
        </p:xfrm>
        <a:graphic>
          <a:graphicData uri="http://schemas.openxmlformats.org/drawingml/2006/table">
            <a:tbl>
              <a:tblPr/>
              <a:tblGrid>
                <a:gridCol w="15544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92608">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Option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Scale ceiling</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Code reuse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Memory</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0"/>
                  </a:ext>
                </a:extLst>
              </a:tr>
              <a:tr h="29260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PySpark (selected)</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Petabytes</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Same code at any scale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Distributed</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1"/>
                  </a:ext>
                </a:extLst>
              </a:tr>
              <a:tr h="292608">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pandas</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~100M rows</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Rewrite required</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Single-node RAM</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extLst>
                  <a:ext uri="{0D108BD9-81ED-4DB2-BD59-A6C34878D82A}">
                    <a16:rowId xmlns:a16="http://schemas.microsoft.com/office/drawing/2014/main" val="10002"/>
                  </a:ext>
                </a:extLst>
              </a:tr>
              <a:tr h="292608">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Polars</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Single-node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Rewrite required</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Fast but bounded</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3"/>
                  </a:ext>
                </a:extLst>
              </a:tr>
            </a:tbl>
          </a:graphicData>
        </a:graphic>
      </p:graphicFrame>
      <p:sp>
        <p:nvSpPr>
          <p:cNvPr id="22" name="Shape 18"/>
          <p:cNvSpPr/>
          <p:nvPr/>
        </p:nvSpPr>
        <p:spPr>
          <a:xfrm>
            <a:off x="457200" y="4023360"/>
            <a:ext cx="5532120" cy="219456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9"/>
          <p:cNvSpPr/>
          <p:nvPr/>
        </p:nvSpPr>
        <p:spPr>
          <a:xfrm>
            <a:off x="457200" y="4023360"/>
            <a:ext cx="73152" cy="2194560"/>
          </a:xfrm>
          <a:prstGeom prst="rect">
            <a:avLst/>
          </a:prstGeom>
          <a:solidFill>
            <a:srgbClr val="3FE0E0"/>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0"/>
          <p:cNvSpPr/>
          <p:nvPr/>
        </p:nvSpPr>
        <p:spPr>
          <a:xfrm>
            <a:off x="685800" y="4069080"/>
            <a:ext cx="3657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Kafka</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1"/>
          <p:cNvSpPr/>
          <p:nvPr/>
        </p:nvSpPr>
        <p:spPr>
          <a:xfrm>
            <a:off x="4572000" y="4160520"/>
            <a:ext cx="1280160" cy="320040"/>
          </a:xfrm>
          <a:prstGeom prst="rect">
            <a:avLst/>
          </a:prstGeom>
          <a:solidFill>
            <a:srgbClr val="3FE0E0"/>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001D24"/>
                </a:solidFill>
                <a:effectLst/>
                <a:uLnTx/>
                <a:uFillTx/>
                <a:latin typeface="Calibri" pitchFamily="34" charset="0"/>
                <a:ea typeface="Calibri" pitchFamily="34" charset="-122"/>
                <a:cs typeface="Calibri" pitchFamily="34" charset="-120"/>
              </a:rPr>
              <a:t>CHOSEN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6" name="Table 2"/>
          <p:cNvGraphicFramePr>
            <a:graphicFrameLocks noGrp="1"/>
          </p:cNvGraphicFramePr>
          <p:nvPr/>
        </p:nvGraphicFramePr>
        <p:xfrm>
          <a:off x="685800" y="4617720"/>
          <a:ext cx="5120640" cy="1228344"/>
        </p:xfrm>
        <a:graphic>
          <a:graphicData uri="http://schemas.openxmlformats.org/drawingml/2006/table">
            <a:tbl>
              <a:tblPr/>
              <a:tblGrid>
                <a:gridCol w="15544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92608">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Option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Vendor lock-in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Throughput</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Migration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0"/>
                  </a:ext>
                </a:extLst>
              </a:tr>
              <a:tr h="29260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Kafka (selected)</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None — open source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Millions msg/sec</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 MSK or Confluent</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1"/>
                  </a:ext>
                </a:extLst>
              </a:tr>
              <a:tr h="292608">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AWS Kinesis</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AWS-only</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Comparable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Hard to leave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extLst>
                  <a:ext uri="{0D108BD9-81ED-4DB2-BD59-A6C34878D82A}">
                    <a16:rowId xmlns:a16="http://schemas.microsoft.com/office/drawing/2014/main" val="10002"/>
                  </a:ext>
                </a:extLst>
              </a:tr>
              <a:tr h="292608">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RabbitMQ</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10k msg/sec ceiling</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Different paradigm</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3"/>
                  </a:ext>
                </a:extLst>
              </a:tr>
            </a:tbl>
          </a:graphicData>
        </a:graphic>
      </p:graphicFrame>
      <p:sp>
        <p:nvSpPr>
          <p:cNvPr id="27" name="Shape 22"/>
          <p:cNvSpPr/>
          <p:nvPr/>
        </p:nvSpPr>
        <p:spPr>
          <a:xfrm>
            <a:off x="6080760" y="4023360"/>
            <a:ext cx="5532120" cy="219456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3"/>
          <p:cNvSpPr/>
          <p:nvPr/>
        </p:nvSpPr>
        <p:spPr>
          <a:xfrm>
            <a:off x="6080760" y="4023360"/>
            <a:ext cx="73152" cy="2194560"/>
          </a:xfrm>
          <a:prstGeom prst="rect">
            <a:avLst/>
          </a:prstGeom>
          <a:solidFill>
            <a:srgbClr val="3FE0E0"/>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4"/>
          <p:cNvSpPr/>
          <p:nvPr/>
        </p:nvSpPr>
        <p:spPr>
          <a:xfrm>
            <a:off x="6309360" y="4069080"/>
            <a:ext cx="36576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Apache Airflow</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5"/>
          <p:cNvSpPr/>
          <p:nvPr/>
        </p:nvSpPr>
        <p:spPr>
          <a:xfrm>
            <a:off x="10195560" y="4160520"/>
            <a:ext cx="1280160" cy="320040"/>
          </a:xfrm>
          <a:prstGeom prst="rect">
            <a:avLst/>
          </a:prstGeom>
          <a:solidFill>
            <a:srgbClr val="3FE0E0"/>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200" normalizeH="0" baseline="0" noProof="0" dirty="0">
                <a:ln>
                  <a:noFill/>
                </a:ln>
                <a:solidFill>
                  <a:srgbClr val="001D24"/>
                </a:solidFill>
                <a:effectLst/>
                <a:uLnTx/>
                <a:uFillTx/>
                <a:latin typeface="Calibri" pitchFamily="34" charset="0"/>
                <a:ea typeface="Calibri" pitchFamily="34" charset="-122"/>
                <a:cs typeface="Calibri" pitchFamily="34" charset="-120"/>
              </a:rPr>
              <a:t>CHOSEN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1" name="Table 3"/>
          <p:cNvGraphicFramePr>
            <a:graphicFrameLocks noGrp="1"/>
          </p:cNvGraphicFramePr>
          <p:nvPr/>
        </p:nvGraphicFramePr>
        <p:xfrm>
          <a:off x="6309360" y="4617720"/>
          <a:ext cx="5120640" cy="1228344"/>
        </p:xfrm>
        <a:graphic>
          <a:graphicData uri="http://schemas.openxmlformats.org/drawingml/2006/table">
            <a:tbl>
              <a:tblPr/>
              <a:tblGrid>
                <a:gridCol w="15544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92608">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Option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DAG support</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Retry logic</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b="1" dirty="0">
                          <a:solidFill>
                            <a:srgbClr val="3FE0E0"/>
                          </a:solidFill>
                          <a:latin typeface="Calibri" pitchFamily="34" charset="0"/>
                          <a:ea typeface="Calibri" pitchFamily="34" charset="-122"/>
                          <a:cs typeface="Calibri" pitchFamily="34" charset="-120"/>
                        </a:rPr>
                        <a:t>SLA / monitoring</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0"/>
                  </a:ext>
                </a:extLst>
              </a:tr>
              <a:tr h="292608">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Airflow (selected)</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First-class</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Built-in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FFFFFF"/>
                          </a:solidFill>
                          <a:latin typeface="Calibri" pitchFamily="34" charset="0"/>
                          <a:ea typeface="Calibri" pitchFamily="34" charset="-122"/>
                          <a:cs typeface="Calibri" pitchFamily="34" charset="-120"/>
                        </a:rPr>
                        <a:t>Built-in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1"/>
                  </a:ext>
                </a:extLst>
              </a:tr>
              <a:tr h="292608">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cron + scripts</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Manual</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External tooling</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A4250"/>
                    </a:solidFill>
                  </a:tcPr>
                </a:tc>
                <a:extLst>
                  <a:ext uri="{0D108BD9-81ED-4DB2-BD59-A6C34878D82A}">
                    <a16:rowId xmlns:a16="http://schemas.microsoft.com/office/drawing/2014/main" val="10002"/>
                  </a:ext>
                </a:extLst>
              </a:tr>
              <a:tr h="292608">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Prefect</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First-class</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Built-in</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900" dirty="0">
                          <a:solidFill>
                            <a:srgbClr val="B7D7DC"/>
                          </a:solidFill>
                          <a:latin typeface="Calibri" pitchFamily="34" charset="0"/>
                          <a:ea typeface="Calibri" pitchFamily="34" charset="-122"/>
                          <a:cs typeface="Calibri" pitchFamily="34" charset="-120"/>
                        </a:rPr>
                        <a:t>Smaller community</a:t>
                      </a:r>
                      <a:endParaRPr lang="en-US" sz="900" dirty="0">
                        <a:latin typeface="Calibri" charset="0"/>
                        <a:ea typeface="Calibri" charset="0"/>
                        <a:cs typeface="Calibri" charset="0"/>
                      </a:endParaRPr>
                    </a:p>
                  </a:txBody>
                  <a:tcPr marL="50800" marR="50800" marT="38100" marB="38100" anchor="ctr">
                    <a:lnL w="3810" cap="flat" cmpd="sng" algn="ctr">
                      <a:solidFill>
                        <a:srgbClr val="1E5A6B"/>
                      </a:solidFill>
                      <a:prstDash val="solid"/>
                      <a:round/>
                      <a:headEnd type="none" w="med" len="med"/>
                      <a:tailEnd type="none" w="med" len="med"/>
                    </a:lnL>
                    <a:lnR w="3810" cap="flat" cmpd="sng" algn="ctr">
                      <a:solidFill>
                        <a:srgbClr val="1E5A6B"/>
                      </a:solidFill>
                      <a:prstDash val="solid"/>
                      <a:round/>
                      <a:headEnd type="none" w="med" len="med"/>
                      <a:tailEnd type="none" w="med" len="med"/>
                    </a:lnR>
                    <a:lnT w="3810" cap="flat" cmpd="sng" algn="ctr">
                      <a:solidFill>
                        <a:srgbClr val="1E5A6B"/>
                      </a:solidFill>
                      <a:prstDash val="solid"/>
                      <a:round/>
                      <a:headEnd type="none" w="med" len="med"/>
                      <a:tailEnd type="none" w="med" len="med"/>
                    </a:lnT>
                    <a:lnB w="381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3"/>
                  </a:ext>
                </a:extLst>
              </a:tr>
            </a:tbl>
          </a:graphicData>
        </a:graphic>
      </p:graphicFrame>
      <p:sp>
        <p:nvSpPr>
          <p:cNvPr id="32" name="Text 26"/>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OPTION B</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7"/>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Deep dive · the join logic that makes engagement queryable</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How four heterogeneous datasets become one analytics-ready table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1783080"/>
            <a:ext cx="6675120" cy="429768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685800" y="1920240"/>
            <a:ext cx="62179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3FE0E0"/>
                </a:solidFill>
                <a:effectLst/>
                <a:uLnTx/>
                <a:uFillTx/>
                <a:latin typeface="Calibri" pitchFamily="34" charset="0"/>
                <a:ea typeface="Calibri" pitchFamily="34" charset="-122"/>
                <a:cs typeface="Calibri" pitchFamily="34" charset="-120"/>
              </a:rPr>
              <a:t>JOIN GRAPH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2743200" y="3291840"/>
            <a:ext cx="2103120" cy="640080"/>
          </a:xfrm>
          <a:prstGeom prst="rect">
            <a:avLst/>
          </a:prstGeom>
          <a:solidFill>
            <a:srgbClr val="001D24"/>
          </a:solid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p:nvPr/>
        </p:nvSpPr>
        <p:spPr>
          <a:xfrm>
            <a:off x="2743200" y="3291840"/>
            <a:ext cx="210312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viewing-history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822960" y="2377440"/>
            <a:ext cx="1828800" cy="548640"/>
          </a:xfrm>
          <a:prstGeom prst="rect">
            <a:avLst/>
          </a:prstGeom>
          <a:solidFill>
            <a:srgbClr val="001D24"/>
          </a:solidFill>
          <a:ln w="1905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822960" y="2377440"/>
            <a:ext cx="18288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FBE7D"/>
                </a:solidFill>
                <a:effectLst/>
                <a:uLnTx/>
                <a:uFillTx/>
                <a:latin typeface="Consolas" pitchFamily="34" charset="0"/>
                <a:ea typeface="Consolas" pitchFamily="34" charset="-122"/>
                <a:cs typeface="Consolas" pitchFamily="34" charset="-120"/>
              </a:rPr>
              <a:t>content-catalog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1737360" y="2926080"/>
            <a:ext cx="1463040" cy="320040"/>
          </a:xfrm>
          <a:prstGeom prst="line">
            <a:avLst/>
          </a:prstGeom>
          <a:no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2697480" y="2971800"/>
            <a:ext cx="1828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FBE7D"/>
                </a:solidFill>
                <a:effectLst/>
                <a:uLnTx/>
                <a:uFillTx/>
                <a:latin typeface="Consolas" pitchFamily="34" charset="0"/>
                <a:ea typeface="Consolas" pitchFamily="34" charset="-122"/>
                <a:cs typeface="Consolas" pitchFamily="34" charset="-120"/>
              </a:rPr>
              <a:t>on content_id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937760" y="2377440"/>
            <a:ext cx="1828800" cy="548640"/>
          </a:xfrm>
          <a:prstGeom prst="rect">
            <a:avLst/>
          </a:prstGeom>
          <a:solidFill>
            <a:srgbClr val="001D24"/>
          </a:solidFill>
          <a:ln w="1905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p:nvPr/>
        </p:nvSpPr>
        <p:spPr>
          <a:xfrm>
            <a:off x="4937760" y="2377440"/>
            <a:ext cx="18288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FBE7D"/>
                </a:solidFill>
                <a:effectLst/>
                <a:uLnTx/>
                <a:uFillTx/>
                <a:latin typeface="Consolas" pitchFamily="34" charset="0"/>
                <a:ea typeface="Consolas" pitchFamily="34" charset="-122"/>
                <a:cs typeface="Consolas" pitchFamily="34" charset="-120"/>
              </a:rPr>
              <a:t>user-profiles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5852160" y="2926080"/>
            <a:ext cx="0" cy="320040"/>
          </a:xfrm>
          <a:prstGeom prst="line">
            <a:avLst/>
          </a:prstGeom>
          <a:no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3474720" y="2971800"/>
            <a:ext cx="146304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FBE7D"/>
                </a:solidFill>
                <a:effectLst/>
                <a:uLnTx/>
                <a:uFillTx/>
                <a:latin typeface="Consolas" pitchFamily="34" charset="0"/>
                <a:ea typeface="Consolas" pitchFamily="34" charset="-122"/>
                <a:cs typeface="Consolas" pitchFamily="34" charset="-120"/>
              </a:rPr>
              <a:t>on user_id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2286000" y="4892040"/>
            <a:ext cx="3017520" cy="594360"/>
          </a:xfrm>
          <a:prstGeom prst="rect">
            <a:avLst/>
          </a:prstGeom>
          <a:solidFill>
            <a:srgbClr val="001D24"/>
          </a:solidFill>
          <a:ln w="1905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2286000" y="4892040"/>
            <a:ext cx="301752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0A23E"/>
                </a:solidFill>
                <a:effectLst/>
                <a:uLnTx/>
                <a:uFillTx/>
                <a:latin typeface="Consolas" pitchFamily="34" charset="0"/>
                <a:ea typeface="Consolas" pitchFamily="34" charset="-122"/>
                <a:cs typeface="Consolas" pitchFamily="34" charset="-120"/>
              </a:rPr>
              <a:t>streaming-quality (user-aggregated)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3794760" y="3977640"/>
            <a:ext cx="0" cy="868680"/>
          </a:xfrm>
          <a:prstGeom prst="line">
            <a:avLst/>
          </a:prstGeom>
          <a:noFill/>
          <a:ln w="12700">
            <a:solidFill>
              <a:srgbClr val="F0A23E"/>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3886200" y="4297680"/>
            <a:ext cx="2011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F0A23E"/>
                </a:solidFill>
                <a:effectLst/>
                <a:uLnTx/>
                <a:uFillTx/>
                <a:latin typeface="Consolas" pitchFamily="34" charset="0"/>
                <a:ea typeface="Consolas" pitchFamily="34" charset="-122"/>
                <a:cs typeface="Consolas" pitchFamily="34" charset="-120"/>
              </a:rPr>
              <a:t>on user_id (aggregated)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1554480" y="5623560"/>
            <a:ext cx="4389120" cy="320040"/>
          </a:xfrm>
          <a:prstGeom prst="rect">
            <a:avLst/>
          </a:prstGeom>
          <a:solidFill>
            <a:srgbClr val="3FE0E0"/>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7"/>
          <p:cNvSpPr/>
          <p:nvPr/>
        </p:nvSpPr>
        <p:spPr>
          <a:xfrm>
            <a:off x="1554480" y="5623560"/>
            <a:ext cx="43891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1D24"/>
                </a:solidFill>
                <a:effectLst/>
                <a:uLnTx/>
                <a:uFillTx/>
                <a:latin typeface="Calibri" pitchFamily="34" charset="0"/>
                <a:ea typeface="Calibri" pitchFamily="34" charset="-122"/>
                <a:cs typeface="Calibri" pitchFamily="34" charset="-120"/>
              </a:rPr>
              <a:t>→ enriched-viewing-sessions (one row per viewing event)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7315200" y="1783080"/>
            <a:ext cx="43891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3FE0E0"/>
                </a:solidFill>
                <a:effectLst/>
                <a:uLnTx/>
                <a:uFillTx/>
                <a:latin typeface="Calibri" pitchFamily="34" charset="0"/>
                <a:ea typeface="Calibri" pitchFamily="34" charset="-122"/>
                <a:cs typeface="Calibri" pitchFamily="34" charset="-120"/>
              </a:rPr>
              <a:t>DESIGN DECISION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7315200" y="2103120"/>
            <a:ext cx="438912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Why we aggregate quality to user level before joining</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7315200" y="2743200"/>
            <a:ext cx="4389120" cy="1280160"/>
          </a:xfrm>
          <a:prstGeom prst="rect">
            <a:avLst/>
          </a:prstGeom>
          <a:solidFill>
            <a:srgbClr val="001D24"/>
          </a:solidFill>
          <a:ln w="12700">
            <a:solidFill>
              <a:srgbClr val="E865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7452360" y="2788920"/>
            <a:ext cx="4114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E8654A"/>
                </a:solidFill>
                <a:effectLst/>
                <a:uLnTx/>
                <a:uFillTx/>
                <a:latin typeface="Calibri" pitchFamily="34" charset="0"/>
                <a:ea typeface="Calibri" pitchFamily="34" charset="-122"/>
                <a:cs typeface="Calibri" pitchFamily="34" charset="-120"/>
              </a:rPr>
              <a:t>THE PROBLEM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7452360" y="3063240"/>
            <a:ext cx="4114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Streaming-quality has no session-level join key. Joining at session-level would either drop rows or fabricate keys. Both are unacceptable.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33"/>
          <p:cNvSpPr/>
          <p:nvPr/>
        </p:nvSpPr>
        <p:spPr>
          <a:xfrm>
            <a:off x="7315200" y="4114800"/>
            <a:ext cx="4389120" cy="1280160"/>
          </a:xfrm>
          <a:prstGeom prst="rect">
            <a:avLst/>
          </a:prstGeom>
          <a:solidFill>
            <a:srgbClr val="001D24"/>
          </a:solid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7452360" y="4160520"/>
            <a:ext cx="4114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5FBE7D"/>
                </a:solidFill>
                <a:effectLst/>
                <a:uLnTx/>
                <a:uFillTx/>
                <a:latin typeface="Calibri" pitchFamily="34" charset="0"/>
                <a:ea typeface="Calibri" pitchFamily="34" charset="-122"/>
                <a:cs typeface="Calibri" pitchFamily="34" charset="-120"/>
              </a:rPr>
              <a:t>OUR APPROACH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7452360" y="4434840"/>
            <a:ext cx="4114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Aggregate quality metrics to user-level (avg buffering, bitrate, latency) and join at user_id. Every viewing event gets quality context with zero data loss.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7315200" y="5532120"/>
            <a:ext cx="43891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1" u="none" strike="noStrike" kern="1200" cap="none" spc="0" normalizeH="0" baseline="0" noProof="0" dirty="0">
                <a:ln>
                  <a:noFill/>
                </a:ln>
                <a:solidFill>
                  <a:srgbClr val="3FE0E0"/>
                </a:solidFill>
                <a:effectLst/>
                <a:uLnTx/>
                <a:uFillTx/>
                <a:latin typeface="Calibri" pitchFamily="34" charset="0"/>
                <a:ea typeface="Calibri" pitchFamily="34" charset="-122"/>
                <a:cs typeface="Calibri" pitchFamily="34" charset="-120"/>
              </a:rPr>
              <a:t>Result: 5 datasets become 1 analytics-ready table that backs all four insights.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OPTION C·1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Deep dive · why Lambda architecture, not Kappa</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MediaWave needs both deep historical analytics and real-time alerts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1828800"/>
            <a:ext cx="5394960" cy="3657600"/>
          </a:xfrm>
          <a:prstGeom prst="rect">
            <a:avLst/>
          </a:prstGeom>
          <a:solidFill>
            <a:srgbClr val="0A4250"/>
          </a:solidFill>
          <a:ln w="254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1828800"/>
            <a:ext cx="5394960" cy="457200"/>
          </a:xfrm>
          <a:prstGeom prst="rect">
            <a:avLst/>
          </a:prstGeom>
          <a:solidFill>
            <a:srgbClr val="5FBE7D"/>
          </a:solid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85800" y="1828800"/>
            <a:ext cx="49377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300" normalizeH="0" baseline="0" noProof="0" dirty="0">
                <a:ln>
                  <a:noFill/>
                </a:ln>
                <a:solidFill>
                  <a:srgbClr val="001D24"/>
                </a:solidFill>
                <a:effectLst/>
                <a:uLnTx/>
                <a:uFillTx/>
                <a:latin typeface="Calibri" pitchFamily="34" charset="0"/>
                <a:ea typeface="Calibri" pitchFamily="34" charset="-122"/>
                <a:cs typeface="Calibri" pitchFamily="34" charset="-120"/>
              </a:rPr>
              <a:t>LAMBDA · OUR CHOICE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3"/>
          <p:cNvSpPr/>
          <p:nvPr/>
        </p:nvSpPr>
        <p:spPr>
          <a:xfrm>
            <a:off x="777240" y="2834640"/>
            <a:ext cx="1280160" cy="548640"/>
          </a:xfrm>
          <a:prstGeom prst="rect">
            <a:avLst/>
          </a:prstGeom>
          <a:solidFill>
            <a:srgbClr val="001D24"/>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p:cNvSpPr/>
          <p:nvPr/>
        </p:nvSpPr>
        <p:spPr>
          <a:xfrm>
            <a:off x="777240" y="2834640"/>
            <a:ext cx="128016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Raw events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2560320" y="2606040"/>
            <a:ext cx="1463040" cy="502920"/>
          </a:xfrm>
          <a:prstGeom prst="rect">
            <a:avLst/>
          </a:prstGeom>
          <a:solidFill>
            <a:srgbClr val="001D24"/>
          </a:solid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2560320" y="2606040"/>
            <a:ext cx="146304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FBE7D"/>
                </a:solidFill>
                <a:effectLst/>
                <a:uLnTx/>
                <a:uFillTx/>
                <a:latin typeface="Calibri" pitchFamily="34" charset="0"/>
                <a:ea typeface="Calibri" pitchFamily="34" charset="-122"/>
                <a:cs typeface="Calibri" pitchFamily="34" charset="-120"/>
              </a:rPr>
              <a:t>Batch (Spark)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2560320" y="3246120"/>
            <a:ext cx="1463040" cy="502920"/>
          </a:xfrm>
          <a:prstGeom prst="rect">
            <a:avLst/>
          </a:prstGeom>
          <a:solidFill>
            <a:srgbClr val="001D24"/>
          </a:solidFill>
          <a:ln w="12700">
            <a:solidFill>
              <a:srgbClr val="C586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2560320" y="3246120"/>
            <a:ext cx="146304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586E0"/>
                </a:solidFill>
                <a:effectLst/>
                <a:uLnTx/>
                <a:uFillTx/>
                <a:latin typeface="Calibri" pitchFamily="34" charset="0"/>
                <a:ea typeface="Calibri" pitchFamily="34" charset="-122"/>
                <a:cs typeface="Calibri" pitchFamily="34" charset="-120"/>
              </a:rPr>
              <a:t>Stream (Kafka)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2057400" y="2926080"/>
            <a:ext cx="457200" cy="0"/>
          </a:xfrm>
          <a:prstGeom prst="line">
            <a:avLst/>
          </a:prstGeom>
          <a:no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2057400" y="3200400"/>
            <a:ext cx="457200" cy="274320"/>
          </a:xfrm>
          <a:prstGeom prst="line">
            <a:avLst/>
          </a:prstGeom>
          <a:noFill/>
          <a:ln w="12700">
            <a:solidFill>
              <a:srgbClr val="C586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p:cNvSpPr/>
          <p:nvPr/>
        </p:nvSpPr>
        <p:spPr>
          <a:xfrm>
            <a:off x="4389120" y="2926080"/>
            <a:ext cx="1280160" cy="868680"/>
          </a:xfrm>
          <a:prstGeom prst="rect">
            <a:avLst/>
          </a:prstGeom>
          <a:solidFill>
            <a:srgbClr val="3FE0E0"/>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p:nvPr/>
        </p:nvSpPr>
        <p:spPr>
          <a:xfrm>
            <a:off x="4389120" y="2926080"/>
            <a:ext cx="1280160" cy="8686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1D24"/>
                </a:solidFill>
                <a:effectLst/>
                <a:uLnTx/>
                <a:uFillTx/>
                <a:latin typeface="Calibri" pitchFamily="34" charset="0"/>
                <a:ea typeface="Calibri" pitchFamily="34" charset="-122"/>
                <a:cs typeface="Calibri" pitchFamily="34" charset="-120"/>
              </a:rPr>
              <a:t>Analytics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1D24"/>
                </a:solidFill>
                <a:effectLst/>
                <a:uLnTx/>
                <a:uFillTx/>
                <a:latin typeface="Calibri" pitchFamily="34" charset="0"/>
                <a:ea typeface="Calibri" pitchFamily="34" charset="-122"/>
                <a:cs typeface="Calibri" pitchFamily="34" charset="-120"/>
              </a:rPr>
              <a:t>zone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4023360" y="2862072"/>
            <a:ext cx="365760" cy="502920"/>
          </a:xfrm>
          <a:prstGeom prst="line">
            <a:avLst/>
          </a:prstGeom>
          <a:no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4"/>
          <p:cNvSpPr/>
          <p:nvPr/>
        </p:nvSpPr>
        <p:spPr>
          <a:xfrm>
            <a:off x="4023360" y="3502152"/>
            <a:ext cx="365760" cy="0"/>
          </a:xfrm>
          <a:prstGeom prst="line">
            <a:avLst/>
          </a:prstGeom>
          <a:noFill/>
          <a:ln w="12700">
            <a:solidFill>
              <a:srgbClr val="C586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777240" y="4069080"/>
            <a:ext cx="4754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3FE0E0"/>
                </a:solidFill>
                <a:effectLst/>
                <a:uLnTx/>
                <a:uFillTx/>
                <a:latin typeface="Calibri" pitchFamily="34" charset="0"/>
                <a:ea typeface="Calibri" pitchFamily="34" charset="-122"/>
                <a:cs typeface="Calibri" pitchFamily="34" charset="-120"/>
              </a:rPr>
              <a:t>STRENGTHS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914400" y="4343400"/>
            <a:ext cx="4480560" cy="109728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Deep historical analytics (batch correctness)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Low-latency operational alerts (streaming)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Both layers feed the same analytics zone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Independent scaling of batch vs stream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6126480" y="1828800"/>
            <a:ext cx="5577840" cy="3657600"/>
          </a:xfrm>
          <a:prstGeom prst="rect">
            <a:avLst/>
          </a:prstGeom>
          <a:solidFill>
            <a:srgbClr val="0A4250"/>
          </a:solidFill>
          <a:ln w="25400">
            <a:solidFill>
              <a:srgbClr val="E8654A"/>
            </a:solidFill>
            <a:prstDash val="dash"/>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6126480" y="1828800"/>
            <a:ext cx="5577840" cy="457200"/>
          </a:xfrm>
          <a:prstGeom prst="rect">
            <a:avLst/>
          </a:prstGeom>
          <a:solidFill>
            <a:srgbClr val="E8654A"/>
          </a:solidFill>
          <a:ln w="12700">
            <a:solidFill>
              <a:srgbClr val="E865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9"/>
          <p:cNvSpPr/>
          <p:nvPr/>
        </p:nvSpPr>
        <p:spPr>
          <a:xfrm>
            <a:off x="6355080" y="1828800"/>
            <a:ext cx="51206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300" normalizeH="0" baseline="0" noProof="0" dirty="0">
                <a:ln>
                  <a:noFill/>
                </a:ln>
                <a:solidFill>
                  <a:srgbClr val="FFFFFF"/>
                </a:solidFill>
                <a:effectLst/>
                <a:uLnTx/>
                <a:uFillTx/>
                <a:latin typeface="Calibri" pitchFamily="34" charset="0"/>
                <a:ea typeface="Calibri" pitchFamily="34" charset="-122"/>
                <a:cs typeface="Calibri" pitchFamily="34" charset="-120"/>
              </a:rPr>
              <a:t>KAPPA · CONSIDERED, REJECTED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6446520" y="2926080"/>
            <a:ext cx="1280160" cy="548640"/>
          </a:xfrm>
          <a:prstGeom prst="rect">
            <a:avLst/>
          </a:prstGeom>
          <a:solidFill>
            <a:srgbClr val="001D24"/>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6446520" y="2926080"/>
            <a:ext cx="128016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Raw events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8229600" y="2926080"/>
            <a:ext cx="1463040" cy="548640"/>
          </a:xfrm>
          <a:prstGeom prst="rect">
            <a:avLst/>
          </a:prstGeom>
          <a:solidFill>
            <a:srgbClr val="001D24"/>
          </a:solidFill>
          <a:ln w="12700">
            <a:solidFill>
              <a:srgbClr val="C586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8229600" y="2926080"/>
            <a:ext cx="146304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586E0"/>
                </a:solidFill>
                <a:effectLst/>
                <a:uLnTx/>
                <a:uFillTx/>
                <a:latin typeface="Calibri" pitchFamily="34" charset="0"/>
                <a:ea typeface="Calibri" pitchFamily="34" charset="-122"/>
                <a:cs typeface="Calibri" pitchFamily="34" charset="-120"/>
              </a:rPr>
              <a:t>Stream only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10149840" y="2926080"/>
            <a:ext cx="1280160" cy="54864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10149840" y="2926080"/>
            <a:ext cx="128016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Analytics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Shape 36"/>
          <p:cNvSpPr/>
          <p:nvPr/>
        </p:nvSpPr>
        <p:spPr>
          <a:xfrm>
            <a:off x="7726680" y="3200400"/>
            <a:ext cx="457200" cy="0"/>
          </a:xfrm>
          <a:prstGeom prst="line">
            <a:avLst/>
          </a:prstGeom>
          <a:noFill/>
          <a:ln w="12700">
            <a:solidFill>
              <a:srgbClr val="C586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Shape 37"/>
          <p:cNvSpPr/>
          <p:nvPr/>
        </p:nvSpPr>
        <p:spPr>
          <a:xfrm>
            <a:off x="9692640" y="3200400"/>
            <a:ext cx="457200" cy="0"/>
          </a:xfrm>
          <a:prstGeom prst="line">
            <a:avLst/>
          </a:prstGeom>
          <a:noFill/>
          <a:ln w="12700">
            <a:solidFill>
              <a:srgbClr val="C586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p:cNvSpPr/>
          <p:nvPr/>
        </p:nvSpPr>
        <p:spPr>
          <a:xfrm>
            <a:off x="6446520" y="4023360"/>
            <a:ext cx="4937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E8654A"/>
                </a:solidFill>
                <a:effectLst/>
                <a:uLnTx/>
                <a:uFillTx/>
                <a:latin typeface="Calibri" pitchFamily="34" charset="0"/>
                <a:ea typeface="Calibri" pitchFamily="34" charset="-122"/>
                <a:cs typeface="Calibri" pitchFamily="34" charset="-120"/>
              </a:rPr>
              <a:t>WHY REJECTED FOR MEDIAWAVE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6583680" y="4297680"/>
            <a:ext cx="4663440" cy="109728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Historical re-processing requires replay of full event log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Heavy aggregations expensive in pure streaming systems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Higher operational complexity for analytics queries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MediaWave's analytics tables benefit from batch correctness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40"/>
          <p:cNvSpPr/>
          <p:nvPr/>
        </p:nvSpPr>
        <p:spPr>
          <a:xfrm>
            <a:off x="457200" y="5669280"/>
            <a:ext cx="11247120" cy="548640"/>
          </a:xfrm>
          <a:prstGeom prst="rect">
            <a:avLst/>
          </a:prstGeom>
          <a:solidFill>
            <a:srgbClr val="001D24"/>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1"/>
          <p:cNvSpPr/>
          <p:nvPr/>
        </p:nvSpPr>
        <p:spPr>
          <a:xfrm>
            <a:off x="640080" y="5669280"/>
            <a:ext cx="109728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Lambda gives MediaWave both batch correctness for ROI and churn analysis, and streaming latency for real-time quality alerts.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OPTION C·2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3"/>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Deep dive · three layers of data quality enforcement</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Validation at every stage prevents bad data from reaching analytics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1783080"/>
            <a:ext cx="3703320" cy="41148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1783080"/>
            <a:ext cx="3703320" cy="502920"/>
          </a:xfrm>
          <a:prstGeom prst="rect">
            <a:avLst/>
          </a:prstGeom>
          <a:solidFill>
            <a:srgbClr val="5FBE7D"/>
          </a:solid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731520" y="1783080"/>
            <a:ext cx="32004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01D24"/>
                </a:solidFill>
                <a:effectLst/>
                <a:uLnTx/>
                <a:uFillTx/>
                <a:latin typeface="Calibri" pitchFamily="34" charset="0"/>
                <a:ea typeface="Calibri" pitchFamily="34" charset="-122"/>
                <a:cs typeface="Calibri" pitchFamily="34" charset="-120"/>
              </a:rPr>
              <a:t>TIER 01</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31520" y="2423160"/>
            <a:ext cx="3200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Schema-level cleaning</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31520" y="2926080"/>
            <a:ext cx="3200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3FE0E0"/>
                </a:solidFill>
                <a:effectLst/>
                <a:uLnTx/>
                <a:uFillTx/>
                <a:latin typeface="Calibri" pitchFamily="34" charset="0"/>
                <a:ea typeface="Calibri" pitchFamily="34" charset="-122"/>
                <a:cs typeface="Calibri" pitchFamily="34" charset="-120"/>
              </a:rPr>
              <a:t>Runs in: Spark batch transformation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731520" y="3291840"/>
            <a:ext cx="3200400" cy="182880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Filter null user_id and content_id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Cap duration_watched at total_duration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Clamp completion_pct to [0, 100]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Standardize device strings to 5 categories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Replace null search_query with sentinel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731520" y="5212080"/>
            <a:ext cx="3154680" cy="594360"/>
          </a:xfrm>
          <a:prstGeom prst="rect">
            <a:avLst/>
          </a:prstGeom>
          <a:solidFill>
            <a:srgbClr val="001D24"/>
          </a:solid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868680" y="5212080"/>
            <a:ext cx="28803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200" normalizeH="0" baseline="0" noProof="0" dirty="0">
                <a:ln>
                  <a:noFill/>
                </a:ln>
                <a:solidFill>
                  <a:srgbClr val="5FBE7D"/>
                </a:solidFill>
                <a:effectLst/>
                <a:uLnTx/>
                <a:uFillTx/>
                <a:latin typeface="Calibri" pitchFamily="34" charset="0"/>
                <a:ea typeface="Calibri" pitchFamily="34" charset="-122"/>
                <a:cs typeface="Calibri" pitchFamily="34" charset="-120"/>
              </a:rPr>
              <a:t>CATCHES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68680" y="5394960"/>
            <a:ext cx="2880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Malformed rows from upstream sources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4361688" y="1783080"/>
            <a:ext cx="3703320" cy="41148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20"/>
          <p:cNvSpPr/>
          <p:nvPr/>
        </p:nvSpPr>
        <p:spPr>
          <a:xfrm>
            <a:off x="4361688" y="1783080"/>
            <a:ext cx="3703320" cy="502920"/>
          </a:xfrm>
          <a:prstGeom prst="rect">
            <a:avLst/>
          </a:prstGeom>
          <a:solidFill>
            <a:srgbClr val="F0A23E"/>
          </a:solidFill>
          <a:ln w="1270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4636008" y="1783080"/>
            <a:ext cx="32004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01D24"/>
                </a:solidFill>
                <a:effectLst/>
                <a:uLnTx/>
                <a:uFillTx/>
                <a:latin typeface="Calibri" pitchFamily="34" charset="0"/>
                <a:ea typeface="Calibri" pitchFamily="34" charset="-122"/>
                <a:cs typeface="Calibri" pitchFamily="34" charset="-120"/>
              </a:rPr>
              <a:t>TIER 02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636008" y="2423160"/>
            <a:ext cx="3200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Pipeline quality gate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4636008" y="2926080"/>
            <a:ext cx="3200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3FE0E0"/>
                </a:solidFill>
                <a:effectLst/>
                <a:uLnTx/>
                <a:uFillTx/>
                <a:latin typeface="Calibri" pitchFamily="34" charset="0"/>
                <a:ea typeface="Calibri" pitchFamily="34" charset="-122"/>
                <a:cs typeface="Calibri" pitchFamily="34" charset="-120"/>
              </a:rPr>
              <a:t>Runs in: Airflow DAG (between clean and join)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4636008" y="3291840"/>
            <a:ext cx="3200400" cy="182880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Row count threshold check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Null check on join columns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Schema conformance test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Fails the DAG if violations exceed threshold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Email-on-failure to operations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4636008" y="5212080"/>
            <a:ext cx="3154680" cy="594360"/>
          </a:xfrm>
          <a:prstGeom prst="rect">
            <a:avLst/>
          </a:prstGeom>
          <a:solidFill>
            <a:srgbClr val="001D24"/>
          </a:solidFill>
          <a:ln w="1270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4773168" y="5212080"/>
            <a:ext cx="28803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200" normalizeH="0" baseline="0" noProof="0" dirty="0">
                <a:ln>
                  <a:noFill/>
                </a:ln>
                <a:solidFill>
                  <a:srgbClr val="F0A23E"/>
                </a:solidFill>
                <a:effectLst/>
                <a:uLnTx/>
                <a:uFillTx/>
                <a:latin typeface="Calibri" pitchFamily="34" charset="0"/>
                <a:ea typeface="Calibri" pitchFamily="34" charset="-122"/>
                <a:cs typeface="Calibri" pitchFamily="34" charset="-120"/>
              </a:rPr>
              <a:t>CATCHES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4773168" y="5394960"/>
            <a:ext cx="2880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Drift in upstream data shape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8266176" y="1783080"/>
            <a:ext cx="3703320" cy="41148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Shape 29"/>
          <p:cNvSpPr/>
          <p:nvPr/>
        </p:nvSpPr>
        <p:spPr>
          <a:xfrm>
            <a:off x="8266176" y="1783080"/>
            <a:ext cx="3703320" cy="502920"/>
          </a:xfrm>
          <a:prstGeom prst="rect">
            <a:avLst/>
          </a:prstGeom>
          <a:solidFill>
            <a:srgbClr val="C586E0"/>
          </a:solidFill>
          <a:ln w="12700">
            <a:solidFill>
              <a:srgbClr val="C586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8540496" y="1783080"/>
            <a:ext cx="32004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01D24"/>
                </a:solidFill>
                <a:effectLst/>
                <a:uLnTx/>
                <a:uFillTx/>
                <a:latin typeface="Calibri" pitchFamily="34" charset="0"/>
                <a:ea typeface="Calibri" pitchFamily="34" charset="-122"/>
                <a:cs typeface="Calibri" pitchFamily="34" charset="-120"/>
              </a:rPr>
              <a:t>TIER 03</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8540496" y="2423160"/>
            <a:ext cx="3200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Stream watermarking</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8540496" y="2926080"/>
            <a:ext cx="3200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3FE0E0"/>
                </a:solidFill>
                <a:effectLst/>
                <a:uLnTx/>
                <a:uFillTx/>
                <a:latin typeface="Calibri" pitchFamily="34" charset="0"/>
                <a:ea typeface="Calibri" pitchFamily="34" charset="-122"/>
                <a:cs typeface="Calibri" pitchFamily="34" charset="-120"/>
              </a:rPr>
              <a:t>Runs in: Spark Structured Streaming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8540496" y="3291840"/>
            <a:ext cx="3200400" cy="182880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15-min watermark for viewer aggregations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30-min watermark for session aggregations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Late events past watermark are dropped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Bounded state prevents memory issues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400"/>
              </a:spcAft>
              <a:buClrTx/>
              <a:buSzPct val="100000"/>
              <a:buFontTx/>
              <a:buChar char="●"/>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Logged for monitoring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8540496" y="5212080"/>
            <a:ext cx="3154680" cy="594360"/>
          </a:xfrm>
          <a:prstGeom prst="rect">
            <a:avLst/>
          </a:prstGeom>
          <a:solidFill>
            <a:srgbClr val="001D24"/>
          </a:solidFill>
          <a:ln w="12700">
            <a:solidFill>
              <a:srgbClr val="C586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8677656" y="5212080"/>
            <a:ext cx="28803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200" normalizeH="0" baseline="0" noProof="0" dirty="0">
                <a:ln>
                  <a:noFill/>
                </a:ln>
                <a:solidFill>
                  <a:srgbClr val="C586E0"/>
                </a:solidFill>
                <a:effectLst/>
                <a:uLnTx/>
                <a:uFillTx/>
                <a:latin typeface="Calibri" pitchFamily="34" charset="0"/>
                <a:ea typeface="Calibri" pitchFamily="34" charset="-122"/>
                <a:cs typeface="Calibri" pitchFamily="34" charset="-120"/>
              </a:rPr>
              <a:t>CATCHES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8677656" y="5394960"/>
            <a:ext cx="28803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Late or out-of-order streaming events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7"/>
          <p:cNvSpPr/>
          <p:nvPr/>
        </p:nvSpPr>
        <p:spPr>
          <a:xfrm>
            <a:off x="457200" y="5989320"/>
            <a:ext cx="11247120" cy="365760"/>
          </a:xfrm>
          <a:prstGeom prst="rect">
            <a:avLst/>
          </a:prstGeom>
          <a:solidFill>
            <a:srgbClr val="001D24"/>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p:cNvSpPr/>
          <p:nvPr/>
        </p:nvSpPr>
        <p:spPr>
          <a:xfrm>
            <a:off x="640080" y="5989320"/>
            <a:ext cx="109728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Defense in depth: each tier catches a different class of failure. No single layer is the whole strategy.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9"/>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OPTION C·3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40"/>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Production-ready: quality, idempotency, and fault tolerance</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i="1" kern="0" spc="100" dirty="0">
                <a:solidFill>
                  <a:srgbClr val="3FE0E0"/>
                </a:solidFill>
                <a:latin typeface="Calibri" pitchFamily="34" charset="0"/>
                <a:ea typeface="Calibri" pitchFamily="34" charset="-122"/>
                <a:cs typeface="Calibri" pitchFamily="34" charset="-120"/>
              </a:rPr>
              <a:t>Three controls make the pipeline operational, not academic</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endParaRPr lang="en-US"/>
          </a:p>
        </p:txBody>
      </p:sp>
      <p:sp>
        <p:nvSpPr>
          <p:cNvPr id="12" name="Shape 10"/>
          <p:cNvSpPr/>
          <p:nvPr/>
        </p:nvSpPr>
        <p:spPr>
          <a:xfrm>
            <a:off x="457200" y="1828800"/>
            <a:ext cx="3703320" cy="4251960"/>
          </a:xfrm>
          <a:prstGeom prst="rect">
            <a:avLst/>
          </a:prstGeom>
          <a:solidFill>
            <a:srgbClr val="0A4250"/>
          </a:solidFill>
          <a:ln w="12700">
            <a:solidFill>
              <a:srgbClr val="1E5A6B"/>
            </a:solidFill>
            <a:prstDash val="solid"/>
          </a:ln>
        </p:spPr>
        <p:txBody>
          <a:bodyPr/>
          <a:lstStyle/>
          <a:p>
            <a:endParaRPr lang="en-US"/>
          </a:p>
        </p:txBody>
      </p:sp>
      <p:sp>
        <p:nvSpPr>
          <p:cNvPr id="13" name="Shape 11"/>
          <p:cNvSpPr/>
          <p:nvPr/>
        </p:nvSpPr>
        <p:spPr>
          <a:xfrm>
            <a:off x="457200" y="1828800"/>
            <a:ext cx="3703320" cy="411480"/>
          </a:xfrm>
          <a:prstGeom prst="rect">
            <a:avLst/>
          </a:prstGeom>
          <a:solidFill>
            <a:srgbClr val="3FE0E0"/>
          </a:solidFill>
          <a:ln w="12700">
            <a:solidFill>
              <a:srgbClr val="3FE0E0"/>
            </a:solidFill>
            <a:prstDash val="solid"/>
          </a:ln>
        </p:spPr>
        <p:txBody>
          <a:bodyPr/>
          <a:lstStyle/>
          <a:p>
            <a:endParaRPr lang="en-US"/>
          </a:p>
        </p:txBody>
      </p:sp>
      <p:sp>
        <p:nvSpPr>
          <p:cNvPr id="14" name="Text 12"/>
          <p:cNvSpPr/>
          <p:nvPr/>
        </p:nvSpPr>
        <p:spPr>
          <a:xfrm>
            <a:off x="731520" y="1828800"/>
            <a:ext cx="640080" cy="411480"/>
          </a:xfrm>
          <a:prstGeom prst="rect">
            <a:avLst/>
          </a:prstGeom>
          <a:noFill/>
          <a:ln/>
        </p:spPr>
        <p:txBody>
          <a:bodyPr wrap="square" lIns="0" tIns="0" rIns="0" bIns="0" rtlCol="0" anchor="ctr"/>
          <a:lstStyle/>
          <a:p>
            <a:pPr marL="0" indent="0">
              <a:buNone/>
            </a:pPr>
            <a:r>
              <a:rPr lang="en-US" sz="1400" b="1" dirty="0">
                <a:solidFill>
                  <a:srgbClr val="001D24"/>
                </a:solidFill>
                <a:latin typeface="Calibri" pitchFamily="34" charset="0"/>
                <a:ea typeface="Calibri" pitchFamily="34" charset="-122"/>
                <a:cs typeface="Calibri" pitchFamily="34" charset="-120"/>
              </a:rPr>
              <a:t>01</a:t>
            </a:r>
            <a:endParaRPr lang="en-US" sz="1400" dirty="0"/>
          </a:p>
        </p:txBody>
      </p:sp>
      <p:sp>
        <p:nvSpPr>
          <p:cNvPr id="15" name="Text 13"/>
          <p:cNvSpPr/>
          <p:nvPr/>
        </p:nvSpPr>
        <p:spPr>
          <a:xfrm>
            <a:off x="731520" y="2423160"/>
            <a:ext cx="3200400" cy="457200"/>
          </a:xfrm>
          <a:prstGeom prst="rect">
            <a:avLst/>
          </a:prstGeom>
          <a:noFill/>
          <a:ln/>
        </p:spPr>
        <p:txBody>
          <a:bodyPr wrap="square" lIns="0" tIns="0" rIns="0" bIns="0" rtlCol="0" anchor="ctr"/>
          <a:lstStyle/>
          <a:p>
            <a:pPr marL="0" indent="0">
              <a:buNone/>
            </a:pPr>
            <a:r>
              <a:rPr lang="en-US" sz="1600" b="1" kern="0" spc="100" dirty="0">
                <a:solidFill>
                  <a:srgbClr val="FFFFFF"/>
                </a:solidFill>
                <a:latin typeface="Calibri" pitchFamily="34" charset="0"/>
                <a:ea typeface="Calibri" pitchFamily="34" charset="-122"/>
                <a:cs typeface="Calibri" pitchFamily="34" charset="-120"/>
              </a:rPr>
              <a:t>DATA QUALITY GATES</a:t>
            </a:r>
            <a:endParaRPr lang="en-US" sz="1600" dirty="0"/>
          </a:p>
        </p:txBody>
      </p:sp>
      <p:sp>
        <p:nvSpPr>
          <p:cNvPr id="16" name="Shape 14"/>
          <p:cNvSpPr/>
          <p:nvPr/>
        </p:nvSpPr>
        <p:spPr>
          <a:xfrm>
            <a:off x="731520" y="2971800"/>
            <a:ext cx="731520" cy="0"/>
          </a:xfrm>
          <a:prstGeom prst="line">
            <a:avLst/>
          </a:prstGeom>
          <a:noFill/>
          <a:ln w="25400">
            <a:solidFill>
              <a:srgbClr val="3FE0E0"/>
            </a:solidFill>
            <a:prstDash val="solid"/>
          </a:ln>
        </p:spPr>
        <p:txBody>
          <a:bodyPr/>
          <a:lstStyle/>
          <a:p>
            <a:endParaRPr lang="en-US"/>
          </a:p>
        </p:txBody>
      </p:sp>
      <p:sp>
        <p:nvSpPr>
          <p:cNvPr id="17" name="Text 15"/>
          <p:cNvSpPr/>
          <p:nvPr/>
        </p:nvSpPr>
        <p:spPr>
          <a:xfrm>
            <a:off x="731520" y="3108960"/>
            <a:ext cx="3200400" cy="219456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Row count and null checks run between every stage. Failures stop the DAG and surface to operations before bad data contaminates analytics.</a:t>
            </a:r>
            <a:endParaRPr lang="en-US" sz="1200" dirty="0"/>
          </a:p>
        </p:txBody>
      </p:sp>
      <p:sp>
        <p:nvSpPr>
          <p:cNvPr id="18" name="Shape 16"/>
          <p:cNvSpPr/>
          <p:nvPr/>
        </p:nvSpPr>
        <p:spPr>
          <a:xfrm>
            <a:off x="731520" y="5440680"/>
            <a:ext cx="3154680" cy="502920"/>
          </a:xfrm>
          <a:prstGeom prst="rect">
            <a:avLst/>
          </a:prstGeom>
          <a:solidFill>
            <a:srgbClr val="001D24"/>
          </a:solidFill>
          <a:ln w="12700">
            <a:solidFill>
              <a:srgbClr val="3FE0E0"/>
            </a:solidFill>
            <a:prstDash val="solid"/>
          </a:ln>
        </p:spPr>
        <p:txBody>
          <a:bodyPr/>
          <a:lstStyle/>
          <a:p>
            <a:endParaRPr lang="en-US"/>
          </a:p>
        </p:txBody>
      </p:sp>
      <p:sp>
        <p:nvSpPr>
          <p:cNvPr id="19" name="Text 17"/>
          <p:cNvSpPr/>
          <p:nvPr/>
        </p:nvSpPr>
        <p:spPr>
          <a:xfrm>
            <a:off x="731520" y="5440680"/>
            <a:ext cx="3154680" cy="502920"/>
          </a:xfrm>
          <a:prstGeom prst="rect">
            <a:avLst/>
          </a:prstGeom>
          <a:noFill/>
          <a:ln/>
        </p:spPr>
        <p:txBody>
          <a:bodyPr wrap="square" lIns="0" tIns="0" rIns="0" bIns="0" rtlCol="0" anchor="ctr"/>
          <a:lstStyle/>
          <a:p>
            <a:pPr marL="0" indent="0" algn="ctr">
              <a:buNone/>
            </a:pPr>
            <a:r>
              <a:rPr lang="en-US" sz="1100" i="1" dirty="0">
                <a:solidFill>
                  <a:srgbClr val="3FE0E0"/>
                </a:solidFill>
                <a:latin typeface="Calibri" pitchFamily="34" charset="0"/>
                <a:ea typeface="Calibri" pitchFamily="34" charset="-122"/>
                <a:cs typeface="Calibri" pitchFamily="34" charset="-120"/>
              </a:rPr>
              <a:t>Validates curated data before joins</a:t>
            </a:r>
            <a:endParaRPr lang="en-US" sz="1100" dirty="0"/>
          </a:p>
        </p:txBody>
      </p:sp>
      <p:sp>
        <p:nvSpPr>
          <p:cNvPr id="20" name="Shape 18"/>
          <p:cNvSpPr/>
          <p:nvPr/>
        </p:nvSpPr>
        <p:spPr>
          <a:xfrm>
            <a:off x="4361688" y="1828800"/>
            <a:ext cx="3703320" cy="4251960"/>
          </a:xfrm>
          <a:prstGeom prst="rect">
            <a:avLst/>
          </a:prstGeom>
          <a:solidFill>
            <a:srgbClr val="0A4250"/>
          </a:solidFill>
          <a:ln w="12700">
            <a:solidFill>
              <a:srgbClr val="1E5A6B"/>
            </a:solidFill>
            <a:prstDash val="solid"/>
          </a:ln>
        </p:spPr>
        <p:txBody>
          <a:bodyPr/>
          <a:lstStyle/>
          <a:p>
            <a:endParaRPr lang="en-US"/>
          </a:p>
        </p:txBody>
      </p:sp>
      <p:sp>
        <p:nvSpPr>
          <p:cNvPr id="21" name="Shape 19"/>
          <p:cNvSpPr/>
          <p:nvPr/>
        </p:nvSpPr>
        <p:spPr>
          <a:xfrm>
            <a:off x="4361688" y="1828800"/>
            <a:ext cx="3703320" cy="411480"/>
          </a:xfrm>
          <a:prstGeom prst="rect">
            <a:avLst/>
          </a:prstGeom>
          <a:solidFill>
            <a:srgbClr val="5FBE7D"/>
          </a:solidFill>
          <a:ln w="12700">
            <a:solidFill>
              <a:srgbClr val="5FBE7D"/>
            </a:solidFill>
            <a:prstDash val="solid"/>
          </a:ln>
        </p:spPr>
        <p:txBody>
          <a:bodyPr/>
          <a:lstStyle/>
          <a:p>
            <a:endParaRPr lang="en-US"/>
          </a:p>
        </p:txBody>
      </p:sp>
      <p:sp>
        <p:nvSpPr>
          <p:cNvPr id="22" name="Text 20"/>
          <p:cNvSpPr/>
          <p:nvPr/>
        </p:nvSpPr>
        <p:spPr>
          <a:xfrm>
            <a:off x="4636008" y="1828800"/>
            <a:ext cx="640080" cy="411480"/>
          </a:xfrm>
          <a:prstGeom prst="rect">
            <a:avLst/>
          </a:prstGeom>
          <a:noFill/>
          <a:ln/>
        </p:spPr>
        <p:txBody>
          <a:bodyPr wrap="square" lIns="0" tIns="0" rIns="0" bIns="0" rtlCol="0" anchor="ctr"/>
          <a:lstStyle/>
          <a:p>
            <a:pPr marL="0" indent="0">
              <a:buNone/>
            </a:pPr>
            <a:r>
              <a:rPr lang="en-US" sz="1400" b="1" dirty="0">
                <a:solidFill>
                  <a:srgbClr val="001D24"/>
                </a:solidFill>
                <a:latin typeface="Calibri" pitchFamily="34" charset="0"/>
                <a:ea typeface="Calibri" pitchFamily="34" charset="-122"/>
                <a:cs typeface="Calibri" pitchFamily="34" charset="-120"/>
              </a:rPr>
              <a:t>02</a:t>
            </a:r>
            <a:endParaRPr lang="en-US" sz="1400" dirty="0"/>
          </a:p>
        </p:txBody>
      </p:sp>
      <p:sp>
        <p:nvSpPr>
          <p:cNvPr id="23" name="Text 21"/>
          <p:cNvSpPr/>
          <p:nvPr/>
        </p:nvSpPr>
        <p:spPr>
          <a:xfrm>
            <a:off x="4636008" y="2423160"/>
            <a:ext cx="3200400" cy="457200"/>
          </a:xfrm>
          <a:prstGeom prst="rect">
            <a:avLst/>
          </a:prstGeom>
          <a:noFill/>
          <a:ln/>
        </p:spPr>
        <p:txBody>
          <a:bodyPr wrap="square" lIns="0" tIns="0" rIns="0" bIns="0" rtlCol="0" anchor="ctr"/>
          <a:lstStyle/>
          <a:p>
            <a:pPr marL="0" indent="0">
              <a:buNone/>
            </a:pPr>
            <a:r>
              <a:rPr lang="en-US" sz="1600" b="1" kern="0" spc="100" dirty="0">
                <a:solidFill>
                  <a:srgbClr val="FFFFFF"/>
                </a:solidFill>
                <a:latin typeface="Calibri" pitchFamily="34" charset="0"/>
                <a:ea typeface="Calibri" pitchFamily="34" charset="-122"/>
                <a:cs typeface="Calibri" pitchFamily="34" charset="-120"/>
              </a:rPr>
              <a:t>IDEMPOTENT RE-RUNS</a:t>
            </a:r>
            <a:endParaRPr lang="en-US" sz="1600" dirty="0"/>
          </a:p>
        </p:txBody>
      </p:sp>
      <p:sp>
        <p:nvSpPr>
          <p:cNvPr id="24" name="Shape 22"/>
          <p:cNvSpPr/>
          <p:nvPr/>
        </p:nvSpPr>
        <p:spPr>
          <a:xfrm>
            <a:off x="4636008" y="2971800"/>
            <a:ext cx="731520" cy="0"/>
          </a:xfrm>
          <a:prstGeom prst="line">
            <a:avLst/>
          </a:prstGeom>
          <a:noFill/>
          <a:ln w="25400">
            <a:solidFill>
              <a:srgbClr val="5FBE7D"/>
            </a:solidFill>
            <a:prstDash val="solid"/>
          </a:ln>
        </p:spPr>
        <p:txBody>
          <a:bodyPr/>
          <a:lstStyle/>
          <a:p>
            <a:endParaRPr lang="en-US"/>
          </a:p>
        </p:txBody>
      </p:sp>
      <p:sp>
        <p:nvSpPr>
          <p:cNvPr id="25" name="Text 23"/>
          <p:cNvSpPr/>
          <p:nvPr/>
        </p:nvSpPr>
        <p:spPr>
          <a:xfrm>
            <a:off x="4636008" y="3108960"/>
            <a:ext cx="3200400" cy="219456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All Parquet writes use overwrite mode. Re-running the pipeline produces identical output with no duplicate rows. Safe replay from any task.</a:t>
            </a:r>
            <a:endParaRPr lang="en-US" sz="1200" dirty="0"/>
          </a:p>
        </p:txBody>
      </p:sp>
      <p:sp>
        <p:nvSpPr>
          <p:cNvPr id="26" name="Shape 24"/>
          <p:cNvSpPr/>
          <p:nvPr/>
        </p:nvSpPr>
        <p:spPr>
          <a:xfrm>
            <a:off x="4636008" y="5440680"/>
            <a:ext cx="3154680" cy="502920"/>
          </a:xfrm>
          <a:prstGeom prst="rect">
            <a:avLst/>
          </a:prstGeom>
          <a:solidFill>
            <a:srgbClr val="001D24"/>
          </a:solidFill>
          <a:ln w="12700">
            <a:solidFill>
              <a:srgbClr val="5FBE7D"/>
            </a:solidFill>
            <a:prstDash val="solid"/>
          </a:ln>
        </p:spPr>
        <p:txBody>
          <a:bodyPr/>
          <a:lstStyle/>
          <a:p>
            <a:endParaRPr lang="en-US"/>
          </a:p>
        </p:txBody>
      </p:sp>
      <p:sp>
        <p:nvSpPr>
          <p:cNvPr id="27" name="Text 25"/>
          <p:cNvSpPr/>
          <p:nvPr/>
        </p:nvSpPr>
        <p:spPr>
          <a:xfrm>
            <a:off x="4636008" y="5440680"/>
            <a:ext cx="3154680" cy="502920"/>
          </a:xfrm>
          <a:prstGeom prst="rect">
            <a:avLst/>
          </a:prstGeom>
          <a:noFill/>
          <a:ln/>
        </p:spPr>
        <p:txBody>
          <a:bodyPr wrap="square" lIns="0" tIns="0" rIns="0" bIns="0" rtlCol="0" anchor="ctr"/>
          <a:lstStyle/>
          <a:p>
            <a:pPr marL="0" indent="0" algn="ctr">
              <a:buNone/>
            </a:pPr>
            <a:r>
              <a:rPr lang="en-US" sz="1100" i="1" dirty="0">
                <a:solidFill>
                  <a:srgbClr val="5FBE7D"/>
                </a:solidFill>
                <a:latin typeface="Calibri" pitchFamily="34" charset="0"/>
                <a:ea typeface="Calibri" pitchFamily="34" charset="-122"/>
                <a:cs typeface="Calibri" pitchFamily="34" charset="-120"/>
              </a:rPr>
              <a:t>Verified across 5 test re-runs</a:t>
            </a:r>
            <a:endParaRPr lang="en-US" sz="1100" dirty="0"/>
          </a:p>
        </p:txBody>
      </p:sp>
      <p:sp>
        <p:nvSpPr>
          <p:cNvPr id="28" name="Shape 26"/>
          <p:cNvSpPr/>
          <p:nvPr/>
        </p:nvSpPr>
        <p:spPr>
          <a:xfrm>
            <a:off x="8266176" y="1828800"/>
            <a:ext cx="3703320" cy="4251960"/>
          </a:xfrm>
          <a:prstGeom prst="rect">
            <a:avLst/>
          </a:prstGeom>
          <a:solidFill>
            <a:srgbClr val="0A4250"/>
          </a:solidFill>
          <a:ln w="12700">
            <a:solidFill>
              <a:srgbClr val="1E5A6B"/>
            </a:solidFill>
            <a:prstDash val="solid"/>
          </a:ln>
        </p:spPr>
        <p:txBody>
          <a:bodyPr/>
          <a:lstStyle/>
          <a:p>
            <a:endParaRPr lang="en-US"/>
          </a:p>
        </p:txBody>
      </p:sp>
      <p:sp>
        <p:nvSpPr>
          <p:cNvPr id="29" name="Shape 27"/>
          <p:cNvSpPr/>
          <p:nvPr/>
        </p:nvSpPr>
        <p:spPr>
          <a:xfrm>
            <a:off x="8266176" y="1828800"/>
            <a:ext cx="3703320" cy="411480"/>
          </a:xfrm>
          <a:prstGeom prst="rect">
            <a:avLst/>
          </a:prstGeom>
          <a:solidFill>
            <a:srgbClr val="F0A23E"/>
          </a:solidFill>
          <a:ln w="12700">
            <a:solidFill>
              <a:srgbClr val="F0A23E"/>
            </a:solidFill>
            <a:prstDash val="solid"/>
          </a:ln>
        </p:spPr>
        <p:txBody>
          <a:bodyPr/>
          <a:lstStyle/>
          <a:p>
            <a:endParaRPr lang="en-US"/>
          </a:p>
        </p:txBody>
      </p:sp>
      <p:sp>
        <p:nvSpPr>
          <p:cNvPr id="30" name="Text 28"/>
          <p:cNvSpPr/>
          <p:nvPr/>
        </p:nvSpPr>
        <p:spPr>
          <a:xfrm>
            <a:off x="8540496" y="1828800"/>
            <a:ext cx="640080" cy="411480"/>
          </a:xfrm>
          <a:prstGeom prst="rect">
            <a:avLst/>
          </a:prstGeom>
          <a:noFill/>
          <a:ln/>
        </p:spPr>
        <p:txBody>
          <a:bodyPr wrap="square" lIns="0" tIns="0" rIns="0" bIns="0" rtlCol="0" anchor="ctr"/>
          <a:lstStyle/>
          <a:p>
            <a:pPr marL="0" indent="0">
              <a:buNone/>
            </a:pPr>
            <a:r>
              <a:rPr lang="en-US" sz="1400" b="1" dirty="0">
                <a:solidFill>
                  <a:srgbClr val="001D24"/>
                </a:solidFill>
                <a:latin typeface="Calibri" pitchFamily="34" charset="0"/>
                <a:ea typeface="Calibri" pitchFamily="34" charset="-122"/>
                <a:cs typeface="Calibri" pitchFamily="34" charset="-120"/>
              </a:rPr>
              <a:t>03</a:t>
            </a:r>
            <a:endParaRPr lang="en-US" sz="1400" dirty="0"/>
          </a:p>
        </p:txBody>
      </p:sp>
      <p:sp>
        <p:nvSpPr>
          <p:cNvPr id="31" name="Text 29"/>
          <p:cNvSpPr/>
          <p:nvPr/>
        </p:nvSpPr>
        <p:spPr>
          <a:xfrm>
            <a:off x="8540496" y="2423160"/>
            <a:ext cx="3200400" cy="457200"/>
          </a:xfrm>
          <a:prstGeom prst="rect">
            <a:avLst/>
          </a:prstGeom>
          <a:noFill/>
          <a:ln/>
        </p:spPr>
        <p:txBody>
          <a:bodyPr wrap="square" lIns="0" tIns="0" rIns="0" bIns="0" rtlCol="0" anchor="ctr"/>
          <a:lstStyle/>
          <a:p>
            <a:pPr marL="0" indent="0">
              <a:buNone/>
            </a:pPr>
            <a:r>
              <a:rPr lang="en-US" sz="1600" b="1" kern="0" spc="100" dirty="0">
                <a:solidFill>
                  <a:srgbClr val="FFFFFF"/>
                </a:solidFill>
                <a:latin typeface="Calibri" pitchFamily="34" charset="0"/>
                <a:ea typeface="Calibri" pitchFamily="34" charset="-122"/>
                <a:cs typeface="Calibri" pitchFamily="34" charset="-120"/>
              </a:rPr>
              <a:t>RETRY &amp; MONITORING</a:t>
            </a:r>
            <a:endParaRPr lang="en-US" sz="1600" dirty="0"/>
          </a:p>
        </p:txBody>
      </p:sp>
      <p:sp>
        <p:nvSpPr>
          <p:cNvPr id="32" name="Shape 30"/>
          <p:cNvSpPr/>
          <p:nvPr/>
        </p:nvSpPr>
        <p:spPr>
          <a:xfrm>
            <a:off x="8540496" y="2971800"/>
            <a:ext cx="731520" cy="0"/>
          </a:xfrm>
          <a:prstGeom prst="line">
            <a:avLst/>
          </a:prstGeom>
          <a:noFill/>
          <a:ln w="25400">
            <a:solidFill>
              <a:srgbClr val="F0A23E"/>
            </a:solidFill>
            <a:prstDash val="solid"/>
          </a:ln>
        </p:spPr>
        <p:txBody>
          <a:bodyPr/>
          <a:lstStyle/>
          <a:p>
            <a:endParaRPr lang="en-US"/>
          </a:p>
        </p:txBody>
      </p:sp>
      <p:sp>
        <p:nvSpPr>
          <p:cNvPr id="33" name="Text 31"/>
          <p:cNvSpPr/>
          <p:nvPr/>
        </p:nvSpPr>
        <p:spPr>
          <a:xfrm>
            <a:off x="8540496" y="3108960"/>
            <a:ext cx="3200400" cy="2194560"/>
          </a:xfrm>
          <a:prstGeom prst="rect">
            <a:avLst/>
          </a:prstGeom>
          <a:noFill/>
          <a:ln/>
        </p:spPr>
        <p:txBody>
          <a:bodyPr wrap="square" lIns="0" tIns="0" rIns="0" bIns="0" rtlCol="0" anchor="ctr"/>
          <a:lstStyle/>
          <a:p>
            <a:pPr marL="0" indent="0">
              <a:buNone/>
            </a:pPr>
            <a:r>
              <a:rPr lang="en-US" sz="1200" dirty="0">
                <a:solidFill>
                  <a:srgbClr val="B7D7DC"/>
                </a:solidFill>
                <a:latin typeface="Calibri" pitchFamily="34" charset="0"/>
                <a:ea typeface="Calibri" pitchFamily="34" charset="-122"/>
                <a:cs typeface="Calibri" pitchFamily="34" charset="-120"/>
              </a:rPr>
              <a:t>Airflow handles 2 retries with exponential backoff. Email-on-failure alerting built in. Streaming monitor DAG runs every 15 minutes to check Kafka lag.</a:t>
            </a:r>
            <a:endParaRPr lang="en-US" sz="1200" dirty="0"/>
          </a:p>
        </p:txBody>
      </p:sp>
      <p:sp>
        <p:nvSpPr>
          <p:cNvPr id="34" name="Shape 32"/>
          <p:cNvSpPr/>
          <p:nvPr/>
        </p:nvSpPr>
        <p:spPr>
          <a:xfrm>
            <a:off x="8540496" y="5440680"/>
            <a:ext cx="3154680" cy="502920"/>
          </a:xfrm>
          <a:prstGeom prst="rect">
            <a:avLst/>
          </a:prstGeom>
          <a:solidFill>
            <a:srgbClr val="001D24"/>
          </a:solidFill>
          <a:ln w="12700">
            <a:solidFill>
              <a:srgbClr val="F0A23E"/>
            </a:solidFill>
            <a:prstDash val="solid"/>
          </a:ln>
        </p:spPr>
        <p:txBody>
          <a:bodyPr/>
          <a:lstStyle/>
          <a:p>
            <a:endParaRPr lang="en-US"/>
          </a:p>
        </p:txBody>
      </p:sp>
      <p:sp>
        <p:nvSpPr>
          <p:cNvPr id="35" name="Text 33"/>
          <p:cNvSpPr/>
          <p:nvPr/>
        </p:nvSpPr>
        <p:spPr>
          <a:xfrm>
            <a:off x="8540496" y="5440680"/>
            <a:ext cx="3154680" cy="502920"/>
          </a:xfrm>
          <a:prstGeom prst="rect">
            <a:avLst/>
          </a:prstGeom>
          <a:noFill/>
          <a:ln/>
        </p:spPr>
        <p:txBody>
          <a:bodyPr wrap="square" lIns="0" tIns="0" rIns="0" bIns="0" rtlCol="0" anchor="ctr"/>
          <a:lstStyle/>
          <a:p>
            <a:pPr marL="0" indent="0" algn="ctr">
              <a:buNone/>
            </a:pPr>
            <a:r>
              <a:rPr lang="en-US" sz="1100" i="1" dirty="0">
                <a:solidFill>
                  <a:srgbClr val="F0A23E"/>
                </a:solidFill>
                <a:latin typeface="Calibri" pitchFamily="34" charset="0"/>
                <a:ea typeface="Calibri" pitchFamily="34" charset="-122"/>
                <a:cs typeface="Calibri" pitchFamily="34" charset="-120"/>
              </a:rPr>
              <a:t>30-min max time to detect issue</a:t>
            </a:r>
            <a:endParaRPr lang="en-US" sz="1100" dirty="0"/>
          </a:p>
        </p:txBody>
      </p:sp>
      <p:sp>
        <p:nvSpPr>
          <p:cNvPr id="36" name="Text 34"/>
          <p:cNvSpPr/>
          <p:nvPr/>
        </p:nvSpPr>
        <p:spPr>
          <a:xfrm>
            <a:off x="11338560" y="6446520"/>
            <a:ext cx="640080" cy="274320"/>
          </a:xfrm>
          <a:prstGeom prst="rect">
            <a:avLst/>
          </a:prstGeom>
          <a:noFill/>
          <a:ln/>
        </p:spPr>
        <p:txBody>
          <a:bodyPr wrap="square" lIns="0" tIns="0" rIns="0" bIns="0" rtlCol="0" anchor="ctr"/>
          <a:lstStyle/>
          <a:p>
            <a:pPr marL="0" indent="0" algn="r">
              <a:buNone/>
            </a:pPr>
            <a:r>
              <a:rPr lang="en-US" sz="900" dirty="0">
                <a:solidFill>
                  <a:srgbClr val="7FA8AE"/>
                </a:solidFill>
                <a:latin typeface="Calibri" pitchFamily="34" charset="0"/>
                <a:ea typeface="Calibri" pitchFamily="34" charset="-122"/>
                <a:cs typeface="Calibri" pitchFamily="34" charset="-120"/>
              </a:rPr>
              <a:t>11 / 22</a:t>
            </a:r>
            <a:endParaRPr lang="en-US" sz="900" dirty="0"/>
          </a:p>
        </p:txBody>
      </p:sp>
      <p:sp>
        <p:nvSpPr>
          <p:cNvPr id="37" name="Text 35"/>
          <p:cNvSpPr/>
          <p:nvPr/>
        </p:nvSpPr>
        <p:spPr>
          <a:xfrm>
            <a:off x="365760" y="6446520"/>
            <a:ext cx="7315200" cy="274320"/>
          </a:xfrm>
          <a:prstGeom prst="rect">
            <a:avLst/>
          </a:prstGeom>
          <a:noFill/>
          <a:ln/>
        </p:spPr>
        <p:txBody>
          <a:bodyPr wrap="square" lIns="0" tIns="0" rIns="0" bIns="0" rtlCol="0" anchor="ctr"/>
          <a:lstStyle/>
          <a:p>
            <a:pPr marL="0" indent="0" algn="l">
              <a:buNone/>
            </a:pPr>
            <a:r>
              <a:rPr lang="en-US" sz="900" kern="0" spc="20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12E36"/>
        </a:solidFill>
        <a:effectLst/>
      </p:bgPr>
    </p:bg>
    <p:spTree>
      <p:nvGrpSpPr>
        <p:cNvPr id="1" name="">
          <a:extLst>
            <a:ext uri="{FF2B5EF4-FFF2-40B4-BE49-F238E27FC236}">
              <a16:creationId xmlns:a16="http://schemas.microsoft.com/office/drawing/2014/main" id="{51EAC6BB-69BD-7EB6-DD64-3997AEFE1326}"/>
            </a:ext>
          </a:extLst>
        </p:cNvPr>
        <p:cNvGrpSpPr/>
        <p:nvPr/>
      </p:nvGrpSpPr>
      <p:grpSpPr>
        <a:xfrm>
          <a:off x="0" y="0"/>
          <a:ext cx="0" cy="0"/>
          <a:chOff x="0" y="0"/>
          <a:chExt cx="0" cy="0"/>
        </a:xfrm>
      </p:grpSpPr>
      <p:sp>
        <p:nvSpPr>
          <p:cNvPr id="2" name="Glow 1">
            <a:extLst>
              <a:ext uri="{FF2B5EF4-FFF2-40B4-BE49-F238E27FC236}">
                <a16:creationId xmlns:a16="http://schemas.microsoft.com/office/drawing/2014/main" id="{E7E63701-8948-3EE4-B091-6F1A0CBFC087}"/>
              </a:ext>
            </a:extLst>
          </p:cNvPr>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Glow 2">
            <a:extLst>
              <a:ext uri="{FF2B5EF4-FFF2-40B4-BE49-F238E27FC236}">
                <a16:creationId xmlns:a16="http://schemas.microsoft.com/office/drawing/2014/main" id="{031449D8-C7E7-420B-7C74-B1DB56C28117}"/>
              </a:ext>
            </a:extLst>
          </p:cNvPr>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Glow 3">
            <a:extLst>
              <a:ext uri="{FF2B5EF4-FFF2-40B4-BE49-F238E27FC236}">
                <a16:creationId xmlns:a16="http://schemas.microsoft.com/office/drawing/2014/main" id="{11F86C75-A4DF-10BB-DC51-6A51A26F4B33}"/>
              </a:ext>
            </a:extLst>
          </p:cNvPr>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Glow 4">
            <a:extLst>
              <a:ext uri="{FF2B5EF4-FFF2-40B4-BE49-F238E27FC236}">
                <a16:creationId xmlns:a16="http://schemas.microsoft.com/office/drawing/2014/main" id="{B8A75D79-8C75-3086-548B-155C1B72C3BB}"/>
              </a:ext>
            </a:extLst>
          </p:cNvPr>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treak 1">
            <a:extLst>
              <a:ext uri="{FF2B5EF4-FFF2-40B4-BE49-F238E27FC236}">
                <a16:creationId xmlns:a16="http://schemas.microsoft.com/office/drawing/2014/main" id="{C6C0ACE7-660B-3685-040B-EF117D0DE3E4}"/>
              </a:ext>
            </a:extLst>
          </p:cNvPr>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treak 2">
            <a:extLst>
              <a:ext uri="{FF2B5EF4-FFF2-40B4-BE49-F238E27FC236}">
                <a16:creationId xmlns:a16="http://schemas.microsoft.com/office/drawing/2014/main" id="{C4A641FE-7C83-AD3B-8CFE-8F4A2BC4B83D}"/>
              </a:ext>
            </a:extLst>
          </p:cNvPr>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treak 3">
            <a:extLst>
              <a:ext uri="{FF2B5EF4-FFF2-40B4-BE49-F238E27FC236}">
                <a16:creationId xmlns:a16="http://schemas.microsoft.com/office/drawing/2014/main" id="{9FE480AA-8BB7-48A8-6BE5-56CCDCB9425D}"/>
              </a:ext>
            </a:extLst>
          </p:cNvPr>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itle">
            <a:extLst>
              <a:ext uri="{FF2B5EF4-FFF2-40B4-BE49-F238E27FC236}">
                <a16:creationId xmlns:a16="http://schemas.microsoft.com/office/drawing/2014/main" id="{B42E985E-1796-AE94-2989-2A39EDD5A301}"/>
              </a:ext>
            </a:extLst>
          </p:cNvPr>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Pipeline in action · all four layers running on a single command</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ubtitle">
            <a:extLst>
              <a:ext uri="{FF2B5EF4-FFF2-40B4-BE49-F238E27FC236}">
                <a16:creationId xmlns:a16="http://schemas.microsoft.com/office/drawing/2014/main" id="{2684F259-C4C0-AAE0-FAB2-9A1FBF773BAC}"/>
              </a:ext>
            </a:extLst>
          </p:cNvPr>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Captured from a live deployment of the stack</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Accent Line">
            <a:extLst>
              <a:ext uri="{FF2B5EF4-FFF2-40B4-BE49-F238E27FC236}">
                <a16:creationId xmlns:a16="http://schemas.microsoft.com/office/drawing/2014/main" id="{81337BED-E7C7-BA82-CEDC-060B71DEEAC9}"/>
              </a:ext>
            </a:extLst>
          </p:cNvPr>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HDFS Screenshot">
            <a:extLst>
              <a:ext uri="{FF2B5EF4-FFF2-40B4-BE49-F238E27FC236}">
                <a16:creationId xmlns:a16="http://schemas.microsoft.com/office/drawing/2014/main" id="{421E171F-7615-AB17-ECFB-DE0993597BFE}"/>
              </a:ext>
            </a:extLst>
          </p:cNvPr>
          <p:cNvPicPr>
            <a:picLocks noChangeAspect="1"/>
          </p:cNvPicPr>
          <p:nvPr/>
        </p:nvPicPr>
        <p:blipFill>
          <a:blip r:embed="rId3"/>
          <a:stretch>
            <a:fillRect/>
          </a:stretch>
        </p:blipFill>
        <p:spPr>
          <a:xfrm>
            <a:off x="3262192" y="1368574"/>
            <a:ext cx="5400000" cy="2508509"/>
          </a:xfrm>
          <a:prstGeom prst="rect">
            <a:avLst/>
          </a:prstGeom>
          <a:ln w="12700">
            <a:solidFill>
              <a:srgbClr val="3FE0E0"/>
            </a:solidFill>
            <a:prstDash val="solid"/>
          </a:ln>
        </p:spPr>
      </p:pic>
      <p:sp>
        <p:nvSpPr>
          <p:cNvPr id="14" name="Caption TL">
            <a:extLst>
              <a:ext uri="{FF2B5EF4-FFF2-40B4-BE49-F238E27FC236}">
                <a16:creationId xmlns:a16="http://schemas.microsoft.com/office/drawing/2014/main" id="{CA911A56-AFFF-D876-5370-661130E0E7EF}"/>
              </a:ext>
            </a:extLst>
          </p:cNvPr>
          <p:cNvSpPr/>
          <p:nvPr/>
        </p:nvSpPr>
        <p:spPr>
          <a:xfrm>
            <a:off x="3262191" y="3887084"/>
            <a:ext cx="5400000" cy="24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HDFS · </a:t>
            </a: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5 datasets landed in /mediawave-lake/landing</a:t>
            </a:r>
          </a:p>
        </p:txBody>
      </p:sp>
      <p:pic>
        <p:nvPicPr>
          <p:cNvPr id="16" name="Airflow Screenshot">
            <a:extLst>
              <a:ext uri="{FF2B5EF4-FFF2-40B4-BE49-F238E27FC236}">
                <a16:creationId xmlns:a16="http://schemas.microsoft.com/office/drawing/2014/main" id="{7A214B87-0F75-A958-89E5-47D60296D10D}"/>
              </a:ext>
            </a:extLst>
          </p:cNvPr>
          <p:cNvPicPr>
            <a:picLocks noChangeAspect="1"/>
          </p:cNvPicPr>
          <p:nvPr/>
        </p:nvPicPr>
        <p:blipFill>
          <a:blip r:embed="rId4"/>
          <a:stretch>
            <a:fillRect/>
          </a:stretch>
        </p:blipFill>
        <p:spPr>
          <a:xfrm>
            <a:off x="3262191" y="4368284"/>
            <a:ext cx="5400000" cy="1900000"/>
          </a:xfrm>
          <a:prstGeom prst="rect">
            <a:avLst/>
          </a:prstGeom>
          <a:ln w="12700">
            <a:solidFill>
              <a:srgbClr val="3FE0E0"/>
            </a:solidFill>
            <a:prstDash val="solid"/>
          </a:ln>
        </p:spPr>
      </p:pic>
      <p:sp>
        <p:nvSpPr>
          <p:cNvPr id="18" name="Caption BL">
            <a:extLst>
              <a:ext uri="{FF2B5EF4-FFF2-40B4-BE49-F238E27FC236}">
                <a16:creationId xmlns:a16="http://schemas.microsoft.com/office/drawing/2014/main" id="{645D1771-A26F-479B-6387-6B56C0A022C1}"/>
              </a:ext>
            </a:extLst>
          </p:cNvPr>
          <p:cNvSpPr/>
          <p:nvPr/>
        </p:nvSpPr>
        <p:spPr>
          <a:xfrm>
            <a:off x="3262191" y="6278284"/>
            <a:ext cx="5400000" cy="24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Airflow · </a:t>
            </a: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DAG green across all tasks</a:t>
            </a:r>
          </a:p>
        </p:txBody>
      </p:sp>
      <p:sp>
        <p:nvSpPr>
          <p:cNvPr id="20" name="Page Number">
            <a:extLst>
              <a:ext uri="{FF2B5EF4-FFF2-40B4-BE49-F238E27FC236}">
                <a16:creationId xmlns:a16="http://schemas.microsoft.com/office/drawing/2014/main" id="{12CF136D-2D95-F876-6F21-4B56E4006076}"/>
              </a:ext>
            </a:extLst>
          </p:cNvPr>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12 / 24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Footer">
            <a:extLst>
              <a:ext uri="{FF2B5EF4-FFF2-40B4-BE49-F238E27FC236}">
                <a16:creationId xmlns:a16="http://schemas.microsoft.com/office/drawing/2014/main" id="{BEA05659-B9D4-EAC0-E557-DF6D85A0B4D0}"/>
              </a:ext>
            </a:extLst>
          </p:cNvPr>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6956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731520" y="2377440"/>
            <a:ext cx="1828800" cy="1645920"/>
          </a:xfrm>
          <a:prstGeom prst="rect">
            <a:avLst/>
          </a:prstGeom>
          <a:noFill/>
          <a:ln/>
        </p:spPr>
        <p:txBody>
          <a:bodyPr wrap="square" lIns="0" tIns="0" rIns="0" bIns="0" rtlCol="0" anchor="ctr"/>
          <a:lstStyle/>
          <a:p>
            <a:pPr marL="0" indent="0" algn="l">
              <a:buNone/>
            </a:pPr>
            <a:r>
              <a:rPr lang="en-US" sz="10000" b="1" dirty="0">
                <a:solidFill>
                  <a:srgbClr val="FFFFFF"/>
                </a:solidFill>
                <a:latin typeface="Calibri" pitchFamily="34" charset="0"/>
                <a:ea typeface="Calibri" pitchFamily="34" charset="-122"/>
                <a:cs typeface="Calibri" pitchFamily="34" charset="-120"/>
              </a:rPr>
              <a:t>04</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txBody>
          <a:bodyPr/>
          <a:lstStyle/>
          <a:p>
            <a:endParaRPr lang="en-US"/>
          </a:p>
        </p:txBody>
      </p:sp>
      <p:sp>
        <p:nvSpPr>
          <p:cNvPr id="11" name="Text 9"/>
          <p:cNvSpPr/>
          <p:nvPr/>
        </p:nvSpPr>
        <p:spPr>
          <a:xfrm>
            <a:off x="2926080" y="2468880"/>
            <a:ext cx="7772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What the Data Reveals</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marL="0" indent="0">
              <a:buNone/>
            </a:pPr>
            <a:r>
              <a:rPr lang="en-US" sz="1600" i="1" kern="0" spc="200" dirty="0">
                <a:solidFill>
                  <a:srgbClr val="3FE0E0"/>
                </a:solidFill>
                <a:latin typeface="Calibri" pitchFamily="34" charset="0"/>
                <a:ea typeface="Calibri" pitchFamily="34" charset="-122"/>
                <a:cs typeface="Calibri" pitchFamily="34" charset="-120"/>
              </a:rPr>
              <a:t>FOUR INSIGHTS WITH QUANTIFIED BUSINESS IMPACT</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3">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Insight 01 · Content ROI is concentrated in a small share of titles</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i="1" kern="0" spc="100" dirty="0">
                <a:solidFill>
                  <a:srgbClr val="3FE0E0"/>
                </a:solidFill>
                <a:latin typeface="Calibri" pitchFamily="34" charset="0"/>
                <a:ea typeface="Calibri" pitchFamily="34" charset="-122"/>
                <a:cs typeface="Calibri" pitchFamily="34" charset="-120"/>
              </a:rPr>
              <a:t>Custom metric: cost per viewing hour reveals where catalog spend underperforms</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endParaRPr lang="en-US"/>
          </a:p>
        </p:txBody>
      </p:sp>
      <p:sp>
        <p:nvSpPr>
          <p:cNvPr id="12" name="Shape 10"/>
          <p:cNvSpPr/>
          <p:nvPr/>
        </p:nvSpPr>
        <p:spPr>
          <a:xfrm>
            <a:off x="457200" y="1828800"/>
            <a:ext cx="5029200" cy="4251960"/>
          </a:xfrm>
          <a:prstGeom prst="rect">
            <a:avLst/>
          </a:prstGeom>
          <a:solidFill>
            <a:srgbClr val="0A4250"/>
          </a:solidFill>
          <a:ln w="12700">
            <a:solidFill>
              <a:srgbClr val="1E5A6B"/>
            </a:solidFill>
            <a:prstDash val="solid"/>
          </a:ln>
        </p:spPr>
        <p:txBody>
          <a:bodyPr/>
          <a:lstStyle/>
          <a:p>
            <a:endParaRPr lang="en-US"/>
          </a:p>
        </p:txBody>
      </p:sp>
      <p:sp>
        <p:nvSpPr>
          <p:cNvPr id="13" name="Text 11"/>
          <p:cNvSpPr/>
          <p:nvPr/>
        </p:nvSpPr>
        <p:spPr>
          <a:xfrm>
            <a:off x="640080" y="1965960"/>
            <a:ext cx="4663440" cy="274320"/>
          </a:xfrm>
          <a:prstGeom prst="rect">
            <a:avLst/>
          </a:prstGeom>
          <a:noFill/>
          <a:ln/>
        </p:spPr>
        <p:txBody>
          <a:bodyPr wrap="square" lIns="0" tIns="0" rIns="0" bIns="0" rtlCol="0" anchor="ctr"/>
          <a:lstStyle/>
          <a:p>
            <a:pPr marL="0" indent="0">
              <a:buNone/>
            </a:pPr>
            <a:r>
              <a:rPr lang="en-US" sz="1000" kern="0" spc="300" dirty="0">
                <a:solidFill>
                  <a:srgbClr val="3FE0E0"/>
                </a:solidFill>
                <a:latin typeface="Calibri" pitchFamily="34" charset="0"/>
                <a:ea typeface="Calibri" pitchFamily="34" charset="-122"/>
                <a:cs typeface="Calibri" pitchFamily="34" charset="-120"/>
              </a:rPr>
              <a:t>CUSTOM METRIC</a:t>
            </a:r>
            <a:endParaRPr lang="en-US" sz="1000" dirty="0"/>
          </a:p>
        </p:txBody>
      </p:sp>
      <p:sp>
        <p:nvSpPr>
          <p:cNvPr id="14" name="Text 12"/>
          <p:cNvSpPr/>
          <p:nvPr/>
        </p:nvSpPr>
        <p:spPr>
          <a:xfrm>
            <a:off x="640080" y="2286000"/>
            <a:ext cx="4663440" cy="411480"/>
          </a:xfrm>
          <a:prstGeom prst="rect">
            <a:avLst/>
          </a:prstGeom>
          <a:noFill/>
          <a:ln/>
        </p:spPr>
        <p:txBody>
          <a:bodyPr wrap="square" lIns="0" tIns="0" rIns="0" bIns="0" rtlCol="0" anchor="ctr"/>
          <a:lstStyle/>
          <a:p>
            <a:pPr marL="0" indent="0">
              <a:buNone/>
            </a:pPr>
            <a:r>
              <a:rPr lang="en-US" sz="1800" b="1" dirty="0">
                <a:solidFill>
                  <a:srgbClr val="FFFFFF"/>
                </a:solidFill>
                <a:latin typeface="Consolas" pitchFamily="34" charset="0"/>
                <a:ea typeface="Consolas" pitchFamily="34" charset="-122"/>
                <a:cs typeface="Consolas" pitchFamily="34" charset="-120"/>
              </a:rPr>
              <a:t>cost_per_viewing_hour</a:t>
            </a:r>
            <a:endParaRPr lang="en-US" sz="1800" dirty="0"/>
          </a:p>
        </p:txBody>
      </p:sp>
      <p:sp>
        <p:nvSpPr>
          <p:cNvPr id="15" name="Text 13"/>
          <p:cNvSpPr/>
          <p:nvPr/>
        </p:nvSpPr>
        <p:spPr>
          <a:xfrm>
            <a:off x="640080" y="3108960"/>
            <a:ext cx="4663440" cy="411480"/>
          </a:xfrm>
          <a:prstGeom prst="rect">
            <a:avLst/>
          </a:prstGeom>
          <a:noFill/>
          <a:ln/>
        </p:spPr>
        <p:txBody>
          <a:bodyPr wrap="square" lIns="0" tIns="0" rIns="0" bIns="0" rtlCol="0" anchor="ctr"/>
          <a:lstStyle/>
          <a:p>
            <a:pPr marL="0" indent="0" algn="ctr">
              <a:buNone/>
            </a:pPr>
            <a:r>
              <a:rPr lang="en-US" sz="1600" b="1" dirty="0">
                <a:solidFill>
                  <a:srgbClr val="5BC9C9"/>
                </a:solidFill>
                <a:latin typeface="Calibri" pitchFamily="34" charset="0"/>
                <a:ea typeface="Calibri" pitchFamily="34" charset="-122"/>
                <a:cs typeface="Calibri" pitchFamily="34" charset="-120"/>
              </a:rPr>
              <a:t>monthly license cost</a:t>
            </a:r>
            <a:endParaRPr lang="en-US" sz="1600" dirty="0"/>
          </a:p>
        </p:txBody>
      </p:sp>
      <p:sp>
        <p:nvSpPr>
          <p:cNvPr id="16" name="Shape 14"/>
          <p:cNvSpPr/>
          <p:nvPr/>
        </p:nvSpPr>
        <p:spPr>
          <a:xfrm>
            <a:off x="1371600" y="3611880"/>
            <a:ext cx="3200400" cy="0"/>
          </a:xfrm>
          <a:prstGeom prst="line">
            <a:avLst/>
          </a:prstGeom>
          <a:noFill/>
          <a:ln w="25400">
            <a:solidFill>
              <a:srgbClr val="3FE0E0"/>
            </a:solidFill>
            <a:prstDash val="solid"/>
          </a:ln>
        </p:spPr>
        <p:txBody>
          <a:bodyPr/>
          <a:lstStyle/>
          <a:p>
            <a:endParaRPr lang="en-US"/>
          </a:p>
        </p:txBody>
      </p:sp>
      <p:sp>
        <p:nvSpPr>
          <p:cNvPr id="17" name="Text 15"/>
          <p:cNvSpPr/>
          <p:nvPr/>
        </p:nvSpPr>
        <p:spPr>
          <a:xfrm>
            <a:off x="640080" y="3703320"/>
            <a:ext cx="4663440" cy="411480"/>
          </a:xfrm>
          <a:prstGeom prst="rect">
            <a:avLst/>
          </a:prstGeom>
          <a:noFill/>
          <a:ln/>
        </p:spPr>
        <p:txBody>
          <a:bodyPr wrap="square" lIns="0" tIns="0" rIns="0" bIns="0" rtlCol="0" anchor="ctr"/>
          <a:lstStyle/>
          <a:p>
            <a:pPr marL="0" indent="0" algn="ctr">
              <a:buNone/>
            </a:pPr>
            <a:r>
              <a:rPr lang="en-US" sz="1600" b="1" dirty="0">
                <a:solidFill>
                  <a:srgbClr val="5BC9C9"/>
                </a:solidFill>
                <a:latin typeface="Calibri" pitchFamily="34" charset="0"/>
                <a:ea typeface="Calibri" pitchFamily="34" charset="-122"/>
                <a:cs typeface="Calibri" pitchFamily="34" charset="-120"/>
              </a:rPr>
              <a:t>total viewing hours</a:t>
            </a:r>
            <a:endParaRPr lang="en-US" sz="1600" dirty="0"/>
          </a:p>
        </p:txBody>
      </p:sp>
      <p:sp>
        <p:nvSpPr>
          <p:cNvPr id="18" name="Text 16"/>
          <p:cNvSpPr/>
          <p:nvPr/>
        </p:nvSpPr>
        <p:spPr>
          <a:xfrm>
            <a:off x="640080" y="4434840"/>
            <a:ext cx="4663440" cy="1554480"/>
          </a:xfrm>
          <a:prstGeom prst="rect">
            <a:avLst/>
          </a:prstGeom>
          <a:noFill/>
          <a:ln/>
        </p:spPr>
        <p:txBody>
          <a:bodyPr wrap="square" lIns="0" tIns="0" rIns="0" bIns="0" rtlCol="0" anchor="ctr"/>
          <a:lstStyle/>
          <a:p>
            <a:pPr marL="0" indent="0">
              <a:buNone/>
            </a:pPr>
            <a:r>
              <a:rPr lang="en-US" sz="1200" i="1" dirty="0">
                <a:solidFill>
                  <a:srgbClr val="B7D7DC"/>
                </a:solidFill>
                <a:latin typeface="Calibri" pitchFamily="34" charset="0"/>
                <a:ea typeface="Calibri" pitchFamily="34" charset="-122"/>
                <a:cs typeface="Calibri" pitchFamily="34" charset="-120"/>
              </a:rPr>
              <a:t>Dollars-out divided by hours-watched yields a clean per-title ROI signal that MediaWave can act on at the next license cycle.</a:t>
            </a:r>
            <a:endParaRPr lang="en-US" sz="1200" dirty="0"/>
          </a:p>
        </p:txBody>
      </p:sp>
      <p:sp>
        <p:nvSpPr>
          <p:cNvPr id="19" name="Text 17"/>
          <p:cNvSpPr/>
          <p:nvPr/>
        </p:nvSpPr>
        <p:spPr>
          <a:xfrm>
            <a:off x="5760720" y="1828800"/>
            <a:ext cx="5943600" cy="274320"/>
          </a:xfrm>
          <a:prstGeom prst="rect">
            <a:avLst/>
          </a:prstGeom>
          <a:noFill/>
          <a:ln/>
        </p:spPr>
        <p:txBody>
          <a:bodyPr wrap="square" lIns="0" tIns="0" rIns="0" bIns="0" rtlCol="0" anchor="ctr"/>
          <a:lstStyle/>
          <a:p>
            <a:pPr marL="0" indent="0">
              <a:buNone/>
            </a:pPr>
            <a:r>
              <a:rPr lang="en-US" sz="1000" kern="0" spc="300" dirty="0">
                <a:solidFill>
                  <a:srgbClr val="3FE0E0"/>
                </a:solidFill>
                <a:latin typeface="Calibri" pitchFamily="34" charset="0"/>
                <a:ea typeface="Calibri" pitchFamily="34" charset="-122"/>
                <a:cs typeface="Calibri" pitchFamily="34" charset="-120"/>
              </a:rPr>
              <a:t>WHAT WE FOUND</a:t>
            </a:r>
            <a:endParaRPr lang="en-US" sz="1000" dirty="0"/>
          </a:p>
        </p:txBody>
      </p:sp>
      <p:sp>
        <p:nvSpPr>
          <p:cNvPr id="20" name="Text 18"/>
          <p:cNvSpPr/>
          <p:nvPr/>
        </p:nvSpPr>
        <p:spPr>
          <a:xfrm>
            <a:off x="5760720" y="2194560"/>
            <a:ext cx="5943600" cy="1645920"/>
          </a:xfrm>
          <a:prstGeom prst="rect">
            <a:avLst/>
          </a:prstGeom>
          <a:noFill/>
          <a:ln/>
        </p:spPr>
        <p:txBody>
          <a:bodyPr wrap="square" lIns="0" tIns="0" rIns="0" bIns="0" rtlCol="0" anchor="ctr"/>
          <a:lstStyle/>
          <a:p>
            <a:pPr marL="342900" indent="-342900">
              <a:buSzPct val="100000"/>
              <a:buChar char="●"/>
            </a:pPr>
            <a:r>
              <a:rPr lang="en-US" sz="1300" i="1" dirty="0">
                <a:solidFill>
                  <a:srgbClr val="B7D7DC"/>
                </a:solidFill>
                <a:latin typeface="Calibri" pitchFamily="34" charset="0"/>
                <a:ea typeface="Calibri" pitchFamily="34" charset="-122"/>
                <a:cs typeface="Calibri" pitchFamily="34" charset="-120"/>
              </a:rPr>
              <a:t>Top 3 worst-ROI titles to be inserted from analytics output</a:t>
            </a:r>
            <a:endParaRPr lang="en-US" sz="1300" dirty="0"/>
          </a:p>
          <a:p>
            <a:pPr marL="342900" indent="-342900">
              <a:buSzPct val="100000"/>
              <a:buChar char="●"/>
            </a:pPr>
            <a:r>
              <a:rPr lang="en-US" sz="1300" i="1" dirty="0">
                <a:solidFill>
                  <a:srgbClr val="B7D7DC"/>
                </a:solidFill>
                <a:latin typeface="Calibri" pitchFamily="34" charset="0"/>
                <a:ea typeface="Calibri" pitchFamily="34" charset="-122"/>
                <a:cs typeface="Calibri" pitchFamily="34" charset="-120"/>
              </a:rPr>
              <a:t>Bottom 3 best-ROI titles to be inserted from analytics output</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Bottom-decile titles drive a measurable share of catalog cost without proportional engagement</a:t>
            </a:r>
            <a:endParaRPr lang="en-US" sz="1300" dirty="0"/>
          </a:p>
        </p:txBody>
      </p:sp>
      <p:sp>
        <p:nvSpPr>
          <p:cNvPr id="21" name="Shape 19"/>
          <p:cNvSpPr/>
          <p:nvPr/>
        </p:nvSpPr>
        <p:spPr>
          <a:xfrm>
            <a:off x="5760720" y="4023360"/>
            <a:ext cx="5943600" cy="2057400"/>
          </a:xfrm>
          <a:prstGeom prst="rect">
            <a:avLst/>
          </a:prstGeom>
          <a:solidFill>
            <a:srgbClr val="001D24"/>
          </a:solidFill>
          <a:ln w="25400">
            <a:solidFill>
              <a:srgbClr val="3FE0E0"/>
            </a:solidFill>
            <a:prstDash val="solid"/>
          </a:ln>
        </p:spPr>
        <p:txBody>
          <a:bodyPr/>
          <a:lstStyle/>
          <a:p>
            <a:endParaRPr lang="en-US"/>
          </a:p>
        </p:txBody>
      </p:sp>
      <p:sp>
        <p:nvSpPr>
          <p:cNvPr id="22" name="Text 20"/>
          <p:cNvSpPr/>
          <p:nvPr/>
        </p:nvSpPr>
        <p:spPr>
          <a:xfrm>
            <a:off x="5943600" y="4160520"/>
            <a:ext cx="5577840" cy="274320"/>
          </a:xfrm>
          <a:prstGeom prst="rect">
            <a:avLst/>
          </a:prstGeom>
          <a:noFill/>
          <a:ln/>
        </p:spPr>
        <p:txBody>
          <a:bodyPr wrap="square" lIns="0" tIns="0" rIns="0" bIns="0" rtlCol="0" anchor="ctr"/>
          <a:lstStyle/>
          <a:p>
            <a:pPr marL="0" indent="0">
              <a:buNone/>
            </a:pPr>
            <a:r>
              <a:rPr lang="en-US" sz="1000" kern="0" spc="300" dirty="0">
                <a:solidFill>
                  <a:srgbClr val="3FE0E0"/>
                </a:solidFill>
                <a:latin typeface="Calibri" pitchFamily="34" charset="0"/>
                <a:ea typeface="Calibri" pitchFamily="34" charset="-122"/>
                <a:cs typeface="Calibri" pitchFamily="34" charset="-120"/>
              </a:rPr>
              <a:t>RECOMMENDATION</a:t>
            </a:r>
            <a:endParaRPr lang="en-US" sz="1000" dirty="0"/>
          </a:p>
        </p:txBody>
      </p:sp>
      <p:sp>
        <p:nvSpPr>
          <p:cNvPr id="23" name="Text 21"/>
          <p:cNvSpPr/>
          <p:nvPr/>
        </p:nvSpPr>
        <p:spPr>
          <a:xfrm>
            <a:off x="5943600" y="4526280"/>
            <a:ext cx="5577840" cy="14173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Drop bottom-decile titles by ROI at next license cycle. Estimated annual savings: $X. Promote best-ROI titles in next campaign — efficiency compounds with promotion.</a:t>
            </a:r>
            <a:endParaRPr lang="en-US" sz="1300" dirty="0"/>
          </a:p>
        </p:txBody>
      </p:sp>
      <p:sp>
        <p:nvSpPr>
          <p:cNvPr id="24" name="Text 22"/>
          <p:cNvSpPr/>
          <p:nvPr/>
        </p:nvSpPr>
        <p:spPr>
          <a:xfrm>
            <a:off x="11338560" y="6446520"/>
            <a:ext cx="640080" cy="274320"/>
          </a:xfrm>
          <a:prstGeom prst="rect">
            <a:avLst/>
          </a:prstGeom>
          <a:noFill/>
          <a:ln/>
        </p:spPr>
        <p:txBody>
          <a:bodyPr wrap="square" lIns="0" tIns="0" rIns="0" bIns="0" rtlCol="0" anchor="ctr"/>
          <a:lstStyle/>
          <a:p>
            <a:pPr marL="0" indent="0" algn="r">
              <a:buNone/>
            </a:pPr>
            <a:r>
              <a:rPr lang="en-US" sz="900" dirty="0">
                <a:solidFill>
                  <a:srgbClr val="7FA8AE"/>
                </a:solidFill>
                <a:latin typeface="Calibri" pitchFamily="34" charset="0"/>
                <a:ea typeface="Calibri" pitchFamily="34" charset="-122"/>
                <a:cs typeface="Calibri" pitchFamily="34" charset="-120"/>
              </a:rPr>
              <a:t>13 / 22</a:t>
            </a:r>
            <a:endParaRPr lang="en-US" sz="900" dirty="0"/>
          </a:p>
        </p:txBody>
      </p:sp>
      <p:sp>
        <p:nvSpPr>
          <p:cNvPr id="25" name="Text 23"/>
          <p:cNvSpPr/>
          <p:nvPr/>
        </p:nvSpPr>
        <p:spPr>
          <a:xfrm>
            <a:off x="365760" y="6446520"/>
            <a:ext cx="7315200" cy="274320"/>
          </a:xfrm>
          <a:prstGeom prst="rect">
            <a:avLst/>
          </a:prstGeom>
          <a:noFill/>
          <a:ln/>
        </p:spPr>
        <p:txBody>
          <a:bodyPr wrap="square" lIns="0" tIns="0" rIns="0" bIns="0" rtlCol="0" anchor="ctr"/>
          <a:lstStyle/>
          <a:p>
            <a:pPr marL="0" indent="0" algn="l">
              <a:buNone/>
            </a:pPr>
            <a:r>
              <a:rPr lang="en-US" sz="900" kern="0" spc="20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Insight 01 · Content ROI is concentrated in a small share of titles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Custom metric: cost per viewing hour reveals where catalog spend underperforms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1828800"/>
            <a:ext cx="5029200" cy="425196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640080" y="1965960"/>
            <a:ext cx="4663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3FE0E0"/>
                </a:solidFill>
                <a:effectLst/>
                <a:uLnTx/>
                <a:uFillTx/>
                <a:latin typeface="Calibri" pitchFamily="34" charset="0"/>
                <a:ea typeface="Calibri" pitchFamily="34" charset="-122"/>
                <a:cs typeface="Calibri" pitchFamily="34" charset="-120"/>
              </a:rPr>
              <a:t>EXAMPLES FROM THE CATALOG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640080" y="2331720"/>
            <a:ext cx="4663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E8654A"/>
                </a:solidFill>
                <a:effectLst/>
                <a:uLnTx/>
                <a:uFillTx/>
                <a:latin typeface="Calibri" pitchFamily="34" charset="0"/>
                <a:ea typeface="Calibri" pitchFamily="34" charset="-122"/>
                <a:cs typeface="Calibri" pitchFamily="34" charset="-120"/>
              </a:rPr>
              <a:t>WORST 3 BY ROI</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40080" y="2606040"/>
            <a:ext cx="3200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Frozen Roads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3840480" y="2606040"/>
            <a:ext cx="146304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8654A"/>
                </a:solidFill>
                <a:effectLst/>
                <a:uLnTx/>
                <a:uFillTx/>
                <a:latin typeface="Consolas" pitchFamily="34" charset="0"/>
                <a:ea typeface="Consolas" pitchFamily="34" charset="-122"/>
                <a:cs typeface="Consolas" pitchFamily="34" charset="-120"/>
              </a:rPr>
              <a:t>$19,634/hr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40080" y="2898648"/>
            <a:ext cx="3200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Crimson Stars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840480" y="2898648"/>
            <a:ext cx="146304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8654A"/>
                </a:solidFill>
                <a:effectLst/>
                <a:uLnTx/>
                <a:uFillTx/>
                <a:latin typeface="Consolas" pitchFamily="34" charset="0"/>
                <a:ea typeface="Consolas" pitchFamily="34" charset="-122"/>
                <a:cs typeface="Consolas" pitchFamily="34" charset="-120"/>
              </a:rPr>
              <a:t>$18,543/hr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640080" y="3191256"/>
            <a:ext cx="3200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Crimson Memories 4</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3840480" y="3191256"/>
            <a:ext cx="146304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8654A"/>
                </a:solidFill>
                <a:effectLst/>
                <a:uLnTx/>
                <a:uFillTx/>
                <a:latin typeface="Consolas" pitchFamily="34" charset="0"/>
                <a:ea typeface="Consolas" pitchFamily="34" charset="-122"/>
                <a:cs typeface="Consolas" pitchFamily="34" charset="-120"/>
              </a:rPr>
              <a:t>$18,425/hr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822960" y="3657600"/>
            <a:ext cx="4297680" cy="0"/>
          </a:xfrm>
          <a:prstGeom prst="line">
            <a:avLst/>
          </a:prstGeom>
          <a:no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640080" y="3794760"/>
            <a:ext cx="4663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5FBE7D"/>
                </a:solidFill>
                <a:effectLst/>
                <a:uLnTx/>
                <a:uFillTx/>
                <a:latin typeface="Calibri" pitchFamily="34" charset="0"/>
                <a:ea typeface="Calibri" pitchFamily="34" charset="-122"/>
                <a:cs typeface="Calibri" pitchFamily="34" charset="-120"/>
              </a:rPr>
              <a:t>BEST 3 BY ROI</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640080" y="4069080"/>
            <a:ext cx="3200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Midnight Bridges 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3840480" y="4069080"/>
            <a:ext cx="146304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FBE7D"/>
                </a:solidFill>
                <a:effectLst/>
                <a:uLnTx/>
                <a:uFillTx/>
                <a:latin typeface="Consolas" pitchFamily="34" charset="0"/>
                <a:ea typeface="Consolas" pitchFamily="34" charset="-122"/>
                <a:cs typeface="Consolas" pitchFamily="34" charset="-120"/>
              </a:rPr>
              <a:t>$23/hr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p:nvPr/>
        </p:nvSpPr>
        <p:spPr>
          <a:xfrm>
            <a:off x="640080" y="4361688"/>
            <a:ext cx="3200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Hidden Memories 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3840480" y="4361688"/>
            <a:ext cx="146304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FBE7D"/>
                </a:solidFill>
                <a:effectLst/>
                <a:uLnTx/>
                <a:uFillTx/>
                <a:latin typeface="Consolas" pitchFamily="34" charset="0"/>
                <a:ea typeface="Consolas" pitchFamily="34" charset="-122"/>
                <a:cs typeface="Consolas" pitchFamily="34" charset="-120"/>
              </a:rPr>
              <a:t>$25/hr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640080" y="4654296"/>
            <a:ext cx="32004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Wild Kingdoms 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3840480" y="4654296"/>
            <a:ext cx="1463040" cy="292608"/>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FBE7D"/>
                </a:solidFill>
                <a:effectLst/>
                <a:uLnTx/>
                <a:uFillTx/>
                <a:latin typeface="Consolas" pitchFamily="34" charset="0"/>
                <a:ea typeface="Consolas" pitchFamily="34" charset="-122"/>
                <a:cs typeface="Consolas" pitchFamily="34" charset="-120"/>
              </a:rPr>
              <a:t>$25/hr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640080" y="5349240"/>
            <a:ext cx="466344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3FE0E0"/>
                </a:solidFill>
                <a:effectLst/>
                <a:uLnTx/>
                <a:uFillTx/>
                <a:latin typeface="Calibri" pitchFamily="34" charset="0"/>
                <a:ea typeface="Calibri" pitchFamily="34" charset="-122"/>
                <a:cs typeface="Calibri" pitchFamily="34" charset="-120"/>
              </a:rPr>
              <a:t>860× variance · best to worst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640080" y="5715000"/>
            <a:ext cx="46634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onsolas" pitchFamily="34" charset="0"/>
                <a:ea typeface="Consolas" pitchFamily="34" charset="-122"/>
                <a:cs typeface="Consolas" pitchFamily="34" charset="-120"/>
              </a:rPr>
              <a:t>cost_per_viewing_hour = monthly cost ÷ viewing hours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5760720" y="1828800"/>
            <a:ext cx="59436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3FE0E0"/>
                </a:solidFill>
                <a:effectLst/>
                <a:uLnTx/>
                <a:uFillTx/>
                <a:latin typeface="Calibri" pitchFamily="34" charset="0"/>
                <a:ea typeface="Calibri" pitchFamily="34" charset="-122"/>
                <a:cs typeface="Calibri" pitchFamily="34" charset="-120"/>
              </a:rPr>
              <a:t>WHAT WE FOUND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5760720" y="2194560"/>
            <a:ext cx="5943600" cy="1783080"/>
          </a:xfrm>
          <a:prstGeom prst="rect">
            <a:avLst/>
          </a:prstGeom>
          <a:noFill/>
          <a:ln/>
        </p:spPr>
        <p:txBody>
          <a:bodyPr wrap="square" lIns="0" tIns="0" rIns="0" bIns="0" rtlCol="0" anchor="ctr"/>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Worst-ROI titles cost $18,400–$19,600 per viewing hour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Best-ROI titles cost $23–$25 per viewing hour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Bottom decile (worst 10%) drives $3.13B annual license cost — 17% of catalog spend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73% of total catalog cost concentrates in below-median ROI titles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5760720" y="4160520"/>
            <a:ext cx="5943600" cy="1920240"/>
          </a:xfrm>
          <a:prstGeom prst="rect">
            <a:avLst/>
          </a:prstGeom>
          <a:solidFill>
            <a:srgbClr val="001D24"/>
          </a:solid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5943600" y="4297680"/>
            <a:ext cx="5577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3FE0E0"/>
                </a:solidFill>
                <a:effectLst/>
                <a:uLnTx/>
                <a:uFillTx/>
                <a:latin typeface="Calibri" pitchFamily="34" charset="0"/>
                <a:ea typeface="Calibri" pitchFamily="34" charset="-122"/>
                <a:cs typeface="Calibri" pitchFamily="34" charset="-120"/>
              </a:rPr>
              <a:t>RECOMMENDATION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5943600" y="4617720"/>
            <a:ext cx="5577840" cy="1417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Drop bottom-decile titles at next license cycle. Estimated annual savings: $3.13B if fully discontinued, or $1.5–2B with conservative renegotiation. Promote best-ROI titles in next campaign — efficiency compounds with promotion.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13 / 22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14">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Insight 02 · Premium subscribers complete more of what they start</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i="1" kern="0" spc="100" dirty="0">
                <a:solidFill>
                  <a:srgbClr val="3FE0E0"/>
                </a:solidFill>
                <a:latin typeface="Calibri" pitchFamily="34" charset="0"/>
                <a:ea typeface="Calibri" pitchFamily="34" charset="-122"/>
                <a:cs typeface="Calibri" pitchFamily="34" charset="-120"/>
              </a:rPr>
              <a:t>A measurable engagement gap exists across subscription tiers</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endParaRPr lang="en-US"/>
          </a:p>
        </p:txBody>
      </p:sp>
      <p:sp>
        <p:nvSpPr>
          <p:cNvPr id="12" name="Shape 10"/>
          <p:cNvSpPr/>
          <p:nvPr/>
        </p:nvSpPr>
        <p:spPr>
          <a:xfrm>
            <a:off x="457200" y="1828800"/>
            <a:ext cx="3703320" cy="2743200"/>
          </a:xfrm>
          <a:prstGeom prst="rect">
            <a:avLst/>
          </a:prstGeom>
          <a:solidFill>
            <a:srgbClr val="0A4250"/>
          </a:solidFill>
          <a:ln w="12700">
            <a:solidFill>
              <a:srgbClr val="0A4250"/>
            </a:solidFill>
            <a:prstDash val="solid"/>
          </a:ln>
        </p:spPr>
        <p:txBody>
          <a:bodyPr/>
          <a:lstStyle/>
          <a:p>
            <a:endParaRPr lang="en-US"/>
          </a:p>
        </p:txBody>
      </p:sp>
      <p:sp>
        <p:nvSpPr>
          <p:cNvPr id="13" name="Text 11"/>
          <p:cNvSpPr/>
          <p:nvPr/>
        </p:nvSpPr>
        <p:spPr>
          <a:xfrm>
            <a:off x="731520" y="1965960"/>
            <a:ext cx="3383280" cy="365760"/>
          </a:xfrm>
          <a:prstGeom prst="rect">
            <a:avLst/>
          </a:prstGeom>
          <a:noFill/>
          <a:ln/>
        </p:spPr>
        <p:txBody>
          <a:bodyPr wrap="square" lIns="0" tIns="0" rIns="0" bIns="0" rtlCol="0" anchor="ctr"/>
          <a:lstStyle/>
          <a:p>
            <a:pPr marL="0" indent="0">
              <a:buNone/>
            </a:pPr>
            <a:r>
              <a:rPr lang="en-US" sz="1400" b="1" kern="0" spc="400" dirty="0">
                <a:solidFill>
                  <a:srgbClr val="FFFFFF"/>
                </a:solidFill>
                <a:latin typeface="Calibri" pitchFamily="34" charset="0"/>
                <a:ea typeface="Calibri" pitchFamily="34" charset="-122"/>
                <a:cs typeface="Calibri" pitchFamily="34" charset="-120"/>
              </a:rPr>
              <a:t>BASIC</a:t>
            </a:r>
            <a:endParaRPr lang="en-US" sz="1400" dirty="0"/>
          </a:p>
        </p:txBody>
      </p:sp>
      <p:sp>
        <p:nvSpPr>
          <p:cNvPr id="14" name="Text 12"/>
          <p:cNvSpPr/>
          <p:nvPr/>
        </p:nvSpPr>
        <p:spPr>
          <a:xfrm>
            <a:off x="731520" y="2423160"/>
            <a:ext cx="3383280" cy="109728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 X hr/mo ]</a:t>
            </a:r>
            <a:endParaRPr lang="en-US" sz="3800" dirty="0"/>
          </a:p>
        </p:txBody>
      </p:sp>
      <p:sp>
        <p:nvSpPr>
          <p:cNvPr id="15" name="Text 13"/>
          <p:cNvSpPr/>
          <p:nvPr/>
        </p:nvSpPr>
        <p:spPr>
          <a:xfrm>
            <a:off x="731520" y="3611880"/>
            <a:ext cx="3383280" cy="64008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 Y% completion ]</a:t>
            </a:r>
            <a:endParaRPr lang="en-US" sz="1400" dirty="0"/>
          </a:p>
        </p:txBody>
      </p:sp>
      <p:sp>
        <p:nvSpPr>
          <p:cNvPr id="16" name="Shape 14"/>
          <p:cNvSpPr/>
          <p:nvPr/>
        </p:nvSpPr>
        <p:spPr>
          <a:xfrm>
            <a:off x="4361688" y="1828800"/>
            <a:ext cx="3703320" cy="2743200"/>
          </a:xfrm>
          <a:prstGeom prst="rect">
            <a:avLst/>
          </a:prstGeom>
          <a:solidFill>
            <a:srgbClr val="5BC9C9"/>
          </a:solidFill>
          <a:ln w="12700">
            <a:solidFill>
              <a:srgbClr val="5BC9C9"/>
            </a:solidFill>
            <a:prstDash val="solid"/>
          </a:ln>
        </p:spPr>
        <p:txBody>
          <a:bodyPr/>
          <a:lstStyle/>
          <a:p>
            <a:endParaRPr lang="en-US"/>
          </a:p>
        </p:txBody>
      </p:sp>
      <p:sp>
        <p:nvSpPr>
          <p:cNvPr id="17" name="Text 15"/>
          <p:cNvSpPr/>
          <p:nvPr/>
        </p:nvSpPr>
        <p:spPr>
          <a:xfrm>
            <a:off x="4636008" y="1965960"/>
            <a:ext cx="3383280" cy="365760"/>
          </a:xfrm>
          <a:prstGeom prst="rect">
            <a:avLst/>
          </a:prstGeom>
          <a:noFill/>
          <a:ln/>
        </p:spPr>
        <p:txBody>
          <a:bodyPr wrap="square" lIns="0" tIns="0" rIns="0" bIns="0" rtlCol="0" anchor="ctr"/>
          <a:lstStyle/>
          <a:p>
            <a:pPr marL="0" indent="0">
              <a:buNone/>
            </a:pPr>
            <a:r>
              <a:rPr lang="en-US" sz="1400" b="1" kern="0" spc="400" dirty="0">
                <a:solidFill>
                  <a:srgbClr val="001D24"/>
                </a:solidFill>
                <a:latin typeface="Calibri" pitchFamily="34" charset="0"/>
                <a:ea typeface="Calibri" pitchFamily="34" charset="-122"/>
                <a:cs typeface="Calibri" pitchFamily="34" charset="-120"/>
              </a:rPr>
              <a:t>STANDARD</a:t>
            </a:r>
            <a:endParaRPr lang="en-US" sz="1400" dirty="0"/>
          </a:p>
        </p:txBody>
      </p:sp>
      <p:sp>
        <p:nvSpPr>
          <p:cNvPr id="18" name="Text 16"/>
          <p:cNvSpPr/>
          <p:nvPr/>
        </p:nvSpPr>
        <p:spPr>
          <a:xfrm>
            <a:off x="4636008" y="2423160"/>
            <a:ext cx="3383280" cy="1097280"/>
          </a:xfrm>
          <a:prstGeom prst="rect">
            <a:avLst/>
          </a:prstGeom>
          <a:noFill/>
          <a:ln/>
        </p:spPr>
        <p:txBody>
          <a:bodyPr wrap="square" lIns="0" tIns="0" rIns="0" bIns="0" rtlCol="0" anchor="ctr"/>
          <a:lstStyle/>
          <a:p>
            <a:pPr marL="0" indent="0">
              <a:buNone/>
            </a:pPr>
            <a:r>
              <a:rPr lang="en-US" sz="3800" b="1" dirty="0">
                <a:solidFill>
                  <a:srgbClr val="001D24"/>
                </a:solidFill>
                <a:latin typeface="Calibri" pitchFamily="34" charset="0"/>
                <a:ea typeface="Calibri" pitchFamily="34" charset="-122"/>
                <a:cs typeface="Calibri" pitchFamily="34" charset="-120"/>
              </a:rPr>
              <a:t>[ X hr/mo ]</a:t>
            </a:r>
            <a:endParaRPr lang="en-US" sz="3800" dirty="0"/>
          </a:p>
        </p:txBody>
      </p:sp>
      <p:sp>
        <p:nvSpPr>
          <p:cNvPr id="19" name="Text 17"/>
          <p:cNvSpPr/>
          <p:nvPr/>
        </p:nvSpPr>
        <p:spPr>
          <a:xfrm>
            <a:off x="4636008" y="3611880"/>
            <a:ext cx="3383280" cy="640080"/>
          </a:xfrm>
          <a:prstGeom prst="rect">
            <a:avLst/>
          </a:prstGeom>
          <a:noFill/>
          <a:ln/>
        </p:spPr>
        <p:txBody>
          <a:bodyPr wrap="square" lIns="0" tIns="0" rIns="0" bIns="0" rtlCol="0" anchor="ctr"/>
          <a:lstStyle/>
          <a:p>
            <a:pPr marL="0" indent="0">
              <a:buNone/>
            </a:pPr>
            <a:r>
              <a:rPr lang="en-US" sz="1400" i="1" dirty="0">
                <a:solidFill>
                  <a:srgbClr val="001D24"/>
                </a:solidFill>
                <a:latin typeface="Calibri" pitchFamily="34" charset="0"/>
                <a:ea typeface="Calibri" pitchFamily="34" charset="-122"/>
                <a:cs typeface="Calibri" pitchFamily="34" charset="-120"/>
              </a:rPr>
              <a:t>[ Y% completion ]</a:t>
            </a:r>
            <a:endParaRPr lang="en-US" sz="1400" dirty="0"/>
          </a:p>
        </p:txBody>
      </p:sp>
      <p:sp>
        <p:nvSpPr>
          <p:cNvPr id="20" name="Shape 18"/>
          <p:cNvSpPr/>
          <p:nvPr/>
        </p:nvSpPr>
        <p:spPr>
          <a:xfrm>
            <a:off x="8266176" y="1828800"/>
            <a:ext cx="3703320" cy="2743200"/>
          </a:xfrm>
          <a:prstGeom prst="rect">
            <a:avLst/>
          </a:prstGeom>
          <a:solidFill>
            <a:srgbClr val="3FE0E0"/>
          </a:solidFill>
          <a:ln w="12700">
            <a:solidFill>
              <a:srgbClr val="3FE0E0"/>
            </a:solidFill>
            <a:prstDash val="solid"/>
          </a:ln>
        </p:spPr>
        <p:txBody>
          <a:bodyPr/>
          <a:lstStyle/>
          <a:p>
            <a:endParaRPr lang="en-US"/>
          </a:p>
        </p:txBody>
      </p:sp>
      <p:sp>
        <p:nvSpPr>
          <p:cNvPr id="21" name="Text 19"/>
          <p:cNvSpPr/>
          <p:nvPr/>
        </p:nvSpPr>
        <p:spPr>
          <a:xfrm>
            <a:off x="8540496" y="1965960"/>
            <a:ext cx="3383280" cy="365760"/>
          </a:xfrm>
          <a:prstGeom prst="rect">
            <a:avLst/>
          </a:prstGeom>
          <a:noFill/>
          <a:ln/>
        </p:spPr>
        <p:txBody>
          <a:bodyPr wrap="square" lIns="0" tIns="0" rIns="0" bIns="0" rtlCol="0" anchor="ctr"/>
          <a:lstStyle/>
          <a:p>
            <a:pPr marL="0" indent="0">
              <a:buNone/>
            </a:pPr>
            <a:r>
              <a:rPr lang="en-US" sz="1400" b="1" kern="0" spc="400" dirty="0">
                <a:solidFill>
                  <a:srgbClr val="001D24"/>
                </a:solidFill>
                <a:latin typeface="Calibri" pitchFamily="34" charset="0"/>
                <a:ea typeface="Calibri" pitchFamily="34" charset="-122"/>
                <a:cs typeface="Calibri" pitchFamily="34" charset="-120"/>
              </a:rPr>
              <a:t>PREMIUM</a:t>
            </a:r>
            <a:endParaRPr lang="en-US" sz="1400" dirty="0"/>
          </a:p>
        </p:txBody>
      </p:sp>
      <p:sp>
        <p:nvSpPr>
          <p:cNvPr id="22" name="Text 20"/>
          <p:cNvSpPr/>
          <p:nvPr/>
        </p:nvSpPr>
        <p:spPr>
          <a:xfrm>
            <a:off x="8540496" y="2423160"/>
            <a:ext cx="3383280" cy="1097280"/>
          </a:xfrm>
          <a:prstGeom prst="rect">
            <a:avLst/>
          </a:prstGeom>
          <a:noFill/>
          <a:ln/>
        </p:spPr>
        <p:txBody>
          <a:bodyPr wrap="square" lIns="0" tIns="0" rIns="0" bIns="0" rtlCol="0" anchor="ctr"/>
          <a:lstStyle/>
          <a:p>
            <a:pPr marL="0" indent="0">
              <a:buNone/>
            </a:pPr>
            <a:r>
              <a:rPr lang="en-US" sz="3800" b="1" dirty="0">
                <a:solidFill>
                  <a:srgbClr val="001D24"/>
                </a:solidFill>
                <a:latin typeface="Calibri" pitchFamily="34" charset="0"/>
                <a:ea typeface="Calibri" pitchFamily="34" charset="-122"/>
                <a:cs typeface="Calibri" pitchFamily="34" charset="-120"/>
              </a:rPr>
              <a:t>[ X hr/mo ]</a:t>
            </a:r>
            <a:endParaRPr lang="en-US" sz="3800" dirty="0"/>
          </a:p>
        </p:txBody>
      </p:sp>
      <p:sp>
        <p:nvSpPr>
          <p:cNvPr id="23" name="Text 21"/>
          <p:cNvSpPr/>
          <p:nvPr/>
        </p:nvSpPr>
        <p:spPr>
          <a:xfrm>
            <a:off x="8540496" y="3611880"/>
            <a:ext cx="3383280" cy="640080"/>
          </a:xfrm>
          <a:prstGeom prst="rect">
            <a:avLst/>
          </a:prstGeom>
          <a:noFill/>
          <a:ln/>
        </p:spPr>
        <p:txBody>
          <a:bodyPr wrap="square" lIns="0" tIns="0" rIns="0" bIns="0" rtlCol="0" anchor="ctr"/>
          <a:lstStyle/>
          <a:p>
            <a:pPr marL="0" indent="0">
              <a:buNone/>
            </a:pPr>
            <a:r>
              <a:rPr lang="en-US" sz="1400" i="1" dirty="0">
                <a:solidFill>
                  <a:srgbClr val="001D24"/>
                </a:solidFill>
                <a:latin typeface="Calibri" pitchFamily="34" charset="0"/>
                <a:ea typeface="Calibri" pitchFamily="34" charset="-122"/>
                <a:cs typeface="Calibri" pitchFamily="34" charset="-120"/>
              </a:rPr>
              <a:t>[ Y% completion ]</a:t>
            </a:r>
            <a:endParaRPr lang="en-US" sz="1400" dirty="0"/>
          </a:p>
        </p:txBody>
      </p:sp>
      <p:sp>
        <p:nvSpPr>
          <p:cNvPr id="24" name="Text 22"/>
          <p:cNvSpPr/>
          <p:nvPr/>
        </p:nvSpPr>
        <p:spPr>
          <a:xfrm>
            <a:off x="457200" y="4663440"/>
            <a:ext cx="11247120" cy="274320"/>
          </a:xfrm>
          <a:prstGeom prst="rect">
            <a:avLst/>
          </a:prstGeom>
          <a:noFill/>
          <a:ln/>
        </p:spPr>
        <p:txBody>
          <a:bodyPr wrap="square" lIns="0" tIns="0" rIns="0" bIns="0" rtlCol="0" anchor="ctr"/>
          <a:lstStyle/>
          <a:p>
            <a:pPr marL="0" indent="0" algn="ctr">
              <a:buNone/>
            </a:pPr>
            <a:r>
              <a:rPr lang="en-US" sz="1100" i="1" dirty="0">
                <a:solidFill>
                  <a:srgbClr val="7FA8AE"/>
                </a:solidFill>
                <a:latin typeface="Calibri" pitchFamily="34" charset="0"/>
                <a:ea typeface="Calibri" pitchFamily="34" charset="-122"/>
                <a:cs typeface="Calibri" pitchFamily="34" charset="-120"/>
              </a:rPr>
              <a:t>Values to be inserted from user-monthly-engagement table grouped by plan_type</a:t>
            </a:r>
            <a:endParaRPr lang="en-US" sz="1100" dirty="0"/>
          </a:p>
        </p:txBody>
      </p:sp>
      <p:sp>
        <p:nvSpPr>
          <p:cNvPr id="25" name="Shape 23"/>
          <p:cNvSpPr/>
          <p:nvPr/>
        </p:nvSpPr>
        <p:spPr>
          <a:xfrm>
            <a:off x="457200" y="5074920"/>
            <a:ext cx="11247120" cy="1005840"/>
          </a:xfrm>
          <a:prstGeom prst="rect">
            <a:avLst/>
          </a:prstGeom>
          <a:solidFill>
            <a:srgbClr val="001D24"/>
          </a:solidFill>
          <a:ln w="25400">
            <a:solidFill>
              <a:srgbClr val="3FE0E0"/>
            </a:solidFill>
            <a:prstDash val="solid"/>
          </a:ln>
        </p:spPr>
        <p:txBody>
          <a:bodyPr/>
          <a:lstStyle/>
          <a:p>
            <a:endParaRPr lang="en-US"/>
          </a:p>
        </p:txBody>
      </p:sp>
      <p:sp>
        <p:nvSpPr>
          <p:cNvPr id="26" name="Text 24"/>
          <p:cNvSpPr/>
          <p:nvPr/>
        </p:nvSpPr>
        <p:spPr>
          <a:xfrm>
            <a:off x="640080" y="5166360"/>
            <a:ext cx="10972800" cy="274320"/>
          </a:xfrm>
          <a:prstGeom prst="rect">
            <a:avLst/>
          </a:prstGeom>
          <a:noFill/>
          <a:ln/>
        </p:spPr>
        <p:txBody>
          <a:bodyPr wrap="square" lIns="0" tIns="0" rIns="0" bIns="0" rtlCol="0" anchor="ctr"/>
          <a:lstStyle/>
          <a:p>
            <a:pPr marL="0" indent="0">
              <a:buNone/>
            </a:pPr>
            <a:r>
              <a:rPr lang="en-US" sz="1000" kern="0" spc="300" dirty="0">
                <a:solidFill>
                  <a:srgbClr val="3FE0E0"/>
                </a:solidFill>
                <a:latin typeface="Calibri" pitchFamily="34" charset="0"/>
                <a:ea typeface="Calibri" pitchFamily="34" charset="-122"/>
                <a:cs typeface="Calibri" pitchFamily="34" charset="-120"/>
              </a:rPr>
              <a:t>RECOMMENDATION</a:t>
            </a:r>
            <a:endParaRPr lang="en-US" sz="1000" dirty="0"/>
          </a:p>
        </p:txBody>
      </p:sp>
      <p:sp>
        <p:nvSpPr>
          <p:cNvPr id="27" name="Text 25"/>
          <p:cNvSpPr/>
          <p:nvPr/>
        </p:nvSpPr>
        <p:spPr>
          <a:xfrm>
            <a:off x="640080" y="5440680"/>
            <a:ext cx="10972800" cy="5943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Tune recommendation algorithms to surface higher-completion content for Basic users. The completion gap suggests either tier-aware algorithm weights or content-commitment effects — both addressable through recommendation tuning, neither requiring new content acquisition.</a:t>
            </a:r>
            <a:endParaRPr lang="en-US" sz="1200" dirty="0"/>
          </a:p>
        </p:txBody>
      </p:sp>
      <p:sp>
        <p:nvSpPr>
          <p:cNvPr id="28" name="Text 26"/>
          <p:cNvSpPr/>
          <p:nvPr/>
        </p:nvSpPr>
        <p:spPr>
          <a:xfrm>
            <a:off x="11338560" y="6446520"/>
            <a:ext cx="640080" cy="274320"/>
          </a:xfrm>
          <a:prstGeom prst="rect">
            <a:avLst/>
          </a:prstGeom>
          <a:noFill/>
          <a:ln/>
        </p:spPr>
        <p:txBody>
          <a:bodyPr wrap="square" lIns="0" tIns="0" rIns="0" bIns="0" rtlCol="0" anchor="ctr"/>
          <a:lstStyle/>
          <a:p>
            <a:pPr marL="0" indent="0" algn="r">
              <a:buNone/>
            </a:pPr>
            <a:r>
              <a:rPr lang="en-US" sz="900" dirty="0">
                <a:solidFill>
                  <a:srgbClr val="7FA8AE"/>
                </a:solidFill>
                <a:latin typeface="Calibri" pitchFamily="34" charset="0"/>
                <a:ea typeface="Calibri" pitchFamily="34" charset="-122"/>
                <a:cs typeface="Calibri" pitchFamily="34" charset="-120"/>
              </a:rPr>
              <a:t>14 / 22</a:t>
            </a:r>
            <a:endParaRPr lang="en-US" sz="900" dirty="0"/>
          </a:p>
        </p:txBody>
      </p:sp>
      <p:sp>
        <p:nvSpPr>
          <p:cNvPr id="29" name="Text 27"/>
          <p:cNvSpPr/>
          <p:nvPr/>
        </p:nvSpPr>
        <p:spPr>
          <a:xfrm>
            <a:off x="365760" y="6446520"/>
            <a:ext cx="7315200" cy="274320"/>
          </a:xfrm>
          <a:prstGeom prst="rect">
            <a:avLst/>
          </a:prstGeom>
          <a:noFill/>
          <a:ln/>
        </p:spPr>
        <p:txBody>
          <a:bodyPr wrap="square" lIns="0" tIns="0" rIns="0" bIns="0" rtlCol="0" anchor="ctr"/>
          <a:lstStyle/>
          <a:p>
            <a:pPr marL="0" indent="0" algn="l">
              <a:buNone/>
            </a:pPr>
            <a:r>
              <a:rPr lang="en-US" sz="900" kern="0" spc="20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Insight 02 · Engagement is virtually identical across plan tiers</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A counter-hypothesis: subscription tier does not predict viewing behavior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1828800"/>
            <a:ext cx="3703320" cy="27432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1828800"/>
            <a:ext cx="3703320" cy="411480"/>
          </a:xfrm>
          <a:prstGeom prst="rect">
            <a:avLst/>
          </a:prstGeom>
          <a:solidFill>
            <a:srgbClr val="F0A23E"/>
          </a:solidFill>
          <a:ln w="1270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731520" y="1828800"/>
            <a:ext cx="33832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400" normalizeH="0" baseline="0" noProof="0" dirty="0">
                <a:ln>
                  <a:noFill/>
                </a:ln>
                <a:solidFill>
                  <a:srgbClr val="001D24"/>
                </a:solidFill>
                <a:effectLst/>
                <a:uLnTx/>
                <a:uFillTx/>
                <a:latin typeface="Calibri" pitchFamily="34" charset="0"/>
                <a:ea typeface="Calibri" pitchFamily="34" charset="-122"/>
                <a:cs typeface="Calibri" pitchFamily="34" charset="-120"/>
              </a:rPr>
              <a:t>BASIC</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31520" y="2331720"/>
            <a:ext cx="338328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52.8%</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31520" y="3474720"/>
            <a:ext cx="33832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avg completion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731520" y="3931920"/>
            <a:ext cx="33832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60K users · 0.73 hrs/mo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361688" y="1828800"/>
            <a:ext cx="3703320" cy="27432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4361688" y="1828800"/>
            <a:ext cx="3703320" cy="411480"/>
          </a:xfrm>
          <a:prstGeom prst="rect">
            <a:avLst/>
          </a:prstGeom>
          <a:solidFill>
            <a:srgbClr val="F0A23E"/>
          </a:solidFill>
          <a:ln w="1270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636008" y="1828800"/>
            <a:ext cx="33832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400" normalizeH="0" baseline="0" noProof="0" dirty="0">
                <a:ln>
                  <a:noFill/>
                </a:ln>
                <a:solidFill>
                  <a:srgbClr val="001D24"/>
                </a:solidFill>
                <a:effectLst/>
                <a:uLnTx/>
                <a:uFillTx/>
                <a:latin typeface="Calibri" pitchFamily="34" charset="0"/>
                <a:ea typeface="Calibri" pitchFamily="34" charset="-122"/>
                <a:cs typeface="Calibri" pitchFamily="34" charset="-120"/>
              </a:rPr>
              <a:t>STANDARD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636008" y="2331720"/>
            <a:ext cx="338328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52.6%</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636008" y="3474720"/>
            <a:ext cx="33832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avg completion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636008" y="3931920"/>
            <a:ext cx="33832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90K users · 0.73 hrs/mo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8266176" y="1828800"/>
            <a:ext cx="3703320" cy="27432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23"/>
          <p:cNvSpPr/>
          <p:nvPr/>
        </p:nvSpPr>
        <p:spPr>
          <a:xfrm>
            <a:off x="8266176" y="1828800"/>
            <a:ext cx="3703320" cy="411480"/>
          </a:xfrm>
          <a:prstGeom prst="rect">
            <a:avLst/>
          </a:prstGeom>
          <a:solidFill>
            <a:srgbClr val="F0A23E"/>
          </a:solidFill>
          <a:ln w="1270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8540496" y="1828800"/>
            <a:ext cx="33832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400" normalizeH="0" baseline="0" noProof="0" dirty="0">
                <a:ln>
                  <a:noFill/>
                </a:ln>
                <a:solidFill>
                  <a:srgbClr val="001D24"/>
                </a:solidFill>
                <a:effectLst/>
                <a:uLnTx/>
                <a:uFillTx/>
                <a:latin typeface="Calibri" pitchFamily="34" charset="0"/>
                <a:ea typeface="Calibri" pitchFamily="34" charset="-122"/>
                <a:cs typeface="Calibri" pitchFamily="34" charset="-120"/>
              </a:rPr>
              <a:t>PREMIUM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8540496" y="2331720"/>
            <a:ext cx="338328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52.9%</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8540496" y="3474720"/>
            <a:ext cx="33832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avg completion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8540496" y="3931920"/>
            <a:ext cx="33832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50K users · 0.73 hrs/mo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457200" y="4754880"/>
            <a:ext cx="1124712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3FE0E0"/>
                </a:solidFill>
                <a:effectLst/>
                <a:uLnTx/>
                <a:uFillTx/>
                <a:latin typeface="Calibri" pitchFamily="34" charset="0"/>
                <a:ea typeface="Calibri" pitchFamily="34" charset="-122"/>
                <a:cs typeface="Calibri" pitchFamily="34" charset="-120"/>
              </a:rPr>
              <a:t>Spread across all three tiers:  &lt;1 percentage point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9"/>
          <p:cNvSpPr/>
          <p:nvPr/>
        </p:nvSpPr>
        <p:spPr>
          <a:xfrm>
            <a:off x="457200" y="5257800"/>
            <a:ext cx="11247120" cy="868680"/>
          </a:xfrm>
          <a:prstGeom prst="rect">
            <a:avLst/>
          </a:prstGeom>
          <a:solidFill>
            <a:srgbClr val="001D24"/>
          </a:solid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30"/>
          <p:cNvSpPr/>
          <p:nvPr/>
        </p:nvSpPr>
        <p:spPr>
          <a:xfrm>
            <a:off x="640080" y="534924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3FE0E0"/>
                </a:solidFill>
                <a:effectLst/>
                <a:uLnTx/>
                <a:uFillTx/>
                <a:latin typeface="Calibri" pitchFamily="34" charset="0"/>
                <a:ea typeface="Calibri" pitchFamily="34" charset="-122"/>
                <a:cs typeface="Calibri" pitchFamily="34" charset="-120"/>
              </a:rPr>
              <a:t>RECOMMENDATION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640080" y="5623560"/>
            <a:ext cx="109728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Redirect personalization investment from tier-aware logic to title-level features. Title completion ranges from 28.9% (worst) to 76.7% (best) — a 48 pp variance recommendation algorithms can actually exploit.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14 / 22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15">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Insight 03 · Three signals predict churn 30 days early</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i="1" kern="0" spc="100" dirty="0">
                <a:solidFill>
                  <a:srgbClr val="3FE0E0"/>
                </a:solidFill>
                <a:latin typeface="Calibri" pitchFamily="34" charset="0"/>
                <a:ea typeface="Calibri" pitchFamily="34" charset="-122"/>
                <a:cs typeface="Calibri" pitchFamily="34" charset="-120"/>
              </a:rPr>
              <a:t>Comparing churned vs retained users in their final 30 active days</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endParaRPr lang="en-US"/>
          </a:p>
        </p:txBody>
      </p:sp>
      <p:sp>
        <p:nvSpPr>
          <p:cNvPr id="12" name="Shape 10"/>
          <p:cNvSpPr/>
          <p:nvPr/>
        </p:nvSpPr>
        <p:spPr>
          <a:xfrm>
            <a:off x="457200" y="1828800"/>
            <a:ext cx="3703320" cy="3200400"/>
          </a:xfrm>
          <a:prstGeom prst="rect">
            <a:avLst/>
          </a:prstGeom>
          <a:solidFill>
            <a:srgbClr val="0A4250"/>
          </a:solidFill>
          <a:ln w="12700">
            <a:solidFill>
              <a:srgbClr val="1E5A6B"/>
            </a:solidFill>
            <a:prstDash val="solid"/>
          </a:ln>
        </p:spPr>
        <p:txBody>
          <a:bodyPr/>
          <a:lstStyle/>
          <a:p>
            <a:endParaRPr lang="en-US"/>
          </a:p>
        </p:txBody>
      </p:sp>
      <p:sp>
        <p:nvSpPr>
          <p:cNvPr id="13" name="Text 11"/>
          <p:cNvSpPr/>
          <p:nvPr/>
        </p:nvSpPr>
        <p:spPr>
          <a:xfrm>
            <a:off x="731520" y="1965960"/>
            <a:ext cx="3383280" cy="274320"/>
          </a:xfrm>
          <a:prstGeom prst="rect">
            <a:avLst/>
          </a:prstGeom>
          <a:noFill/>
          <a:ln/>
        </p:spPr>
        <p:txBody>
          <a:bodyPr wrap="square" lIns="0" tIns="0" rIns="0" bIns="0" rtlCol="0" anchor="ctr"/>
          <a:lstStyle/>
          <a:p>
            <a:pPr marL="0" indent="0">
              <a:buNone/>
            </a:pPr>
            <a:r>
              <a:rPr lang="en-US" sz="1000" kern="0" spc="300" dirty="0">
                <a:solidFill>
                  <a:srgbClr val="3FE0E0"/>
                </a:solidFill>
                <a:latin typeface="Calibri" pitchFamily="34" charset="0"/>
                <a:ea typeface="Calibri" pitchFamily="34" charset="-122"/>
                <a:cs typeface="Calibri" pitchFamily="34" charset="-120"/>
              </a:rPr>
              <a:t>SIGNAL 01</a:t>
            </a:r>
            <a:endParaRPr lang="en-US" sz="1000" dirty="0"/>
          </a:p>
        </p:txBody>
      </p:sp>
      <p:sp>
        <p:nvSpPr>
          <p:cNvPr id="14" name="Text 12"/>
          <p:cNvSpPr/>
          <p:nvPr/>
        </p:nvSpPr>
        <p:spPr>
          <a:xfrm>
            <a:off x="731520" y="2286000"/>
            <a:ext cx="338328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Completion %</a:t>
            </a:r>
            <a:endParaRPr lang="en-US" sz="1800" dirty="0"/>
          </a:p>
        </p:txBody>
      </p:sp>
      <p:sp>
        <p:nvSpPr>
          <p:cNvPr id="15" name="Text 13"/>
          <p:cNvSpPr/>
          <p:nvPr/>
        </p:nvSpPr>
        <p:spPr>
          <a:xfrm>
            <a:off x="731520" y="2880360"/>
            <a:ext cx="3383280" cy="1005840"/>
          </a:xfrm>
          <a:prstGeom prst="rect">
            <a:avLst/>
          </a:prstGeom>
          <a:noFill/>
          <a:ln/>
        </p:spPr>
        <p:txBody>
          <a:bodyPr wrap="square" lIns="0" tIns="0" rIns="0" bIns="0" rtlCol="0" anchor="ctr"/>
          <a:lstStyle/>
          <a:p>
            <a:pPr marL="0" indent="0" algn="ctr">
              <a:buNone/>
            </a:pPr>
            <a:r>
              <a:rPr lang="en-US" sz="6400" b="1" dirty="0">
                <a:solidFill>
                  <a:srgbClr val="E8654A"/>
                </a:solidFill>
                <a:latin typeface="Calibri" pitchFamily="34" charset="0"/>
                <a:ea typeface="Calibri" pitchFamily="34" charset="-122"/>
                <a:cs typeface="Calibri" pitchFamily="34" charset="-120"/>
              </a:rPr>
              <a:t>▼</a:t>
            </a:r>
            <a:endParaRPr lang="en-US" sz="6400" dirty="0"/>
          </a:p>
        </p:txBody>
      </p:sp>
      <p:sp>
        <p:nvSpPr>
          <p:cNvPr id="16" name="Text 14"/>
          <p:cNvSpPr/>
          <p:nvPr/>
        </p:nvSpPr>
        <p:spPr>
          <a:xfrm>
            <a:off x="731520" y="3977640"/>
            <a:ext cx="3383280" cy="274320"/>
          </a:xfrm>
          <a:prstGeom prst="rect">
            <a:avLst/>
          </a:prstGeom>
          <a:noFill/>
          <a:ln/>
        </p:spPr>
        <p:txBody>
          <a:bodyPr wrap="square" lIns="0" tIns="0" rIns="0" bIns="0" rtlCol="0" anchor="ctr"/>
          <a:lstStyle/>
          <a:p>
            <a:pPr marL="0" indent="0" algn="ctr">
              <a:buNone/>
            </a:pPr>
            <a:r>
              <a:rPr lang="en-US" sz="1100" b="1" kern="0" spc="300" dirty="0">
                <a:solidFill>
                  <a:srgbClr val="E8654A"/>
                </a:solidFill>
                <a:latin typeface="Calibri" pitchFamily="34" charset="0"/>
                <a:ea typeface="Calibri" pitchFamily="34" charset="-122"/>
                <a:cs typeface="Calibri" pitchFamily="34" charset="-120"/>
              </a:rPr>
              <a:t>DOWN</a:t>
            </a:r>
            <a:endParaRPr lang="en-US" sz="1100" dirty="0"/>
          </a:p>
        </p:txBody>
      </p:sp>
      <p:sp>
        <p:nvSpPr>
          <p:cNvPr id="17" name="Text 15"/>
          <p:cNvSpPr/>
          <p:nvPr/>
        </p:nvSpPr>
        <p:spPr>
          <a:xfrm>
            <a:off x="731520" y="4297680"/>
            <a:ext cx="3383280" cy="640080"/>
          </a:xfrm>
          <a:prstGeom prst="rect">
            <a:avLst/>
          </a:prstGeom>
          <a:noFill/>
          <a:ln/>
        </p:spPr>
        <p:txBody>
          <a:bodyPr wrap="square" lIns="0" tIns="0" rIns="0" bIns="0" rtlCol="0" anchor="ctr"/>
          <a:lstStyle/>
          <a:p>
            <a:pPr marL="0" indent="0" algn="ctr">
              <a:buNone/>
            </a:pPr>
            <a:r>
              <a:rPr lang="en-US" sz="1200" dirty="0">
                <a:solidFill>
                  <a:srgbClr val="B7D7DC"/>
                </a:solidFill>
                <a:latin typeface="Calibri" pitchFamily="34" charset="0"/>
                <a:ea typeface="Calibri" pitchFamily="34" charset="-122"/>
                <a:cs typeface="Calibri" pitchFamily="34" charset="-120"/>
              </a:rPr>
              <a:t>Drops measurably among churners</a:t>
            </a:r>
            <a:endParaRPr lang="en-US" sz="1200" dirty="0"/>
          </a:p>
        </p:txBody>
      </p:sp>
      <p:sp>
        <p:nvSpPr>
          <p:cNvPr id="18" name="Shape 16"/>
          <p:cNvSpPr/>
          <p:nvPr/>
        </p:nvSpPr>
        <p:spPr>
          <a:xfrm>
            <a:off x="4361688" y="1828800"/>
            <a:ext cx="3703320" cy="3200400"/>
          </a:xfrm>
          <a:prstGeom prst="rect">
            <a:avLst/>
          </a:prstGeom>
          <a:solidFill>
            <a:srgbClr val="0A4250"/>
          </a:solidFill>
          <a:ln w="12700">
            <a:solidFill>
              <a:srgbClr val="1E5A6B"/>
            </a:solidFill>
            <a:prstDash val="solid"/>
          </a:ln>
        </p:spPr>
        <p:txBody>
          <a:bodyPr/>
          <a:lstStyle/>
          <a:p>
            <a:endParaRPr lang="en-US"/>
          </a:p>
        </p:txBody>
      </p:sp>
      <p:sp>
        <p:nvSpPr>
          <p:cNvPr id="19" name="Text 17"/>
          <p:cNvSpPr/>
          <p:nvPr/>
        </p:nvSpPr>
        <p:spPr>
          <a:xfrm>
            <a:off x="4636008" y="1965960"/>
            <a:ext cx="3383280" cy="274320"/>
          </a:xfrm>
          <a:prstGeom prst="rect">
            <a:avLst/>
          </a:prstGeom>
          <a:noFill/>
          <a:ln/>
        </p:spPr>
        <p:txBody>
          <a:bodyPr wrap="square" lIns="0" tIns="0" rIns="0" bIns="0" rtlCol="0" anchor="ctr"/>
          <a:lstStyle/>
          <a:p>
            <a:pPr marL="0" indent="0">
              <a:buNone/>
            </a:pPr>
            <a:r>
              <a:rPr lang="en-US" sz="1000" kern="0" spc="300" dirty="0">
                <a:solidFill>
                  <a:srgbClr val="3FE0E0"/>
                </a:solidFill>
                <a:latin typeface="Calibri" pitchFamily="34" charset="0"/>
                <a:ea typeface="Calibri" pitchFamily="34" charset="-122"/>
                <a:cs typeface="Calibri" pitchFamily="34" charset="-120"/>
              </a:rPr>
              <a:t>SIGNAL 02</a:t>
            </a:r>
            <a:endParaRPr lang="en-US" sz="1000" dirty="0"/>
          </a:p>
        </p:txBody>
      </p:sp>
      <p:sp>
        <p:nvSpPr>
          <p:cNvPr id="20" name="Text 18"/>
          <p:cNvSpPr/>
          <p:nvPr/>
        </p:nvSpPr>
        <p:spPr>
          <a:xfrm>
            <a:off x="4636008" y="2286000"/>
            <a:ext cx="338328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Interaction count</a:t>
            </a:r>
            <a:endParaRPr lang="en-US" sz="1800" dirty="0"/>
          </a:p>
        </p:txBody>
      </p:sp>
      <p:sp>
        <p:nvSpPr>
          <p:cNvPr id="21" name="Text 19"/>
          <p:cNvSpPr/>
          <p:nvPr/>
        </p:nvSpPr>
        <p:spPr>
          <a:xfrm>
            <a:off x="4636008" y="2880360"/>
            <a:ext cx="3383280" cy="1005840"/>
          </a:xfrm>
          <a:prstGeom prst="rect">
            <a:avLst/>
          </a:prstGeom>
          <a:noFill/>
          <a:ln/>
        </p:spPr>
        <p:txBody>
          <a:bodyPr wrap="square" lIns="0" tIns="0" rIns="0" bIns="0" rtlCol="0" anchor="ctr"/>
          <a:lstStyle/>
          <a:p>
            <a:pPr marL="0" indent="0" algn="ctr">
              <a:buNone/>
            </a:pPr>
            <a:r>
              <a:rPr lang="en-US" sz="6400" b="1" dirty="0">
                <a:solidFill>
                  <a:srgbClr val="E8654A"/>
                </a:solidFill>
                <a:latin typeface="Calibri" pitchFamily="34" charset="0"/>
                <a:ea typeface="Calibri" pitchFamily="34" charset="-122"/>
                <a:cs typeface="Calibri" pitchFamily="34" charset="-120"/>
              </a:rPr>
              <a:t>▼</a:t>
            </a:r>
            <a:endParaRPr lang="en-US" sz="6400" dirty="0"/>
          </a:p>
        </p:txBody>
      </p:sp>
      <p:sp>
        <p:nvSpPr>
          <p:cNvPr id="22" name="Text 20"/>
          <p:cNvSpPr/>
          <p:nvPr/>
        </p:nvSpPr>
        <p:spPr>
          <a:xfrm>
            <a:off x="4636008" y="3977640"/>
            <a:ext cx="3383280" cy="274320"/>
          </a:xfrm>
          <a:prstGeom prst="rect">
            <a:avLst/>
          </a:prstGeom>
          <a:noFill/>
          <a:ln/>
        </p:spPr>
        <p:txBody>
          <a:bodyPr wrap="square" lIns="0" tIns="0" rIns="0" bIns="0" rtlCol="0" anchor="ctr"/>
          <a:lstStyle/>
          <a:p>
            <a:pPr marL="0" indent="0" algn="ctr">
              <a:buNone/>
            </a:pPr>
            <a:r>
              <a:rPr lang="en-US" sz="1100" b="1" kern="0" spc="300" dirty="0">
                <a:solidFill>
                  <a:srgbClr val="E8654A"/>
                </a:solidFill>
                <a:latin typeface="Calibri" pitchFamily="34" charset="0"/>
                <a:ea typeface="Calibri" pitchFamily="34" charset="-122"/>
                <a:cs typeface="Calibri" pitchFamily="34" charset="-120"/>
              </a:rPr>
              <a:t>DOWN</a:t>
            </a:r>
            <a:endParaRPr lang="en-US" sz="1100" dirty="0"/>
          </a:p>
        </p:txBody>
      </p:sp>
      <p:sp>
        <p:nvSpPr>
          <p:cNvPr id="23" name="Text 21"/>
          <p:cNvSpPr/>
          <p:nvPr/>
        </p:nvSpPr>
        <p:spPr>
          <a:xfrm>
            <a:off x="4636008" y="4297680"/>
            <a:ext cx="3383280" cy="640080"/>
          </a:xfrm>
          <a:prstGeom prst="rect">
            <a:avLst/>
          </a:prstGeom>
          <a:noFill/>
          <a:ln/>
        </p:spPr>
        <p:txBody>
          <a:bodyPr wrap="square" lIns="0" tIns="0" rIns="0" bIns="0" rtlCol="0" anchor="ctr"/>
          <a:lstStyle/>
          <a:p>
            <a:pPr marL="0" indent="0" algn="ctr">
              <a:buNone/>
            </a:pPr>
            <a:r>
              <a:rPr lang="en-US" sz="1200" dirty="0">
                <a:solidFill>
                  <a:srgbClr val="B7D7DC"/>
                </a:solidFill>
                <a:latin typeface="Calibri" pitchFamily="34" charset="0"/>
                <a:ea typeface="Calibri" pitchFamily="34" charset="-122"/>
                <a:cs typeface="Calibri" pitchFamily="34" charset="-120"/>
              </a:rPr>
              <a:t>Drops measurably among churners</a:t>
            </a:r>
            <a:endParaRPr lang="en-US" sz="1200" dirty="0"/>
          </a:p>
        </p:txBody>
      </p:sp>
      <p:sp>
        <p:nvSpPr>
          <p:cNvPr id="24" name="Shape 22"/>
          <p:cNvSpPr/>
          <p:nvPr/>
        </p:nvSpPr>
        <p:spPr>
          <a:xfrm>
            <a:off x="8266176" y="1828800"/>
            <a:ext cx="3703320" cy="3200400"/>
          </a:xfrm>
          <a:prstGeom prst="rect">
            <a:avLst/>
          </a:prstGeom>
          <a:solidFill>
            <a:srgbClr val="0A4250"/>
          </a:solidFill>
          <a:ln w="12700">
            <a:solidFill>
              <a:srgbClr val="1E5A6B"/>
            </a:solidFill>
            <a:prstDash val="solid"/>
          </a:ln>
        </p:spPr>
        <p:txBody>
          <a:bodyPr/>
          <a:lstStyle/>
          <a:p>
            <a:endParaRPr lang="en-US"/>
          </a:p>
        </p:txBody>
      </p:sp>
      <p:sp>
        <p:nvSpPr>
          <p:cNvPr id="25" name="Text 23"/>
          <p:cNvSpPr/>
          <p:nvPr/>
        </p:nvSpPr>
        <p:spPr>
          <a:xfrm>
            <a:off x="8540496" y="1965960"/>
            <a:ext cx="3383280" cy="274320"/>
          </a:xfrm>
          <a:prstGeom prst="rect">
            <a:avLst/>
          </a:prstGeom>
          <a:noFill/>
          <a:ln/>
        </p:spPr>
        <p:txBody>
          <a:bodyPr wrap="square" lIns="0" tIns="0" rIns="0" bIns="0" rtlCol="0" anchor="ctr"/>
          <a:lstStyle/>
          <a:p>
            <a:pPr marL="0" indent="0">
              <a:buNone/>
            </a:pPr>
            <a:r>
              <a:rPr lang="en-US" sz="1000" kern="0" spc="300" dirty="0">
                <a:solidFill>
                  <a:srgbClr val="3FE0E0"/>
                </a:solidFill>
                <a:latin typeface="Calibri" pitchFamily="34" charset="0"/>
                <a:ea typeface="Calibri" pitchFamily="34" charset="-122"/>
                <a:cs typeface="Calibri" pitchFamily="34" charset="-120"/>
              </a:rPr>
              <a:t>SIGNAL 03</a:t>
            </a:r>
            <a:endParaRPr lang="en-US" sz="1000" dirty="0"/>
          </a:p>
        </p:txBody>
      </p:sp>
      <p:sp>
        <p:nvSpPr>
          <p:cNvPr id="26" name="Text 24"/>
          <p:cNvSpPr/>
          <p:nvPr/>
        </p:nvSpPr>
        <p:spPr>
          <a:xfrm>
            <a:off x="8540496" y="2286000"/>
            <a:ext cx="3383280" cy="45720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Buffering events</a:t>
            </a:r>
            <a:endParaRPr lang="en-US" sz="1800" dirty="0"/>
          </a:p>
        </p:txBody>
      </p:sp>
      <p:sp>
        <p:nvSpPr>
          <p:cNvPr id="27" name="Text 25"/>
          <p:cNvSpPr/>
          <p:nvPr/>
        </p:nvSpPr>
        <p:spPr>
          <a:xfrm>
            <a:off x="8540496" y="2880360"/>
            <a:ext cx="3383280" cy="1005840"/>
          </a:xfrm>
          <a:prstGeom prst="rect">
            <a:avLst/>
          </a:prstGeom>
          <a:noFill/>
          <a:ln/>
        </p:spPr>
        <p:txBody>
          <a:bodyPr wrap="square" lIns="0" tIns="0" rIns="0" bIns="0" rtlCol="0" anchor="ctr"/>
          <a:lstStyle/>
          <a:p>
            <a:pPr marL="0" indent="0" algn="ctr">
              <a:buNone/>
            </a:pPr>
            <a:r>
              <a:rPr lang="en-US" sz="6400" b="1" dirty="0">
                <a:solidFill>
                  <a:srgbClr val="F0A23E"/>
                </a:solidFill>
                <a:latin typeface="Calibri" pitchFamily="34" charset="0"/>
                <a:ea typeface="Calibri" pitchFamily="34" charset="-122"/>
                <a:cs typeface="Calibri" pitchFamily="34" charset="-120"/>
              </a:rPr>
              <a:t>▲</a:t>
            </a:r>
            <a:endParaRPr lang="en-US" sz="6400" dirty="0"/>
          </a:p>
        </p:txBody>
      </p:sp>
      <p:sp>
        <p:nvSpPr>
          <p:cNvPr id="28" name="Text 26"/>
          <p:cNvSpPr/>
          <p:nvPr/>
        </p:nvSpPr>
        <p:spPr>
          <a:xfrm>
            <a:off x="8540496" y="3977640"/>
            <a:ext cx="3383280" cy="274320"/>
          </a:xfrm>
          <a:prstGeom prst="rect">
            <a:avLst/>
          </a:prstGeom>
          <a:noFill/>
          <a:ln/>
        </p:spPr>
        <p:txBody>
          <a:bodyPr wrap="square" lIns="0" tIns="0" rIns="0" bIns="0" rtlCol="0" anchor="ctr"/>
          <a:lstStyle/>
          <a:p>
            <a:pPr marL="0" indent="0" algn="ctr">
              <a:buNone/>
            </a:pPr>
            <a:r>
              <a:rPr lang="en-US" sz="1100" b="1" kern="0" spc="300" dirty="0">
                <a:solidFill>
                  <a:srgbClr val="F0A23E"/>
                </a:solidFill>
                <a:latin typeface="Calibri" pitchFamily="34" charset="0"/>
                <a:ea typeface="Calibri" pitchFamily="34" charset="-122"/>
                <a:cs typeface="Calibri" pitchFamily="34" charset="-120"/>
              </a:rPr>
              <a:t>UP</a:t>
            </a:r>
            <a:endParaRPr lang="en-US" sz="1100" dirty="0"/>
          </a:p>
        </p:txBody>
      </p:sp>
      <p:sp>
        <p:nvSpPr>
          <p:cNvPr id="29" name="Text 27"/>
          <p:cNvSpPr/>
          <p:nvPr/>
        </p:nvSpPr>
        <p:spPr>
          <a:xfrm>
            <a:off x="8540496" y="4297680"/>
            <a:ext cx="3383280" cy="640080"/>
          </a:xfrm>
          <a:prstGeom prst="rect">
            <a:avLst/>
          </a:prstGeom>
          <a:noFill/>
          <a:ln/>
        </p:spPr>
        <p:txBody>
          <a:bodyPr wrap="square" lIns="0" tIns="0" rIns="0" bIns="0" rtlCol="0" anchor="ctr"/>
          <a:lstStyle/>
          <a:p>
            <a:pPr marL="0" indent="0" algn="ctr">
              <a:buNone/>
            </a:pPr>
            <a:r>
              <a:rPr lang="en-US" sz="1200" dirty="0">
                <a:solidFill>
                  <a:srgbClr val="B7D7DC"/>
                </a:solidFill>
                <a:latin typeface="Calibri" pitchFamily="34" charset="0"/>
                <a:ea typeface="Calibri" pitchFamily="34" charset="-122"/>
                <a:cs typeface="Calibri" pitchFamily="34" charset="-120"/>
              </a:rPr>
              <a:t>Rises measurably among churners</a:t>
            </a:r>
            <a:endParaRPr lang="en-US" sz="1200" dirty="0"/>
          </a:p>
        </p:txBody>
      </p:sp>
      <p:sp>
        <p:nvSpPr>
          <p:cNvPr id="30" name="Shape 28"/>
          <p:cNvSpPr/>
          <p:nvPr/>
        </p:nvSpPr>
        <p:spPr>
          <a:xfrm>
            <a:off x="457200" y="5166360"/>
            <a:ext cx="11247120" cy="914400"/>
          </a:xfrm>
          <a:prstGeom prst="rect">
            <a:avLst/>
          </a:prstGeom>
          <a:solidFill>
            <a:srgbClr val="001D24"/>
          </a:solidFill>
          <a:ln w="25400">
            <a:solidFill>
              <a:srgbClr val="3FE0E0"/>
            </a:solidFill>
            <a:prstDash val="solid"/>
          </a:ln>
        </p:spPr>
        <p:txBody>
          <a:bodyPr/>
          <a:lstStyle/>
          <a:p>
            <a:endParaRPr lang="en-US"/>
          </a:p>
        </p:txBody>
      </p:sp>
      <p:sp>
        <p:nvSpPr>
          <p:cNvPr id="31" name="Text 29"/>
          <p:cNvSpPr/>
          <p:nvPr/>
        </p:nvSpPr>
        <p:spPr>
          <a:xfrm>
            <a:off x="640080" y="5166360"/>
            <a:ext cx="10972800" cy="9144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RECOMMENDATION · Build a churn early-warning model. Users showing 30-day declines in completion plus interactions, combined with elevated buffering, trigger automated retention interventions. A 5% churn reduction translates to approximately $X annual revenue saved.</a:t>
            </a:r>
            <a:endParaRPr lang="en-US" sz="1200" dirty="0"/>
          </a:p>
        </p:txBody>
      </p:sp>
      <p:sp>
        <p:nvSpPr>
          <p:cNvPr id="32" name="Text 30"/>
          <p:cNvSpPr/>
          <p:nvPr/>
        </p:nvSpPr>
        <p:spPr>
          <a:xfrm>
            <a:off x="11338560" y="6446520"/>
            <a:ext cx="640080" cy="274320"/>
          </a:xfrm>
          <a:prstGeom prst="rect">
            <a:avLst/>
          </a:prstGeom>
          <a:noFill/>
          <a:ln/>
        </p:spPr>
        <p:txBody>
          <a:bodyPr wrap="square" lIns="0" tIns="0" rIns="0" bIns="0" rtlCol="0" anchor="ctr"/>
          <a:lstStyle/>
          <a:p>
            <a:pPr marL="0" indent="0" algn="r">
              <a:buNone/>
            </a:pPr>
            <a:r>
              <a:rPr lang="en-US" sz="900" dirty="0">
                <a:solidFill>
                  <a:srgbClr val="7FA8AE"/>
                </a:solidFill>
                <a:latin typeface="Calibri" pitchFamily="34" charset="0"/>
                <a:ea typeface="Calibri" pitchFamily="34" charset="-122"/>
                <a:cs typeface="Calibri" pitchFamily="34" charset="-120"/>
              </a:rPr>
              <a:t>15 / 22</a:t>
            </a:r>
            <a:endParaRPr lang="en-US" sz="900" dirty="0"/>
          </a:p>
        </p:txBody>
      </p:sp>
      <p:sp>
        <p:nvSpPr>
          <p:cNvPr id="33" name="Text 31"/>
          <p:cNvSpPr/>
          <p:nvPr/>
        </p:nvSpPr>
        <p:spPr>
          <a:xfrm>
            <a:off x="365760" y="6446520"/>
            <a:ext cx="7315200" cy="274320"/>
          </a:xfrm>
          <a:prstGeom prst="rect">
            <a:avLst/>
          </a:prstGeom>
          <a:noFill/>
          <a:ln/>
        </p:spPr>
        <p:txBody>
          <a:bodyPr wrap="square" lIns="0" tIns="0" rIns="0" bIns="0" rtlCol="0" anchor="ctr"/>
          <a:lstStyle/>
          <a:p>
            <a:pPr marL="0" indent="0" algn="l">
              <a:buNone/>
            </a:pPr>
            <a:r>
              <a:rPr lang="en-US" sz="900" kern="0" spc="20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Insight 03 · Total monthly hours watched is the dominant churn precursor</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Comparing 19,573 churned users with 180,427 retained users in user-profiles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1828800"/>
            <a:ext cx="3749040" cy="27432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1828800"/>
            <a:ext cx="3749040" cy="411480"/>
          </a:xfrm>
          <a:prstGeom prst="rect">
            <a:avLst/>
          </a:prstGeom>
          <a:solidFill>
            <a:srgbClr val="5FBE7D"/>
          </a:solid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731520" y="1828800"/>
            <a:ext cx="32004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01D24"/>
                </a:solidFill>
                <a:effectLst/>
                <a:uLnTx/>
                <a:uFillTx/>
                <a:latin typeface="Calibri" pitchFamily="34" charset="0"/>
                <a:ea typeface="Calibri" pitchFamily="34" charset="-122"/>
                <a:cs typeface="Calibri" pitchFamily="34" charset="-120"/>
              </a:rPr>
              <a:t>RETAINED USERS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31520" y="2377440"/>
            <a:ext cx="320040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26.4</a:t>
            </a:r>
            <a:endParaRPr kumimoji="0" lang="en-US" sz="6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731520" y="3657600"/>
            <a:ext cx="3200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5FBE7D"/>
                </a:solidFill>
                <a:effectLst/>
                <a:uLnTx/>
                <a:uFillTx/>
                <a:latin typeface="Calibri" pitchFamily="34" charset="0"/>
                <a:ea typeface="Calibri" pitchFamily="34" charset="-122"/>
                <a:cs typeface="Calibri" pitchFamily="34" charset="-120"/>
              </a:rPr>
              <a:t>hours/month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731520" y="4160520"/>
            <a:ext cx="3200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180,427 users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4480560" y="1828800"/>
            <a:ext cx="3749040" cy="274320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p:cNvSpPr/>
          <p:nvPr/>
        </p:nvSpPr>
        <p:spPr>
          <a:xfrm>
            <a:off x="4480560" y="1828800"/>
            <a:ext cx="3749040" cy="411480"/>
          </a:xfrm>
          <a:prstGeom prst="rect">
            <a:avLst/>
          </a:prstGeom>
          <a:solidFill>
            <a:srgbClr val="E8654A"/>
          </a:solidFill>
          <a:ln w="12700">
            <a:solidFill>
              <a:srgbClr val="E865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p:cNvSpPr/>
          <p:nvPr/>
        </p:nvSpPr>
        <p:spPr>
          <a:xfrm>
            <a:off x="4754880" y="1828800"/>
            <a:ext cx="32004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300" normalizeH="0" baseline="0" noProof="0" dirty="0">
                <a:ln>
                  <a:noFill/>
                </a:ln>
                <a:solidFill>
                  <a:srgbClr val="001D24"/>
                </a:solidFill>
                <a:effectLst/>
                <a:uLnTx/>
                <a:uFillTx/>
                <a:latin typeface="Calibri" pitchFamily="34" charset="0"/>
                <a:ea typeface="Calibri" pitchFamily="34" charset="-122"/>
                <a:cs typeface="Calibri" pitchFamily="34" charset="-120"/>
              </a:rPr>
              <a:t>CHURNED USERS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4754880" y="2377440"/>
            <a:ext cx="320040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15.2</a:t>
            </a:r>
            <a:endParaRPr kumimoji="0" lang="en-US" sz="6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4754880" y="3657600"/>
            <a:ext cx="3200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E8654A"/>
                </a:solidFill>
                <a:effectLst/>
                <a:uLnTx/>
                <a:uFillTx/>
                <a:latin typeface="Calibri" pitchFamily="34" charset="0"/>
                <a:ea typeface="Calibri" pitchFamily="34" charset="-122"/>
                <a:cs typeface="Calibri" pitchFamily="34" charset="-120"/>
              </a:rPr>
              <a:t>hours/month</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754880" y="4160520"/>
            <a:ext cx="3200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19,573 users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8503920" y="1828800"/>
            <a:ext cx="3200400" cy="2743200"/>
          </a:xfrm>
          <a:prstGeom prst="rect">
            <a:avLst/>
          </a:prstGeom>
          <a:solidFill>
            <a:srgbClr val="001D24"/>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8641080" y="1965960"/>
            <a:ext cx="2926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SIGNALS TESTED · NO SEPARATION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4"/>
          <p:cNvSpPr/>
          <p:nvPr/>
        </p:nvSpPr>
        <p:spPr>
          <a:xfrm>
            <a:off x="8641080" y="2331720"/>
            <a:ext cx="29260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Completion %</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8641080" y="2578608"/>
            <a:ext cx="2926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A8AE"/>
                </a:solidFill>
                <a:effectLst/>
                <a:uLnTx/>
                <a:uFillTx/>
                <a:latin typeface="Consolas" pitchFamily="34" charset="0"/>
                <a:ea typeface="Consolas" pitchFamily="34" charset="-122"/>
                <a:cs typeface="Consolas" pitchFamily="34" charset="-120"/>
              </a:rPr>
              <a:t>Churned 52.76%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8641080" y="2779776"/>
            <a:ext cx="2926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A8AE"/>
                </a:solidFill>
                <a:effectLst/>
                <a:uLnTx/>
                <a:uFillTx/>
                <a:latin typeface="Consolas" pitchFamily="34" charset="0"/>
                <a:ea typeface="Consolas" pitchFamily="34" charset="-122"/>
                <a:cs typeface="Consolas" pitchFamily="34" charset="-120"/>
              </a:rPr>
              <a:t>Retained 52.72%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7"/>
          <p:cNvSpPr/>
          <p:nvPr/>
        </p:nvSpPr>
        <p:spPr>
          <a:xfrm>
            <a:off x="8641080" y="3044952"/>
            <a:ext cx="29260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Buffering events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8641080" y="3291840"/>
            <a:ext cx="2926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A8AE"/>
                </a:solidFill>
                <a:effectLst/>
                <a:uLnTx/>
                <a:uFillTx/>
                <a:latin typeface="Consolas" pitchFamily="34" charset="0"/>
                <a:ea typeface="Consolas" pitchFamily="34" charset="-122"/>
                <a:cs typeface="Consolas" pitchFamily="34" charset="-120"/>
              </a:rPr>
              <a:t>Churned 2.17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8641080" y="3493008"/>
            <a:ext cx="2926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A8AE"/>
                </a:solidFill>
                <a:effectLst/>
                <a:uLnTx/>
                <a:uFillTx/>
                <a:latin typeface="Consolas" pitchFamily="34" charset="0"/>
                <a:ea typeface="Consolas" pitchFamily="34" charset="-122"/>
                <a:cs typeface="Consolas" pitchFamily="34" charset="-120"/>
              </a:rPr>
              <a:t>Retained 2.20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8641080" y="3758184"/>
            <a:ext cx="292608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Unique titles/mo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1"/>
          <p:cNvSpPr/>
          <p:nvPr/>
        </p:nvSpPr>
        <p:spPr>
          <a:xfrm>
            <a:off x="8641080" y="4005072"/>
            <a:ext cx="2926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A8AE"/>
                </a:solidFill>
                <a:effectLst/>
                <a:uLnTx/>
                <a:uFillTx/>
                <a:latin typeface="Consolas" pitchFamily="34" charset="0"/>
                <a:ea typeface="Consolas" pitchFamily="34" charset="-122"/>
                <a:cs typeface="Consolas" pitchFamily="34" charset="-120"/>
              </a:rPr>
              <a:t>Churned 1.32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2"/>
          <p:cNvSpPr/>
          <p:nvPr/>
        </p:nvSpPr>
        <p:spPr>
          <a:xfrm>
            <a:off x="8641080" y="4206240"/>
            <a:ext cx="2926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FA8AE"/>
                </a:solidFill>
                <a:effectLst/>
                <a:uLnTx/>
                <a:uFillTx/>
                <a:latin typeface="Consolas" pitchFamily="34" charset="0"/>
                <a:ea typeface="Consolas" pitchFamily="34" charset="-122"/>
                <a:cs typeface="Consolas" pitchFamily="34" charset="-120"/>
              </a:rPr>
              <a:t>Retained 1.32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457200" y="4754880"/>
            <a:ext cx="1124712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1" u="none" strike="noStrike" kern="1200" cap="none" spc="0" normalizeH="0" baseline="0" noProof="0" dirty="0">
                <a:ln>
                  <a:noFill/>
                </a:ln>
                <a:solidFill>
                  <a:srgbClr val="3FE0E0"/>
                </a:solidFill>
                <a:effectLst/>
                <a:uLnTx/>
                <a:uFillTx/>
                <a:latin typeface="Calibri" pitchFamily="34" charset="0"/>
                <a:ea typeface="Calibri" pitchFamily="34" charset="-122"/>
                <a:cs typeface="Calibri" pitchFamily="34" charset="-120"/>
              </a:rPr>
              <a:t>42% gap between cohorts — the strongest user-level signal in the data</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4"/>
          <p:cNvSpPr/>
          <p:nvPr/>
        </p:nvSpPr>
        <p:spPr>
          <a:xfrm>
            <a:off x="457200" y="5257800"/>
            <a:ext cx="11247120" cy="868680"/>
          </a:xfrm>
          <a:prstGeom prst="rect">
            <a:avLst/>
          </a:prstGeom>
          <a:solidFill>
            <a:srgbClr val="001D24"/>
          </a:solid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640080" y="534924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3FE0E0"/>
                </a:solidFill>
                <a:effectLst/>
                <a:uLnTx/>
                <a:uFillTx/>
                <a:latin typeface="Calibri" pitchFamily="34" charset="0"/>
                <a:ea typeface="Calibri" pitchFamily="34" charset="-122"/>
                <a:cs typeface="Calibri" pitchFamily="34" charset="-120"/>
              </a:rPr>
              <a:t>RECOMMENDATION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6"/>
          <p:cNvSpPr/>
          <p:nvPr/>
        </p:nvSpPr>
        <p:spPr>
          <a:xfrm>
            <a:off x="640080" y="5623560"/>
            <a:ext cx="109728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Build a churn early-warning model on monthly_hours_watched and engagement velocity (recent vs historical hours). Tested signals like buffering and completion rate showed no churn separation in the data — model only on what predicts.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15 / 22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Insight 04 · Streaming quality is uniform — no geographic concentration</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All seven CDN regions and ten ISPs cluster within a 3.3% spread of buffering events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457200" y="1828800"/>
            <a:ext cx="5486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3FE0E0"/>
                </a:solidFill>
                <a:effectLst/>
                <a:uLnTx/>
                <a:uFillTx/>
                <a:latin typeface="Calibri" pitchFamily="34" charset="0"/>
                <a:ea typeface="Calibri" pitchFamily="34" charset="-122"/>
                <a:cs typeface="Calibri" pitchFamily="34" charset="-120"/>
              </a:rPr>
              <a:t>BUFFERING EVENTS BY CDN REGION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2194560"/>
            <a:ext cx="5486400" cy="32004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640080" y="219456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south-america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3383280" y="2194560"/>
            <a:ext cx="9144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2.25</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4389120" y="2194560"/>
            <a:ext cx="1371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events / session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57200" y="2560320"/>
            <a:ext cx="5486400" cy="32004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640080" y="256032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us-central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3383280" y="2560320"/>
            <a:ext cx="9144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2.22</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389120" y="2560320"/>
            <a:ext cx="1371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events / session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457200" y="2926080"/>
            <a:ext cx="5486400" cy="32004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640080" y="292608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asia-pacific</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3383280" y="2926080"/>
            <a:ext cx="9144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2.20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4389120" y="2926080"/>
            <a:ext cx="1371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events / session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457200" y="3291840"/>
            <a:ext cx="5486400" cy="32004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4"/>
          <p:cNvSpPr/>
          <p:nvPr/>
        </p:nvSpPr>
        <p:spPr>
          <a:xfrm>
            <a:off x="640080" y="329184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eu-central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3383280" y="3291840"/>
            <a:ext cx="9144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2.19</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389120" y="3291840"/>
            <a:ext cx="1371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events / session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7"/>
          <p:cNvSpPr/>
          <p:nvPr/>
        </p:nvSpPr>
        <p:spPr>
          <a:xfrm>
            <a:off x="457200" y="3657600"/>
            <a:ext cx="5486400" cy="32004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640080" y="365760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eu-west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3383280" y="3657600"/>
            <a:ext cx="9144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2.18</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30"/>
          <p:cNvSpPr/>
          <p:nvPr/>
        </p:nvSpPr>
        <p:spPr>
          <a:xfrm>
            <a:off x="4389120" y="3657600"/>
            <a:ext cx="1371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events / session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1"/>
          <p:cNvSpPr/>
          <p:nvPr/>
        </p:nvSpPr>
        <p:spPr>
          <a:xfrm>
            <a:off x="457200" y="4023360"/>
            <a:ext cx="5486400" cy="32004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640080" y="402336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us-west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3"/>
          <p:cNvSpPr/>
          <p:nvPr/>
        </p:nvSpPr>
        <p:spPr>
          <a:xfrm>
            <a:off x="3383280" y="4023360"/>
            <a:ext cx="9144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2.18</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4389120" y="4023360"/>
            <a:ext cx="1371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events / session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5"/>
          <p:cNvSpPr/>
          <p:nvPr/>
        </p:nvSpPr>
        <p:spPr>
          <a:xfrm>
            <a:off x="457200" y="4389120"/>
            <a:ext cx="5486400" cy="32004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6"/>
          <p:cNvSpPr/>
          <p:nvPr/>
        </p:nvSpPr>
        <p:spPr>
          <a:xfrm>
            <a:off x="640080" y="438912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onsolas" pitchFamily="34" charset="0"/>
                <a:ea typeface="Consolas" pitchFamily="34" charset="-122"/>
                <a:cs typeface="Consolas" pitchFamily="34" charset="-120"/>
              </a:rPr>
              <a:t>us-east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7"/>
          <p:cNvSpPr/>
          <p:nvPr/>
        </p:nvSpPr>
        <p:spPr>
          <a:xfrm>
            <a:off x="3383280" y="4389120"/>
            <a:ext cx="914400" cy="32004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FE0E0"/>
                </a:solidFill>
                <a:effectLst/>
                <a:uLnTx/>
                <a:uFillTx/>
                <a:latin typeface="Consolas" pitchFamily="34" charset="0"/>
                <a:ea typeface="Consolas" pitchFamily="34" charset="-122"/>
                <a:cs typeface="Consolas" pitchFamily="34" charset="-120"/>
              </a:rPr>
              <a:t>2.17</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8"/>
          <p:cNvSpPr/>
          <p:nvPr/>
        </p:nvSpPr>
        <p:spPr>
          <a:xfrm>
            <a:off x="4389120" y="4389120"/>
            <a:ext cx="1371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events / session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9"/>
          <p:cNvSpPr/>
          <p:nvPr/>
        </p:nvSpPr>
        <p:spPr>
          <a:xfrm>
            <a:off x="6126480" y="1828800"/>
            <a:ext cx="5577840" cy="292608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40"/>
          <p:cNvSpPr/>
          <p:nvPr/>
        </p:nvSpPr>
        <p:spPr>
          <a:xfrm>
            <a:off x="6309360" y="1965960"/>
            <a:ext cx="5212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3FE0E0"/>
                </a:solidFill>
                <a:effectLst/>
                <a:uLnTx/>
                <a:uFillTx/>
                <a:latin typeface="Calibri" pitchFamily="34" charset="0"/>
                <a:ea typeface="Calibri" pitchFamily="34" charset="-122"/>
                <a:cs typeface="Calibri" pitchFamily="34" charset="-120"/>
              </a:rPr>
              <a:t>WHAT THIS MEANS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1"/>
          <p:cNvSpPr/>
          <p:nvPr/>
        </p:nvSpPr>
        <p:spPr>
          <a:xfrm>
            <a:off x="6309360" y="2331720"/>
            <a:ext cx="5212080"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5600" b="1" i="0" u="none" strike="noStrike" kern="1200" cap="none" spc="0" normalizeH="0" baseline="0" noProof="0" dirty="0">
                <a:ln>
                  <a:noFill/>
                </a:ln>
                <a:solidFill>
                  <a:srgbClr val="3FE0E0"/>
                </a:solidFill>
                <a:effectLst/>
                <a:uLnTx/>
                <a:uFillTx/>
                <a:latin typeface="Calibri" pitchFamily="34" charset="0"/>
                <a:ea typeface="Calibri" pitchFamily="34" charset="-122"/>
                <a:cs typeface="Calibri" pitchFamily="34" charset="-120"/>
              </a:rPr>
              <a:t>3.3%</a:t>
            </a:r>
            <a:endParaRPr kumimoji="0" lang="en-US" sz="5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2"/>
          <p:cNvSpPr/>
          <p:nvPr/>
        </p:nvSpPr>
        <p:spPr>
          <a:xfrm>
            <a:off x="6309360" y="3200400"/>
            <a:ext cx="5212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buffering spread across all 7 regions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3"/>
          <p:cNvSpPr/>
          <p:nvPr/>
        </p:nvSpPr>
        <p:spPr>
          <a:xfrm>
            <a:off x="7498080" y="3611880"/>
            <a:ext cx="2743200" cy="0"/>
          </a:xfrm>
          <a:prstGeom prst="line">
            <a:avLst/>
          </a:prstGeom>
          <a:no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4"/>
          <p:cNvSpPr/>
          <p:nvPr/>
        </p:nvSpPr>
        <p:spPr>
          <a:xfrm>
            <a:off x="6309360" y="3749040"/>
            <a:ext cx="5212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Buffering ↔ Completion correlation: ≈ 0</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45"/>
          <p:cNvSpPr/>
          <p:nvPr/>
        </p:nvSpPr>
        <p:spPr>
          <a:xfrm>
            <a:off x="6309360" y="4023360"/>
            <a:ext cx="521208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Quality is not a meaningful retention lever in this dataset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46"/>
          <p:cNvSpPr/>
          <p:nvPr/>
        </p:nvSpPr>
        <p:spPr>
          <a:xfrm>
            <a:off x="457200" y="5120640"/>
            <a:ext cx="11247120" cy="1005840"/>
          </a:xfrm>
          <a:prstGeom prst="rect">
            <a:avLst/>
          </a:prstGeom>
          <a:solidFill>
            <a:srgbClr val="001D24"/>
          </a:solid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47"/>
          <p:cNvSpPr/>
          <p:nvPr/>
        </p:nvSpPr>
        <p:spPr>
          <a:xfrm>
            <a:off x="640080" y="521208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300" normalizeH="0" baseline="0" noProof="0" dirty="0">
                <a:ln>
                  <a:noFill/>
                </a:ln>
                <a:solidFill>
                  <a:srgbClr val="3FE0E0"/>
                </a:solidFill>
                <a:effectLst/>
                <a:uLnTx/>
                <a:uFillTx/>
                <a:latin typeface="Calibri" pitchFamily="34" charset="0"/>
                <a:ea typeface="Calibri" pitchFamily="34" charset="-122"/>
                <a:cs typeface="Calibri" pitchFamily="34" charset="-120"/>
              </a:rPr>
              <a:t>RECOMMENDATION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8"/>
          <p:cNvSpPr/>
          <p:nvPr/>
        </p:nvSpPr>
        <p:spPr>
          <a:xfrm>
            <a:off x="640080" y="5486400"/>
            <a:ext cx="109728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De-prioritize geographic CDN investment. The case for selective region/ISP upgrades is not present in current data — buffering is consistent across all infrastructure combinations and does not correlate with completion. Reallocate CDN budget toward absolute baseline reduction or other levers.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9"/>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16 / 22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50"/>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16">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Insight 04 · Streaming quality is geographically concentrated</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i="1" kern="0" spc="100" dirty="0">
                <a:solidFill>
                  <a:srgbClr val="3FE0E0"/>
                </a:solidFill>
                <a:latin typeface="Calibri" pitchFamily="34" charset="0"/>
                <a:ea typeface="Calibri" pitchFamily="34" charset="-122"/>
                <a:cs typeface="Calibri" pitchFamily="34" charset="-120"/>
              </a:rPr>
              <a:t>Region by ISP combinations reveal where infrastructure investment most reduces churn risk</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endParaRPr lang="en-US"/>
          </a:p>
        </p:txBody>
      </p:sp>
      <p:sp>
        <p:nvSpPr>
          <p:cNvPr id="12" name="Text 10"/>
          <p:cNvSpPr/>
          <p:nvPr/>
        </p:nvSpPr>
        <p:spPr>
          <a:xfrm>
            <a:off x="457200" y="1828800"/>
            <a:ext cx="5486400" cy="274320"/>
          </a:xfrm>
          <a:prstGeom prst="rect">
            <a:avLst/>
          </a:prstGeom>
          <a:noFill/>
          <a:ln/>
        </p:spPr>
        <p:txBody>
          <a:bodyPr wrap="square" lIns="0" tIns="0" rIns="0" bIns="0" rtlCol="0" anchor="ctr"/>
          <a:lstStyle/>
          <a:p>
            <a:pPr marL="0" indent="0">
              <a:buNone/>
            </a:pPr>
            <a:r>
              <a:rPr lang="en-US" sz="1000" kern="0" spc="300" dirty="0">
                <a:solidFill>
                  <a:srgbClr val="3FE0E0"/>
                </a:solidFill>
                <a:latin typeface="Calibri" pitchFamily="34" charset="0"/>
                <a:ea typeface="Calibri" pitchFamily="34" charset="-122"/>
                <a:cs typeface="Calibri" pitchFamily="34" charset="-120"/>
              </a:rPr>
              <a:t>WORST REGION × ISP COMBINATIONS</a:t>
            </a:r>
            <a:endParaRPr lang="en-US" sz="1000" dirty="0"/>
          </a:p>
        </p:txBody>
      </p:sp>
      <p:sp>
        <p:nvSpPr>
          <p:cNvPr id="13" name="Shape 11"/>
          <p:cNvSpPr/>
          <p:nvPr/>
        </p:nvSpPr>
        <p:spPr>
          <a:xfrm>
            <a:off x="457200" y="2240280"/>
            <a:ext cx="5486400" cy="640080"/>
          </a:xfrm>
          <a:prstGeom prst="rect">
            <a:avLst/>
          </a:prstGeom>
          <a:solidFill>
            <a:srgbClr val="0A4250"/>
          </a:solidFill>
          <a:ln w="12700">
            <a:solidFill>
              <a:srgbClr val="1E5A6B"/>
            </a:solidFill>
            <a:prstDash val="solid"/>
          </a:ln>
        </p:spPr>
        <p:txBody>
          <a:bodyPr/>
          <a:lstStyle/>
          <a:p>
            <a:endParaRPr lang="en-US"/>
          </a:p>
        </p:txBody>
      </p:sp>
      <p:sp>
        <p:nvSpPr>
          <p:cNvPr id="14" name="Text 12"/>
          <p:cNvSpPr/>
          <p:nvPr/>
        </p:nvSpPr>
        <p:spPr>
          <a:xfrm>
            <a:off x="640080" y="2240280"/>
            <a:ext cx="548640" cy="640080"/>
          </a:xfrm>
          <a:prstGeom prst="rect">
            <a:avLst/>
          </a:prstGeom>
          <a:noFill/>
          <a:ln/>
        </p:spPr>
        <p:txBody>
          <a:bodyPr wrap="square" lIns="0" tIns="0" rIns="0" bIns="0" rtlCol="0" anchor="ctr"/>
          <a:lstStyle/>
          <a:p>
            <a:pPr marL="0" indent="0">
              <a:buNone/>
            </a:pPr>
            <a:r>
              <a:rPr lang="en-US" sz="2200" b="1" dirty="0">
                <a:solidFill>
                  <a:srgbClr val="3FE0E0"/>
                </a:solidFill>
                <a:latin typeface="Calibri" pitchFamily="34" charset="0"/>
                <a:ea typeface="Calibri" pitchFamily="34" charset="-122"/>
                <a:cs typeface="Calibri" pitchFamily="34" charset="-120"/>
              </a:rPr>
              <a:t>#1</a:t>
            </a:r>
            <a:endParaRPr lang="en-US" sz="2200" dirty="0"/>
          </a:p>
        </p:txBody>
      </p:sp>
      <p:sp>
        <p:nvSpPr>
          <p:cNvPr id="15" name="Text 13"/>
          <p:cNvSpPr/>
          <p:nvPr/>
        </p:nvSpPr>
        <p:spPr>
          <a:xfrm>
            <a:off x="1280160" y="2286000"/>
            <a:ext cx="4572000" cy="274320"/>
          </a:xfrm>
          <a:prstGeom prst="rect">
            <a:avLst/>
          </a:prstGeom>
          <a:noFill/>
          <a:ln/>
        </p:spPr>
        <p:txBody>
          <a:bodyPr wrap="square" lIns="0" tIns="0" rIns="0" bIns="0" rtlCol="0" anchor="ctr"/>
          <a:lstStyle/>
          <a:p>
            <a:pPr marL="0" indent="0">
              <a:buNone/>
            </a:pPr>
            <a:r>
              <a:rPr lang="en-US" sz="1200" b="1" i="1" dirty="0">
                <a:solidFill>
                  <a:srgbClr val="FFFFFF"/>
                </a:solidFill>
                <a:latin typeface="Calibri" pitchFamily="34" charset="0"/>
                <a:ea typeface="Calibri" pitchFamily="34" charset="-122"/>
                <a:cs typeface="Calibri" pitchFamily="34" charset="-120"/>
              </a:rPr>
              <a:t>Region + ISP to be inserted</a:t>
            </a:r>
            <a:endParaRPr lang="en-US" sz="1200" dirty="0"/>
          </a:p>
        </p:txBody>
      </p:sp>
      <p:sp>
        <p:nvSpPr>
          <p:cNvPr id="16" name="Text 14"/>
          <p:cNvSpPr/>
          <p:nvPr/>
        </p:nvSpPr>
        <p:spPr>
          <a:xfrm>
            <a:off x="1280160" y="2560320"/>
            <a:ext cx="4572000" cy="274320"/>
          </a:xfrm>
          <a:prstGeom prst="rect">
            <a:avLst/>
          </a:prstGeom>
          <a:noFill/>
          <a:ln/>
        </p:spPr>
        <p:txBody>
          <a:bodyPr wrap="square" lIns="0" tIns="0" rIns="0" bIns="0" rtlCol="0" anchor="ctr"/>
          <a:lstStyle/>
          <a:p>
            <a:pPr marL="0" indent="0">
              <a:buNone/>
            </a:pPr>
            <a:r>
              <a:rPr lang="en-US" sz="1100" dirty="0">
                <a:solidFill>
                  <a:srgbClr val="B7D7DC"/>
                </a:solidFill>
                <a:latin typeface="Calibri" pitchFamily="34" charset="0"/>
                <a:ea typeface="Calibri" pitchFamily="34" charset="-122"/>
                <a:cs typeface="Calibri" pitchFamily="34" charset="-120"/>
              </a:rPr>
              <a:t>X buffering events / session · Y× global average</a:t>
            </a:r>
            <a:endParaRPr lang="en-US" sz="1100" dirty="0"/>
          </a:p>
        </p:txBody>
      </p:sp>
      <p:sp>
        <p:nvSpPr>
          <p:cNvPr id="17" name="Shape 15"/>
          <p:cNvSpPr/>
          <p:nvPr/>
        </p:nvSpPr>
        <p:spPr>
          <a:xfrm>
            <a:off x="457200" y="3017520"/>
            <a:ext cx="5486400" cy="640080"/>
          </a:xfrm>
          <a:prstGeom prst="rect">
            <a:avLst/>
          </a:prstGeom>
          <a:solidFill>
            <a:srgbClr val="0A4250"/>
          </a:solidFill>
          <a:ln w="12700">
            <a:solidFill>
              <a:srgbClr val="1E5A6B"/>
            </a:solidFill>
            <a:prstDash val="solid"/>
          </a:ln>
        </p:spPr>
        <p:txBody>
          <a:bodyPr/>
          <a:lstStyle/>
          <a:p>
            <a:endParaRPr lang="en-US"/>
          </a:p>
        </p:txBody>
      </p:sp>
      <p:sp>
        <p:nvSpPr>
          <p:cNvPr id="18" name="Text 16"/>
          <p:cNvSpPr/>
          <p:nvPr/>
        </p:nvSpPr>
        <p:spPr>
          <a:xfrm>
            <a:off x="640080" y="3017520"/>
            <a:ext cx="548640" cy="640080"/>
          </a:xfrm>
          <a:prstGeom prst="rect">
            <a:avLst/>
          </a:prstGeom>
          <a:noFill/>
          <a:ln/>
        </p:spPr>
        <p:txBody>
          <a:bodyPr wrap="square" lIns="0" tIns="0" rIns="0" bIns="0" rtlCol="0" anchor="ctr"/>
          <a:lstStyle/>
          <a:p>
            <a:pPr marL="0" indent="0">
              <a:buNone/>
            </a:pPr>
            <a:r>
              <a:rPr lang="en-US" sz="2200" b="1" dirty="0">
                <a:solidFill>
                  <a:srgbClr val="3FE0E0"/>
                </a:solidFill>
                <a:latin typeface="Calibri" pitchFamily="34" charset="0"/>
                <a:ea typeface="Calibri" pitchFamily="34" charset="-122"/>
                <a:cs typeface="Calibri" pitchFamily="34" charset="-120"/>
              </a:rPr>
              <a:t>#2</a:t>
            </a:r>
            <a:endParaRPr lang="en-US" sz="2200" dirty="0"/>
          </a:p>
        </p:txBody>
      </p:sp>
      <p:sp>
        <p:nvSpPr>
          <p:cNvPr id="19" name="Text 17"/>
          <p:cNvSpPr/>
          <p:nvPr/>
        </p:nvSpPr>
        <p:spPr>
          <a:xfrm>
            <a:off x="1280160" y="3063240"/>
            <a:ext cx="4572000" cy="274320"/>
          </a:xfrm>
          <a:prstGeom prst="rect">
            <a:avLst/>
          </a:prstGeom>
          <a:noFill/>
          <a:ln/>
        </p:spPr>
        <p:txBody>
          <a:bodyPr wrap="square" lIns="0" tIns="0" rIns="0" bIns="0" rtlCol="0" anchor="ctr"/>
          <a:lstStyle/>
          <a:p>
            <a:pPr marL="0" indent="0">
              <a:buNone/>
            </a:pPr>
            <a:r>
              <a:rPr lang="en-US" sz="1200" b="1" i="1" dirty="0">
                <a:solidFill>
                  <a:srgbClr val="FFFFFF"/>
                </a:solidFill>
                <a:latin typeface="Calibri" pitchFamily="34" charset="0"/>
                <a:ea typeface="Calibri" pitchFamily="34" charset="-122"/>
                <a:cs typeface="Calibri" pitchFamily="34" charset="-120"/>
              </a:rPr>
              <a:t>Region + ISP to be inserted</a:t>
            </a:r>
            <a:endParaRPr lang="en-US" sz="1200" dirty="0"/>
          </a:p>
        </p:txBody>
      </p:sp>
      <p:sp>
        <p:nvSpPr>
          <p:cNvPr id="20" name="Text 18"/>
          <p:cNvSpPr/>
          <p:nvPr/>
        </p:nvSpPr>
        <p:spPr>
          <a:xfrm>
            <a:off x="1280160" y="3337560"/>
            <a:ext cx="4572000" cy="274320"/>
          </a:xfrm>
          <a:prstGeom prst="rect">
            <a:avLst/>
          </a:prstGeom>
          <a:noFill/>
          <a:ln/>
        </p:spPr>
        <p:txBody>
          <a:bodyPr wrap="square" lIns="0" tIns="0" rIns="0" bIns="0" rtlCol="0" anchor="ctr"/>
          <a:lstStyle/>
          <a:p>
            <a:pPr marL="0" indent="0">
              <a:buNone/>
            </a:pPr>
            <a:r>
              <a:rPr lang="en-US" sz="1100" dirty="0">
                <a:solidFill>
                  <a:srgbClr val="B7D7DC"/>
                </a:solidFill>
                <a:latin typeface="Calibri" pitchFamily="34" charset="0"/>
                <a:ea typeface="Calibri" pitchFamily="34" charset="-122"/>
                <a:cs typeface="Calibri" pitchFamily="34" charset="-120"/>
              </a:rPr>
              <a:t>X buffering events / session · Y× global average</a:t>
            </a:r>
            <a:endParaRPr lang="en-US" sz="1100" dirty="0"/>
          </a:p>
        </p:txBody>
      </p:sp>
      <p:sp>
        <p:nvSpPr>
          <p:cNvPr id="21" name="Shape 19"/>
          <p:cNvSpPr/>
          <p:nvPr/>
        </p:nvSpPr>
        <p:spPr>
          <a:xfrm>
            <a:off x="457200" y="3794760"/>
            <a:ext cx="5486400" cy="640080"/>
          </a:xfrm>
          <a:prstGeom prst="rect">
            <a:avLst/>
          </a:prstGeom>
          <a:solidFill>
            <a:srgbClr val="0A4250"/>
          </a:solidFill>
          <a:ln w="12700">
            <a:solidFill>
              <a:srgbClr val="1E5A6B"/>
            </a:solidFill>
            <a:prstDash val="solid"/>
          </a:ln>
        </p:spPr>
        <p:txBody>
          <a:bodyPr/>
          <a:lstStyle/>
          <a:p>
            <a:endParaRPr lang="en-US"/>
          </a:p>
        </p:txBody>
      </p:sp>
      <p:sp>
        <p:nvSpPr>
          <p:cNvPr id="22" name="Text 20"/>
          <p:cNvSpPr/>
          <p:nvPr/>
        </p:nvSpPr>
        <p:spPr>
          <a:xfrm>
            <a:off x="640080" y="3794760"/>
            <a:ext cx="548640" cy="640080"/>
          </a:xfrm>
          <a:prstGeom prst="rect">
            <a:avLst/>
          </a:prstGeom>
          <a:noFill/>
          <a:ln/>
        </p:spPr>
        <p:txBody>
          <a:bodyPr wrap="square" lIns="0" tIns="0" rIns="0" bIns="0" rtlCol="0" anchor="ctr"/>
          <a:lstStyle/>
          <a:p>
            <a:pPr marL="0" indent="0">
              <a:buNone/>
            </a:pPr>
            <a:r>
              <a:rPr lang="en-US" sz="2200" b="1" dirty="0">
                <a:solidFill>
                  <a:srgbClr val="3FE0E0"/>
                </a:solidFill>
                <a:latin typeface="Calibri" pitchFamily="34" charset="0"/>
                <a:ea typeface="Calibri" pitchFamily="34" charset="-122"/>
                <a:cs typeface="Calibri" pitchFamily="34" charset="-120"/>
              </a:rPr>
              <a:t>#3</a:t>
            </a:r>
            <a:endParaRPr lang="en-US" sz="2200" dirty="0"/>
          </a:p>
        </p:txBody>
      </p:sp>
      <p:sp>
        <p:nvSpPr>
          <p:cNvPr id="23" name="Text 21"/>
          <p:cNvSpPr/>
          <p:nvPr/>
        </p:nvSpPr>
        <p:spPr>
          <a:xfrm>
            <a:off x="1280160" y="3840480"/>
            <a:ext cx="4572000" cy="274320"/>
          </a:xfrm>
          <a:prstGeom prst="rect">
            <a:avLst/>
          </a:prstGeom>
          <a:noFill/>
          <a:ln/>
        </p:spPr>
        <p:txBody>
          <a:bodyPr wrap="square" lIns="0" tIns="0" rIns="0" bIns="0" rtlCol="0" anchor="ctr"/>
          <a:lstStyle/>
          <a:p>
            <a:pPr marL="0" indent="0">
              <a:buNone/>
            </a:pPr>
            <a:r>
              <a:rPr lang="en-US" sz="1200" b="1" i="1" dirty="0">
                <a:solidFill>
                  <a:srgbClr val="FFFFFF"/>
                </a:solidFill>
                <a:latin typeface="Calibri" pitchFamily="34" charset="0"/>
                <a:ea typeface="Calibri" pitchFamily="34" charset="-122"/>
                <a:cs typeface="Calibri" pitchFamily="34" charset="-120"/>
              </a:rPr>
              <a:t>Region + ISP to be inserted</a:t>
            </a:r>
            <a:endParaRPr lang="en-US" sz="1200" dirty="0"/>
          </a:p>
        </p:txBody>
      </p:sp>
      <p:sp>
        <p:nvSpPr>
          <p:cNvPr id="24" name="Text 22"/>
          <p:cNvSpPr/>
          <p:nvPr/>
        </p:nvSpPr>
        <p:spPr>
          <a:xfrm>
            <a:off x="1280160" y="4114800"/>
            <a:ext cx="4572000" cy="274320"/>
          </a:xfrm>
          <a:prstGeom prst="rect">
            <a:avLst/>
          </a:prstGeom>
          <a:noFill/>
          <a:ln/>
        </p:spPr>
        <p:txBody>
          <a:bodyPr wrap="square" lIns="0" tIns="0" rIns="0" bIns="0" rtlCol="0" anchor="ctr"/>
          <a:lstStyle/>
          <a:p>
            <a:pPr marL="0" indent="0">
              <a:buNone/>
            </a:pPr>
            <a:r>
              <a:rPr lang="en-US" sz="1100" dirty="0">
                <a:solidFill>
                  <a:srgbClr val="B7D7DC"/>
                </a:solidFill>
                <a:latin typeface="Calibri" pitchFamily="34" charset="0"/>
                <a:ea typeface="Calibri" pitchFamily="34" charset="-122"/>
                <a:cs typeface="Calibri" pitchFamily="34" charset="-120"/>
              </a:rPr>
              <a:t>X buffering events / session · Y× global average</a:t>
            </a:r>
            <a:endParaRPr lang="en-US" sz="1100" dirty="0"/>
          </a:p>
        </p:txBody>
      </p:sp>
      <p:sp>
        <p:nvSpPr>
          <p:cNvPr id="25" name="Shape 23"/>
          <p:cNvSpPr/>
          <p:nvPr/>
        </p:nvSpPr>
        <p:spPr>
          <a:xfrm>
            <a:off x="6126480" y="1828800"/>
            <a:ext cx="5577840" cy="3108960"/>
          </a:xfrm>
          <a:prstGeom prst="rect">
            <a:avLst/>
          </a:prstGeom>
          <a:solidFill>
            <a:srgbClr val="0A4250"/>
          </a:solidFill>
          <a:ln w="12700">
            <a:solidFill>
              <a:srgbClr val="1E5A6B"/>
            </a:solidFill>
            <a:prstDash val="solid"/>
          </a:ln>
        </p:spPr>
        <p:txBody>
          <a:bodyPr/>
          <a:lstStyle/>
          <a:p>
            <a:endParaRPr lang="en-US"/>
          </a:p>
        </p:txBody>
      </p:sp>
      <p:sp>
        <p:nvSpPr>
          <p:cNvPr id="26" name="Text 24"/>
          <p:cNvSpPr/>
          <p:nvPr/>
        </p:nvSpPr>
        <p:spPr>
          <a:xfrm>
            <a:off x="6309360" y="1965960"/>
            <a:ext cx="5212080" cy="274320"/>
          </a:xfrm>
          <a:prstGeom prst="rect">
            <a:avLst/>
          </a:prstGeom>
          <a:noFill/>
          <a:ln/>
        </p:spPr>
        <p:txBody>
          <a:bodyPr wrap="square" lIns="0" tIns="0" rIns="0" bIns="0" rtlCol="0" anchor="ctr"/>
          <a:lstStyle/>
          <a:p>
            <a:pPr marL="0" indent="0">
              <a:buNone/>
            </a:pPr>
            <a:r>
              <a:rPr lang="en-US" sz="1000" kern="0" spc="300" dirty="0">
                <a:solidFill>
                  <a:srgbClr val="3FE0E0"/>
                </a:solidFill>
                <a:latin typeface="Calibri" pitchFamily="34" charset="0"/>
                <a:ea typeface="Calibri" pitchFamily="34" charset="-122"/>
                <a:cs typeface="Calibri" pitchFamily="34" charset="-120"/>
              </a:rPr>
              <a:t>BUFFERING ↔ COMPLETION</a:t>
            </a:r>
            <a:endParaRPr lang="en-US" sz="1000" dirty="0"/>
          </a:p>
        </p:txBody>
      </p:sp>
      <p:sp>
        <p:nvSpPr>
          <p:cNvPr id="27" name="Text 25"/>
          <p:cNvSpPr/>
          <p:nvPr/>
        </p:nvSpPr>
        <p:spPr>
          <a:xfrm>
            <a:off x="6309360" y="2331720"/>
            <a:ext cx="5212080" cy="3657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Strong negative correlation across all sessions</a:t>
            </a:r>
            <a:endParaRPr lang="en-US" sz="1300" dirty="0"/>
          </a:p>
        </p:txBody>
      </p:sp>
      <p:sp>
        <p:nvSpPr>
          <p:cNvPr id="28" name="Text 26"/>
          <p:cNvSpPr/>
          <p:nvPr/>
        </p:nvSpPr>
        <p:spPr>
          <a:xfrm>
            <a:off x="6309360" y="2834640"/>
            <a:ext cx="5212080" cy="822960"/>
          </a:xfrm>
          <a:prstGeom prst="rect">
            <a:avLst/>
          </a:prstGeom>
          <a:noFill/>
          <a:ln/>
        </p:spPr>
        <p:txBody>
          <a:bodyPr wrap="square" lIns="0" tIns="0" rIns="0" bIns="0" rtlCol="0" anchor="ctr"/>
          <a:lstStyle/>
          <a:p>
            <a:pPr marL="0" indent="0" algn="ctr">
              <a:buNone/>
            </a:pPr>
            <a:r>
              <a:rPr lang="en-US" sz="3200" b="1" dirty="0">
                <a:solidFill>
                  <a:srgbClr val="3FE0E0"/>
                </a:solidFill>
                <a:latin typeface="Calibri" pitchFamily="34" charset="0"/>
                <a:ea typeface="Calibri" pitchFamily="34" charset="-122"/>
                <a:cs typeface="Calibri" pitchFamily="34" charset="-120"/>
              </a:rPr>
              <a:t>[ correlation coefficient ]</a:t>
            </a:r>
            <a:endParaRPr lang="en-US" sz="3200" dirty="0"/>
          </a:p>
        </p:txBody>
      </p:sp>
      <p:sp>
        <p:nvSpPr>
          <p:cNvPr id="29" name="Text 27"/>
          <p:cNvSpPr/>
          <p:nvPr/>
        </p:nvSpPr>
        <p:spPr>
          <a:xfrm>
            <a:off x="6309360" y="3794760"/>
            <a:ext cx="5212080" cy="1051560"/>
          </a:xfrm>
          <a:prstGeom prst="rect">
            <a:avLst/>
          </a:prstGeom>
          <a:noFill/>
          <a:ln/>
        </p:spPr>
        <p:txBody>
          <a:bodyPr wrap="square" lIns="0" tIns="0" rIns="0" bIns="0" rtlCol="0" anchor="ctr"/>
          <a:lstStyle/>
          <a:p>
            <a:pPr marL="0" indent="0">
              <a:buNone/>
            </a:pPr>
            <a:r>
              <a:rPr lang="en-US" sz="1200" i="1" dirty="0">
                <a:solidFill>
                  <a:srgbClr val="B7D7DC"/>
                </a:solidFill>
                <a:latin typeface="Calibri" pitchFamily="34" charset="0"/>
                <a:ea typeface="Calibri" pitchFamily="34" charset="-122"/>
                <a:cs typeface="Calibri" pitchFamily="34" charset="-120"/>
              </a:rPr>
              <a:t>Bad streaming quality measurably reduces completion. Quality issues are a direct technical lever for retention.</a:t>
            </a:r>
            <a:endParaRPr lang="en-US" sz="1200" dirty="0"/>
          </a:p>
        </p:txBody>
      </p:sp>
      <p:sp>
        <p:nvSpPr>
          <p:cNvPr id="30" name="Shape 28"/>
          <p:cNvSpPr/>
          <p:nvPr/>
        </p:nvSpPr>
        <p:spPr>
          <a:xfrm>
            <a:off x="457200" y="5166360"/>
            <a:ext cx="11247120" cy="914400"/>
          </a:xfrm>
          <a:prstGeom prst="rect">
            <a:avLst/>
          </a:prstGeom>
          <a:solidFill>
            <a:srgbClr val="001D24"/>
          </a:solidFill>
          <a:ln w="25400">
            <a:solidFill>
              <a:srgbClr val="3FE0E0"/>
            </a:solidFill>
            <a:prstDash val="solid"/>
          </a:ln>
        </p:spPr>
        <p:txBody>
          <a:bodyPr/>
          <a:lstStyle/>
          <a:p>
            <a:endParaRPr lang="en-US"/>
          </a:p>
        </p:txBody>
      </p:sp>
      <p:sp>
        <p:nvSpPr>
          <p:cNvPr id="31" name="Text 29"/>
          <p:cNvSpPr/>
          <p:nvPr/>
        </p:nvSpPr>
        <p:spPr>
          <a:xfrm>
            <a:off x="640080" y="5166360"/>
            <a:ext cx="10972800" cy="9144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RECOMMENDATION · Negotiate dedicated peering or upgrade CDN capacity for the top three problem region/ISP combinations. A 20% buffering reduction would lift completion by an estimated X percentage points among affected users — directly extending watch time and reducing churn risk.</a:t>
            </a:r>
            <a:endParaRPr lang="en-US" sz="1200" dirty="0"/>
          </a:p>
        </p:txBody>
      </p:sp>
      <p:sp>
        <p:nvSpPr>
          <p:cNvPr id="32" name="Text 30"/>
          <p:cNvSpPr/>
          <p:nvPr/>
        </p:nvSpPr>
        <p:spPr>
          <a:xfrm>
            <a:off x="11338560" y="6446520"/>
            <a:ext cx="640080" cy="274320"/>
          </a:xfrm>
          <a:prstGeom prst="rect">
            <a:avLst/>
          </a:prstGeom>
          <a:noFill/>
          <a:ln/>
        </p:spPr>
        <p:txBody>
          <a:bodyPr wrap="square" lIns="0" tIns="0" rIns="0" bIns="0" rtlCol="0" anchor="ctr"/>
          <a:lstStyle/>
          <a:p>
            <a:pPr marL="0" indent="0" algn="r">
              <a:buNone/>
            </a:pPr>
            <a:r>
              <a:rPr lang="en-US" sz="900" dirty="0">
                <a:solidFill>
                  <a:srgbClr val="7FA8AE"/>
                </a:solidFill>
                <a:latin typeface="Calibri" pitchFamily="34" charset="0"/>
                <a:ea typeface="Calibri" pitchFamily="34" charset="-122"/>
                <a:cs typeface="Calibri" pitchFamily="34" charset="-120"/>
              </a:rPr>
              <a:t>16 / 22</a:t>
            </a:r>
            <a:endParaRPr lang="en-US" sz="900" dirty="0"/>
          </a:p>
        </p:txBody>
      </p:sp>
      <p:sp>
        <p:nvSpPr>
          <p:cNvPr id="33" name="Text 31"/>
          <p:cNvSpPr/>
          <p:nvPr/>
        </p:nvSpPr>
        <p:spPr>
          <a:xfrm>
            <a:off x="365760" y="6446520"/>
            <a:ext cx="7315200" cy="274320"/>
          </a:xfrm>
          <a:prstGeom prst="rect">
            <a:avLst/>
          </a:prstGeom>
          <a:noFill/>
          <a:ln/>
        </p:spPr>
        <p:txBody>
          <a:bodyPr wrap="square" lIns="0" tIns="0" rIns="0" bIns="0" rtlCol="0" anchor="ctr"/>
          <a:lstStyle/>
          <a:p>
            <a:pPr marL="0" indent="0" algn="l">
              <a:buNone/>
            </a:pPr>
            <a:r>
              <a:rPr lang="en-US" sz="900" kern="0" spc="20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731520" y="2377440"/>
            <a:ext cx="1828800" cy="1645920"/>
          </a:xfrm>
          <a:prstGeom prst="rect">
            <a:avLst/>
          </a:prstGeom>
          <a:noFill/>
          <a:ln/>
        </p:spPr>
        <p:txBody>
          <a:bodyPr wrap="square" lIns="0" tIns="0" rIns="0" bIns="0" rtlCol="0" anchor="ctr"/>
          <a:lstStyle/>
          <a:p>
            <a:pPr marL="0" indent="0" algn="l">
              <a:buNone/>
            </a:pPr>
            <a:r>
              <a:rPr lang="en-US" sz="10000" b="1" dirty="0">
                <a:solidFill>
                  <a:srgbClr val="FFFFFF"/>
                </a:solidFill>
                <a:latin typeface="Calibri" pitchFamily="34" charset="0"/>
                <a:ea typeface="Calibri" pitchFamily="34" charset="-122"/>
                <a:cs typeface="Calibri" pitchFamily="34" charset="-120"/>
              </a:rPr>
              <a:t>05</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txBody>
          <a:bodyPr/>
          <a:lstStyle/>
          <a:p>
            <a:endParaRPr lang="en-US"/>
          </a:p>
        </p:txBody>
      </p:sp>
      <p:sp>
        <p:nvSpPr>
          <p:cNvPr id="11" name="Text 9"/>
          <p:cNvSpPr/>
          <p:nvPr/>
        </p:nvSpPr>
        <p:spPr>
          <a:xfrm>
            <a:off x="2926080" y="2468880"/>
            <a:ext cx="7772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Recommended Actions</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marL="0" indent="0">
              <a:buNone/>
            </a:pPr>
            <a:r>
              <a:rPr lang="en-US" sz="1600" i="1" kern="0" spc="200" dirty="0">
                <a:solidFill>
                  <a:srgbClr val="3FE0E0"/>
                </a:solidFill>
                <a:latin typeface="Calibri" pitchFamily="34" charset="0"/>
                <a:ea typeface="Calibri" pitchFamily="34" charset="-122"/>
                <a:cs typeface="Calibri" pitchFamily="34" charset="-120"/>
              </a:rPr>
              <a:t>PRIORITIZED ROADMAP WITH TIME-TO-IMPLEMENT</a:t>
            </a:r>
            <a:endParaRPr lang="en-US" sz="1600" dirty="0"/>
          </a:p>
        </p:txBody>
      </p:sp>
    </p:spTree>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Four actions, prioritized by impact-to-effort ratio</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All actions are implementable from analytics tables our pipeline produces today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9" name="Table 0"/>
          <p:cNvGraphicFramePr>
            <a:graphicFrameLocks noGrp="1"/>
          </p:cNvGraphicFramePr>
          <p:nvPr/>
        </p:nvGraphicFramePr>
        <p:xfrm>
          <a:off x="457200" y="1828800"/>
          <a:ext cx="11247120" cy="3291840"/>
        </p:xfrm>
        <a:graphic>
          <a:graphicData uri="http://schemas.openxmlformats.org/drawingml/2006/table">
            <a:tbl>
              <a:tblPr/>
              <a:tblGrid>
                <a:gridCol w="8229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658368">
                <a:tc>
                  <a:txBody>
                    <a:bodyPr/>
                    <a:lstStyle/>
                    <a:p>
                      <a:pPr marL="0" indent="0" algn="ctr">
                        <a:buNone/>
                      </a:pP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Expected Impact</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0"/>
                  </a:ext>
                </a:extLst>
              </a:tr>
              <a:tr h="658368">
                <a:tc>
                  <a:txBody>
                    <a:bodyPr/>
                    <a:lstStyle/>
                    <a:p>
                      <a:pPr marL="0" indent="0" algn="ctr">
                        <a:buNone/>
                      </a:pPr>
                      <a:r>
                        <a:rPr lang="en-US" sz="1800" b="1" dirty="0">
                          <a:solidFill>
                            <a:srgbClr val="3FE0E0"/>
                          </a:solidFill>
                          <a:latin typeface="Calibri" pitchFamily="34" charset="0"/>
                          <a:ea typeface="Calibri" pitchFamily="34" charset="-122"/>
                          <a:cs typeface="Calibri" pitchFamily="34" charset="-120"/>
                        </a:rPr>
                        <a:t>01</a:t>
                      </a:r>
                      <a:endParaRPr lang="en-US" sz="18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Drop bottom-decile titles by cost_per_viewing_hour</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Insight 01</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$1.5–3.1B annual license savings</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Next license cycle</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extLst>
                  <a:ext uri="{0D108BD9-81ED-4DB2-BD59-A6C34878D82A}">
                    <a16:rowId xmlns:a16="http://schemas.microsoft.com/office/drawing/2014/main" val="10001"/>
                  </a:ext>
                </a:extLst>
              </a:tr>
              <a:tr h="658368">
                <a:tc>
                  <a:txBody>
                    <a:bodyPr/>
                    <a:lstStyle/>
                    <a:p>
                      <a:pPr marL="0" indent="0" algn="ctr">
                        <a:buNone/>
                      </a:pPr>
                      <a:r>
                        <a:rPr lang="en-US" sz="1800" b="1" dirty="0">
                          <a:solidFill>
                            <a:srgbClr val="3FE0E0"/>
                          </a:solidFill>
                          <a:latin typeface="Calibri" pitchFamily="34" charset="0"/>
                          <a:ea typeface="Calibri" pitchFamily="34" charset="-122"/>
                          <a:cs typeface="Calibri" pitchFamily="34" charset="-120"/>
                        </a:rPr>
                        <a:t>02</a:t>
                      </a:r>
                      <a:endParaRPr lang="en-US" sz="18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Build churn early-warning on monthly_hours_watched</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Insight 03</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Target ~10% of 19.6K churners</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Q3 implementation</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2"/>
                  </a:ext>
                </a:extLst>
              </a:tr>
              <a:tr h="658368">
                <a:tc>
                  <a:txBody>
                    <a:bodyPr/>
                    <a:lstStyle/>
                    <a:p>
                      <a:pPr marL="0" indent="0" algn="ctr">
                        <a:buNone/>
                      </a:pPr>
                      <a:r>
                        <a:rPr lang="en-US" sz="1800" b="1" dirty="0">
                          <a:solidFill>
                            <a:srgbClr val="3FE0E0"/>
                          </a:solidFill>
                          <a:latin typeface="Calibri" pitchFamily="34" charset="0"/>
                          <a:ea typeface="Calibri" pitchFamily="34" charset="-122"/>
                          <a:cs typeface="Calibri" pitchFamily="34" charset="-120"/>
                        </a:rPr>
                        <a:t>03</a:t>
                      </a:r>
                      <a:endParaRPr lang="en-US" sz="18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Redirect personalization from tier to title-level signals</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Insight 02</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Lift completion via 48 pp title variance</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Q3–Q4 A/B test</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extLst>
                  <a:ext uri="{0D108BD9-81ED-4DB2-BD59-A6C34878D82A}">
                    <a16:rowId xmlns:a16="http://schemas.microsoft.com/office/drawing/2014/main" val="10003"/>
                  </a:ext>
                </a:extLst>
              </a:tr>
              <a:tr h="658368">
                <a:tc>
                  <a:txBody>
                    <a:bodyPr/>
                    <a:lstStyle/>
                    <a:p>
                      <a:pPr marL="0" indent="0" algn="ctr">
                        <a:buNone/>
                      </a:pPr>
                      <a:r>
                        <a:rPr lang="en-US" sz="1800" b="1" dirty="0">
                          <a:solidFill>
                            <a:srgbClr val="3FE0E0"/>
                          </a:solidFill>
                          <a:latin typeface="Calibri" pitchFamily="34" charset="0"/>
                          <a:ea typeface="Calibri" pitchFamily="34" charset="-122"/>
                          <a:cs typeface="Calibri" pitchFamily="34" charset="-120"/>
                        </a:rPr>
                        <a:t>04</a:t>
                      </a:r>
                      <a:endParaRPr lang="en-US" sz="18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Reallocate CDN budget away from selective region/ISP investment</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Insight 04</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Free budget for higher-impact levers</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Immediate review</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4"/>
                  </a:ext>
                </a:extLst>
              </a:tr>
            </a:tbl>
          </a:graphicData>
        </a:graphic>
      </p:graphicFrame>
      <p:sp>
        <p:nvSpPr>
          <p:cNvPr id="13" name="Shape 10"/>
          <p:cNvSpPr/>
          <p:nvPr/>
        </p:nvSpPr>
        <p:spPr>
          <a:xfrm>
            <a:off x="457200" y="5532120"/>
            <a:ext cx="11247120" cy="548640"/>
          </a:xfrm>
          <a:prstGeom prst="rect">
            <a:avLst/>
          </a:prstGeom>
          <a:solidFill>
            <a:srgbClr val="001D24"/>
          </a:solid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p:nvPr/>
        </p:nvSpPr>
        <p:spPr>
          <a:xfrm>
            <a:off x="640080" y="5532120"/>
            <a:ext cx="109728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All four actions are implementable from analytics tables our pipeline produces today. No additional data sources required.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18 / 22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show="0">
  <p:cSld name="Slide 18">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Four actions, prioritized by impact-to-effort ratio</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i="1" kern="0" spc="100" dirty="0">
                <a:solidFill>
                  <a:srgbClr val="3FE0E0"/>
                </a:solidFill>
                <a:latin typeface="Calibri" pitchFamily="34" charset="0"/>
                <a:ea typeface="Calibri" pitchFamily="34" charset="-122"/>
                <a:cs typeface="Calibri" pitchFamily="34" charset="-120"/>
              </a:rPr>
              <a:t>All actions are implementable from analytics tables our pipeline produces today</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endParaRPr lang="en-US"/>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47120" cy="3291840"/>
        </p:xfrm>
        <a:graphic>
          <a:graphicData uri="http://schemas.openxmlformats.org/drawingml/2006/table">
            <a:tbl>
              <a:tblPr/>
              <a:tblGrid>
                <a:gridCol w="8229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gridCol w="1920240">
                  <a:extLst>
                    <a:ext uri="{9D8B030D-6E8A-4147-A177-3AD203B41FA5}">
                      <a16:colId xmlns:a16="http://schemas.microsoft.com/office/drawing/2014/main" val="20004"/>
                    </a:ext>
                  </a:extLst>
                </a:gridCol>
              </a:tblGrid>
              <a:tr h="658368">
                <a:tc>
                  <a:txBody>
                    <a:bodyPr/>
                    <a:lstStyle/>
                    <a:p>
                      <a:pPr marL="0" indent="0" algn="ctr">
                        <a:buNone/>
                      </a:pP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Expected Impact</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0"/>
                  </a:ext>
                </a:extLst>
              </a:tr>
              <a:tr h="658368">
                <a:tc>
                  <a:txBody>
                    <a:bodyPr/>
                    <a:lstStyle/>
                    <a:p>
                      <a:pPr marL="0" indent="0" algn="ctr">
                        <a:buNone/>
                      </a:pPr>
                      <a:r>
                        <a:rPr lang="en-US" sz="1800" b="1" dirty="0">
                          <a:solidFill>
                            <a:srgbClr val="3FE0E0"/>
                          </a:solidFill>
                          <a:latin typeface="Calibri" pitchFamily="34" charset="0"/>
                          <a:ea typeface="Calibri" pitchFamily="34" charset="-122"/>
                          <a:cs typeface="Calibri" pitchFamily="34" charset="-120"/>
                        </a:rPr>
                        <a:t>01</a:t>
                      </a:r>
                      <a:endParaRPr lang="en-US" sz="18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Drop bottom-decile titles by cost_per_viewing_hour</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Insight 01</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$X annual license savings</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Next license cycle</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extLst>
                  <a:ext uri="{0D108BD9-81ED-4DB2-BD59-A6C34878D82A}">
                    <a16:rowId xmlns:a16="http://schemas.microsoft.com/office/drawing/2014/main" val="10001"/>
                  </a:ext>
                </a:extLst>
              </a:tr>
              <a:tr h="658368">
                <a:tc>
                  <a:txBody>
                    <a:bodyPr/>
                    <a:lstStyle/>
                    <a:p>
                      <a:pPr marL="0" indent="0" algn="ctr">
                        <a:buNone/>
                      </a:pPr>
                      <a:r>
                        <a:rPr lang="en-US" sz="1800" b="1" dirty="0">
                          <a:solidFill>
                            <a:srgbClr val="3FE0E0"/>
                          </a:solidFill>
                          <a:latin typeface="Calibri" pitchFamily="34" charset="0"/>
                          <a:ea typeface="Calibri" pitchFamily="34" charset="-122"/>
                          <a:cs typeface="Calibri" pitchFamily="34" charset="-120"/>
                        </a:rPr>
                        <a:t>02</a:t>
                      </a:r>
                      <a:endParaRPr lang="en-US" sz="18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Build churn early-warning model from 3-signal feature set</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Insight 03</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5% churn reduction → ~$X revenue</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Q3 implementation</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2"/>
                  </a:ext>
                </a:extLst>
              </a:tr>
              <a:tr h="658368">
                <a:tc>
                  <a:txBody>
                    <a:bodyPr/>
                    <a:lstStyle/>
                    <a:p>
                      <a:pPr marL="0" indent="0" algn="ctr">
                        <a:buNone/>
                      </a:pPr>
                      <a:r>
                        <a:rPr lang="en-US" sz="1800" b="1" dirty="0">
                          <a:solidFill>
                            <a:srgbClr val="3FE0E0"/>
                          </a:solidFill>
                          <a:latin typeface="Calibri" pitchFamily="34" charset="0"/>
                          <a:ea typeface="Calibri" pitchFamily="34" charset="-122"/>
                          <a:cs typeface="Calibri" pitchFamily="34" charset="-120"/>
                        </a:rPr>
                        <a:t>03</a:t>
                      </a:r>
                      <a:endParaRPr lang="en-US" sz="18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Negotiate peering/CDN upgrade for top 3 region-ISP combos</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Insight 04</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20% buffering reduction in affected segments</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Q3 negotiation</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extLst>
                  <a:ext uri="{0D108BD9-81ED-4DB2-BD59-A6C34878D82A}">
                    <a16:rowId xmlns:a16="http://schemas.microsoft.com/office/drawing/2014/main" val="10003"/>
                  </a:ext>
                </a:extLst>
              </a:tr>
              <a:tr h="658368">
                <a:tc>
                  <a:txBody>
                    <a:bodyPr/>
                    <a:lstStyle/>
                    <a:p>
                      <a:pPr marL="0" indent="0" algn="ctr">
                        <a:buNone/>
                      </a:pPr>
                      <a:r>
                        <a:rPr lang="en-US" sz="1800" b="1" dirty="0">
                          <a:solidFill>
                            <a:srgbClr val="3FE0E0"/>
                          </a:solidFill>
                          <a:latin typeface="Calibri" pitchFamily="34" charset="0"/>
                          <a:ea typeface="Calibri" pitchFamily="34" charset="-122"/>
                          <a:cs typeface="Calibri" pitchFamily="34" charset="-120"/>
                        </a:rPr>
                        <a:t>04</a:t>
                      </a:r>
                      <a:endParaRPr lang="en-US" sz="18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Tier-aware recommendation tuning to lift Basic completion</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Insight 02</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Increased Basic→Standard upgrade conversions</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l">
                        <a:buNone/>
                      </a:pPr>
                      <a:r>
                        <a:rPr lang="en-US" sz="1200" dirty="0">
                          <a:solidFill>
                            <a:srgbClr val="B7D7DC"/>
                          </a:solidFill>
                          <a:latin typeface="Calibri" pitchFamily="34" charset="0"/>
                          <a:ea typeface="Calibri" pitchFamily="34" charset="-122"/>
                          <a:cs typeface="Calibri" pitchFamily="34" charset="-120"/>
                        </a:rPr>
                        <a:t>Q4 A/B test</a:t>
                      </a:r>
                      <a:endParaRPr lang="en-US" sz="12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4"/>
                  </a:ext>
                </a:extLst>
              </a:tr>
            </a:tbl>
          </a:graphicData>
        </a:graphic>
      </p:graphicFrame>
      <p:sp>
        <p:nvSpPr>
          <p:cNvPr id="13" name="Shape 10"/>
          <p:cNvSpPr/>
          <p:nvPr/>
        </p:nvSpPr>
        <p:spPr>
          <a:xfrm>
            <a:off x="457200" y="5532120"/>
            <a:ext cx="11247120" cy="548640"/>
          </a:xfrm>
          <a:prstGeom prst="rect">
            <a:avLst/>
          </a:prstGeom>
          <a:solidFill>
            <a:srgbClr val="001D24"/>
          </a:solidFill>
          <a:ln w="25400">
            <a:solidFill>
              <a:srgbClr val="3FE0E0"/>
            </a:solidFill>
            <a:prstDash val="solid"/>
          </a:ln>
        </p:spPr>
        <p:txBody>
          <a:bodyPr/>
          <a:lstStyle/>
          <a:p>
            <a:endParaRPr lang="en-US"/>
          </a:p>
        </p:txBody>
      </p:sp>
      <p:sp>
        <p:nvSpPr>
          <p:cNvPr id="14" name="Text 11"/>
          <p:cNvSpPr/>
          <p:nvPr/>
        </p:nvSpPr>
        <p:spPr>
          <a:xfrm>
            <a:off x="640080" y="5532120"/>
            <a:ext cx="10972800" cy="548640"/>
          </a:xfrm>
          <a:prstGeom prst="rect">
            <a:avLst/>
          </a:prstGeom>
          <a:noFill/>
          <a:ln/>
        </p:spPr>
        <p:txBody>
          <a:bodyPr wrap="square" lIns="0" tIns="0" rIns="0" bIns="0"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All four actions are implementable from analytics tables our pipeline produces today. No additional data sources required.</a:t>
            </a:r>
            <a:endParaRPr lang="en-US" sz="1200" dirty="0"/>
          </a:p>
        </p:txBody>
      </p:sp>
      <p:sp>
        <p:nvSpPr>
          <p:cNvPr id="15" name="Text 12"/>
          <p:cNvSpPr/>
          <p:nvPr/>
        </p:nvSpPr>
        <p:spPr>
          <a:xfrm>
            <a:off x="11338560" y="6446520"/>
            <a:ext cx="640080" cy="274320"/>
          </a:xfrm>
          <a:prstGeom prst="rect">
            <a:avLst/>
          </a:prstGeom>
          <a:noFill/>
          <a:ln/>
        </p:spPr>
        <p:txBody>
          <a:bodyPr wrap="square" lIns="0" tIns="0" rIns="0" bIns="0" rtlCol="0" anchor="ctr"/>
          <a:lstStyle/>
          <a:p>
            <a:pPr marL="0" indent="0" algn="r">
              <a:buNone/>
            </a:pPr>
            <a:r>
              <a:rPr lang="en-US" sz="900" dirty="0">
                <a:solidFill>
                  <a:srgbClr val="7FA8AE"/>
                </a:solidFill>
                <a:latin typeface="Calibri" pitchFamily="34" charset="0"/>
                <a:ea typeface="Calibri" pitchFamily="34" charset="-122"/>
                <a:cs typeface="Calibri" pitchFamily="34" charset="-120"/>
              </a:rPr>
              <a:t>18 / 22</a:t>
            </a:r>
            <a:endParaRPr lang="en-US" sz="900" dirty="0"/>
          </a:p>
        </p:txBody>
      </p:sp>
      <p:sp>
        <p:nvSpPr>
          <p:cNvPr id="16" name="Text 13"/>
          <p:cNvSpPr/>
          <p:nvPr/>
        </p:nvSpPr>
        <p:spPr>
          <a:xfrm>
            <a:off x="365760" y="6446520"/>
            <a:ext cx="7315200" cy="274320"/>
          </a:xfrm>
          <a:prstGeom prst="rect">
            <a:avLst/>
          </a:prstGeom>
          <a:noFill/>
          <a:ln/>
        </p:spPr>
        <p:txBody>
          <a:bodyPr wrap="square" lIns="0" tIns="0" rIns="0" bIns="0" rtlCol="0" anchor="ctr"/>
          <a:lstStyle/>
          <a:p>
            <a:pPr marL="0" indent="0" algn="l">
              <a:buNone/>
            </a:pPr>
            <a:r>
              <a:rPr lang="en-US" sz="900" kern="0" spc="20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731520" y="2377440"/>
            <a:ext cx="1828800" cy="1645920"/>
          </a:xfrm>
          <a:prstGeom prst="rect">
            <a:avLst/>
          </a:prstGeom>
          <a:noFill/>
          <a:ln/>
        </p:spPr>
        <p:txBody>
          <a:bodyPr wrap="square" lIns="0" tIns="0" rIns="0" bIns="0" rtlCol="0" anchor="ctr"/>
          <a:lstStyle/>
          <a:p>
            <a:pPr marL="0" indent="0" algn="l">
              <a:buNone/>
            </a:pPr>
            <a:r>
              <a:rPr lang="en-US" sz="10000" b="1" dirty="0">
                <a:solidFill>
                  <a:srgbClr val="FFFFFF"/>
                </a:solidFill>
                <a:latin typeface="Calibri" pitchFamily="34" charset="0"/>
                <a:ea typeface="Calibri" pitchFamily="34" charset="-122"/>
                <a:cs typeface="Calibri" pitchFamily="34" charset="-120"/>
              </a:rPr>
              <a:t>06</a:t>
            </a:r>
            <a:endParaRPr lang="en-US" sz="10000" dirty="0"/>
          </a:p>
        </p:txBody>
      </p:sp>
      <p:sp>
        <p:nvSpPr>
          <p:cNvPr id="10" name="Shape 8"/>
          <p:cNvSpPr/>
          <p:nvPr/>
        </p:nvSpPr>
        <p:spPr>
          <a:xfrm>
            <a:off x="2651760" y="2606040"/>
            <a:ext cx="0" cy="1371600"/>
          </a:xfrm>
          <a:prstGeom prst="line">
            <a:avLst/>
          </a:prstGeom>
          <a:noFill/>
          <a:ln w="25400">
            <a:solidFill>
              <a:srgbClr val="3FE0E0"/>
            </a:solidFill>
            <a:prstDash val="solid"/>
          </a:ln>
        </p:spPr>
        <p:txBody>
          <a:bodyPr/>
          <a:lstStyle/>
          <a:p>
            <a:endParaRPr lang="en-US"/>
          </a:p>
        </p:txBody>
      </p:sp>
      <p:sp>
        <p:nvSpPr>
          <p:cNvPr id="11" name="Text 9"/>
          <p:cNvSpPr/>
          <p:nvPr/>
        </p:nvSpPr>
        <p:spPr>
          <a:xfrm>
            <a:off x="2926080" y="2468880"/>
            <a:ext cx="7772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Scaling the Solution</a:t>
            </a:r>
            <a:endParaRPr lang="en-US" sz="4400" dirty="0"/>
          </a:p>
        </p:txBody>
      </p:sp>
      <p:sp>
        <p:nvSpPr>
          <p:cNvPr id="12" name="Text 10"/>
          <p:cNvSpPr/>
          <p:nvPr/>
        </p:nvSpPr>
        <p:spPr>
          <a:xfrm>
            <a:off x="2926080" y="3520440"/>
            <a:ext cx="7772400" cy="457200"/>
          </a:xfrm>
          <a:prstGeom prst="rect">
            <a:avLst/>
          </a:prstGeom>
          <a:noFill/>
          <a:ln/>
        </p:spPr>
        <p:txBody>
          <a:bodyPr wrap="square" lIns="0" tIns="0" rIns="0" bIns="0" rtlCol="0" anchor="ctr"/>
          <a:lstStyle/>
          <a:p>
            <a:pPr marL="0" indent="0">
              <a:buNone/>
            </a:pPr>
            <a:r>
              <a:rPr lang="en-US" sz="1600" i="1" kern="0" spc="200" dirty="0">
                <a:solidFill>
                  <a:srgbClr val="3FE0E0"/>
                </a:solidFill>
                <a:latin typeface="Calibri" pitchFamily="34" charset="0"/>
                <a:ea typeface="Calibri" pitchFamily="34" charset="-122"/>
                <a:cs typeface="Calibri" pitchFamily="34" charset="-120"/>
              </a:rPr>
              <a:t>PATH TO 10× AND 100× VOLUME</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0">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Linear scaling path · 10× to 100× requires reconfiguration, not rearchitecture</a:t>
            </a:r>
            <a:endParaRPr lang="en-US" sz="2600" dirty="0"/>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indent="0">
              <a:buNone/>
            </a:pPr>
            <a:r>
              <a:rPr lang="en-US" sz="1400" i="1" kern="0" spc="100" dirty="0">
                <a:solidFill>
                  <a:srgbClr val="3FE0E0"/>
                </a:solidFill>
                <a:latin typeface="Calibri" pitchFamily="34" charset="0"/>
                <a:ea typeface="Calibri" pitchFamily="34" charset="-122"/>
                <a:cs typeface="Calibri" pitchFamily="34" charset="-120"/>
              </a:rPr>
              <a:t>Each layer scales independently; cloud-managed equivalents available across all major providers</a:t>
            </a:r>
            <a:endParaRPr lang="en-US" sz="1400" dirty="0"/>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endParaRPr lang="en-US"/>
          </a:p>
        </p:txBody>
      </p:sp>
      <p:sp>
        <p:nvSpPr>
          <p:cNvPr id="12" name="Shape 10"/>
          <p:cNvSpPr/>
          <p:nvPr/>
        </p:nvSpPr>
        <p:spPr>
          <a:xfrm>
            <a:off x="457200" y="1828800"/>
            <a:ext cx="3703320" cy="2377440"/>
          </a:xfrm>
          <a:prstGeom prst="rect">
            <a:avLst/>
          </a:prstGeom>
          <a:solidFill>
            <a:srgbClr val="0A4250"/>
          </a:solidFill>
          <a:ln w="12700">
            <a:solidFill>
              <a:srgbClr val="1E5A6B"/>
            </a:solidFill>
            <a:prstDash val="solid"/>
          </a:ln>
        </p:spPr>
        <p:txBody>
          <a:bodyPr/>
          <a:lstStyle/>
          <a:p>
            <a:endParaRPr lang="en-US"/>
          </a:p>
        </p:txBody>
      </p:sp>
      <p:sp>
        <p:nvSpPr>
          <p:cNvPr id="13" name="Shape 11"/>
          <p:cNvSpPr/>
          <p:nvPr/>
        </p:nvSpPr>
        <p:spPr>
          <a:xfrm>
            <a:off x="457200" y="1828800"/>
            <a:ext cx="3703320" cy="502920"/>
          </a:xfrm>
          <a:prstGeom prst="rect">
            <a:avLst/>
          </a:prstGeom>
          <a:solidFill>
            <a:srgbClr val="0A4250"/>
          </a:solidFill>
          <a:ln w="12700">
            <a:solidFill>
              <a:srgbClr val="0A4250"/>
            </a:solidFill>
            <a:prstDash val="solid"/>
          </a:ln>
        </p:spPr>
        <p:txBody>
          <a:bodyPr/>
          <a:lstStyle/>
          <a:p>
            <a:endParaRPr lang="en-US"/>
          </a:p>
        </p:txBody>
      </p:sp>
      <p:sp>
        <p:nvSpPr>
          <p:cNvPr id="14" name="Text 12"/>
          <p:cNvSpPr/>
          <p:nvPr/>
        </p:nvSpPr>
        <p:spPr>
          <a:xfrm>
            <a:off x="731520" y="1828800"/>
            <a:ext cx="3200400" cy="502920"/>
          </a:xfrm>
          <a:prstGeom prst="rect">
            <a:avLst/>
          </a:prstGeom>
          <a:noFill/>
          <a:ln/>
        </p:spPr>
        <p:txBody>
          <a:bodyPr wrap="square" lIns="0" tIns="0" rIns="0" bIns="0" rtlCol="0" anchor="ctr"/>
          <a:lstStyle/>
          <a:p>
            <a:pPr marL="0" indent="0">
              <a:buNone/>
            </a:pPr>
            <a:r>
              <a:rPr lang="en-US" sz="1800" b="1" kern="0" spc="200" dirty="0">
                <a:solidFill>
                  <a:srgbClr val="FFFFFF"/>
                </a:solidFill>
                <a:latin typeface="Calibri" pitchFamily="34" charset="0"/>
                <a:ea typeface="Calibri" pitchFamily="34" charset="-122"/>
                <a:cs typeface="Calibri" pitchFamily="34" charset="-120"/>
              </a:rPr>
              <a:t>TODAY</a:t>
            </a:r>
            <a:endParaRPr lang="en-US" sz="1800" dirty="0"/>
          </a:p>
        </p:txBody>
      </p:sp>
      <p:sp>
        <p:nvSpPr>
          <p:cNvPr id="15" name="Text 13"/>
          <p:cNvSpPr/>
          <p:nvPr/>
        </p:nvSpPr>
        <p:spPr>
          <a:xfrm>
            <a:off x="731520" y="2468880"/>
            <a:ext cx="3200400" cy="274320"/>
          </a:xfrm>
          <a:prstGeom prst="rect">
            <a:avLst/>
          </a:prstGeom>
          <a:noFill/>
          <a:ln/>
        </p:spPr>
        <p:txBody>
          <a:bodyPr wrap="square" lIns="0" tIns="0" rIns="0" bIns="0" rtlCol="0" anchor="ctr"/>
          <a:lstStyle/>
          <a:p>
            <a:pPr marL="0" indent="0">
              <a:buNone/>
            </a:pPr>
            <a:r>
              <a:rPr lang="en-US" sz="1000" i="1" kern="0" spc="100" dirty="0">
                <a:solidFill>
                  <a:srgbClr val="3FE0E0"/>
                </a:solidFill>
                <a:latin typeface="Calibri" pitchFamily="34" charset="0"/>
                <a:ea typeface="Calibri" pitchFamily="34" charset="-122"/>
                <a:cs typeface="Calibri" pitchFamily="34" charset="-120"/>
              </a:rPr>
              <a:t>32 MB, 50M rows</a:t>
            </a:r>
            <a:endParaRPr lang="en-US" sz="1000" dirty="0"/>
          </a:p>
        </p:txBody>
      </p:sp>
      <p:sp>
        <p:nvSpPr>
          <p:cNvPr id="16" name="Text 14"/>
          <p:cNvSpPr/>
          <p:nvPr/>
        </p:nvSpPr>
        <p:spPr>
          <a:xfrm>
            <a:off x="731520" y="2788920"/>
            <a:ext cx="3200400" cy="13716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1 Spark worker, 2 GB</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1 Kafka broker</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2 datanodes, RF=2</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Airflow LocalExecutor</a:t>
            </a:r>
            <a:endParaRPr lang="en-US" sz="1100" dirty="0"/>
          </a:p>
        </p:txBody>
      </p:sp>
      <p:sp>
        <p:nvSpPr>
          <p:cNvPr id="17" name="Shape 15"/>
          <p:cNvSpPr/>
          <p:nvPr/>
        </p:nvSpPr>
        <p:spPr>
          <a:xfrm>
            <a:off x="4361688" y="1828800"/>
            <a:ext cx="3703320" cy="2377440"/>
          </a:xfrm>
          <a:prstGeom prst="rect">
            <a:avLst/>
          </a:prstGeom>
          <a:solidFill>
            <a:srgbClr val="0A4250"/>
          </a:solidFill>
          <a:ln w="12700">
            <a:solidFill>
              <a:srgbClr val="1E5A6B"/>
            </a:solidFill>
            <a:prstDash val="solid"/>
          </a:ln>
        </p:spPr>
        <p:txBody>
          <a:bodyPr/>
          <a:lstStyle/>
          <a:p>
            <a:endParaRPr lang="en-US"/>
          </a:p>
        </p:txBody>
      </p:sp>
      <p:sp>
        <p:nvSpPr>
          <p:cNvPr id="18" name="Shape 16"/>
          <p:cNvSpPr/>
          <p:nvPr/>
        </p:nvSpPr>
        <p:spPr>
          <a:xfrm>
            <a:off x="4361688" y="1828800"/>
            <a:ext cx="3703320" cy="502920"/>
          </a:xfrm>
          <a:prstGeom prst="rect">
            <a:avLst/>
          </a:prstGeom>
          <a:solidFill>
            <a:srgbClr val="5BC9C9"/>
          </a:solidFill>
          <a:ln w="12700">
            <a:solidFill>
              <a:srgbClr val="5BC9C9"/>
            </a:solidFill>
            <a:prstDash val="solid"/>
          </a:ln>
        </p:spPr>
        <p:txBody>
          <a:bodyPr/>
          <a:lstStyle/>
          <a:p>
            <a:endParaRPr lang="en-US"/>
          </a:p>
        </p:txBody>
      </p:sp>
      <p:sp>
        <p:nvSpPr>
          <p:cNvPr id="19" name="Text 17"/>
          <p:cNvSpPr/>
          <p:nvPr/>
        </p:nvSpPr>
        <p:spPr>
          <a:xfrm>
            <a:off x="4636008" y="1828800"/>
            <a:ext cx="3200400" cy="502920"/>
          </a:xfrm>
          <a:prstGeom prst="rect">
            <a:avLst/>
          </a:prstGeom>
          <a:noFill/>
          <a:ln/>
        </p:spPr>
        <p:txBody>
          <a:bodyPr wrap="square" lIns="0" tIns="0" rIns="0" bIns="0" rtlCol="0" anchor="ctr"/>
          <a:lstStyle/>
          <a:p>
            <a:pPr marL="0" indent="0">
              <a:buNone/>
            </a:pPr>
            <a:r>
              <a:rPr lang="en-US" sz="1800" b="1" kern="0" spc="200" dirty="0">
                <a:solidFill>
                  <a:srgbClr val="001D24"/>
                </a:solidFill>
                <a:latin typeface="Calibri" pitchFamily="34" charset="0"/>
                <a:ea typeface="Calibri" pitchFamily="34" charset="-122"/>
                <a:cs typeface="Calibri" pitchFamily="34" charset="-120"/>
              </a:rPr>
              <a:t>10×</a:t>
            </a:r>
            <a:endParaRPr lang="en-US" sz="1800" dirty="0"/>
          </a:p>
        </p:txBody>
      </p:sp>
      <p:sp>
        <p:nvSpPr>
          <p:cNvPr id="20" name="Text 18"/>
          <p:cNvSpPr/>
          <p:nvPr/>
        </p:nvSpPr>
        <p:spPr>
          <a:xfrm>
            <a:off x="4636008" y="2468880"/>
            <a:ext cx="3200400" cy="274320"/>
          </a:xfrm>
          <a:prstGeom prst="rect">
            <a:avLst/>
          </a:prstGeom>
          <a:noFill/>
          <a:ln/>
        </p:spPr>
        <p:txBody>
          <a:bodyPr wrap="square" lIns="0" tIns="0" rIns="0" bIns="0" rtlCol="0" anchor="ctr"/>
          <a:lstStyle/>
          <a:p>
            <a:pPr marL="0" indent="0">
              <a:buNone/>
            </a:pPr>
            <a:r>
              <a:rPr lang="en-US" sz="1000" i="1" kern="0" spc="100" dirty="0">
                <a:solidFill>
                  <a:srgbClr val="3FE0E0"/>
                </a:solidFill>
                <a:latin typeface="Calibri" pitchFamily="34" charset="0"/>
                <a:ea typeface="Calibri" pitchFamily="34" charset="-122"/>
                <a:cs typeface="Calibri" pitchFamily="34" charset="-120"/>
              </a:rPr>
              <a:t>320 MB, 500M rows</a:t>
            </a:r>
            <a:endParaRPr lang="en-US" sz="1000" dirty="0"/>
          </a:p>
        </p:txBody>
      </p:sp>
      <p:sp>
        <p:nvSpPr>
          <p:cNvPr id="21" name="Text 19"/>
          <p:cNvSpPr/>
          <p:nvPr/>
        </p:nvSpPr>
        <p:spPr>
          <a:xfrm>
            <a:off x="4636008" y="2788920"/>
            <a:ext cx="3200400" cy="13716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4 workers × 4 GB</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12 partitions, 3 brokers</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shuffle.partitions → 500</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HDFS still healthy</a:t>
            </a:r>
            <a:endParaRPr lang="en-US" sz="1100" dirty="0"/>
          </a:p>
        </p:txBody>
      </p:sp>
      <p:sp>
        <p:nvSpPr>
          <p:cNvPr id="22" name="Shape 20"/>
          <p:cNvSpPr/>
          <p:nvPr/>
        </p:nvSpPr>
        <p:spPr>
          <a:xfrm>
            <a:off x="8266176" y="1828800"/>
            <a:ext cx="3703320" cy="2377440"/>
          </a:xfrm>
          <a:prstGeom prst="rect">
            <a:avLst/>
          </a:prstGeom>
          <a:solidFill>
            <a:srgbClr val="0A4250"/>
          </a:solidFill>
          <a:ln w="12700">
            <a:solidFill>
              <a:srgbClr val="1E5A6B"/>
            </a:solidFill>
            <a:prstDash val="solid"/>
          </a:ln>
        </p:spPr>
        <p:txBody>
          <a:bodyPr/>
          <a:lstStyle/>
          <a:p>
            <a:endParaRPr lang="en-US"/>
          </a:p>
        </p:txBody>
      </p:sp>
      <p:sp>
        <p:nvSpPr>
          <p:cNvPr id="23" name="Shape 21"/>
          <p:cNvSpPr/>
          <p:nvPr/>
        </p:nvSpPr>
        <p:spPr>
          <a:xfrm>
            <a:off x="8266176" y="1828800"/>
            <a:ext cx="3703320" cy="502920"/>
          </a:xfrm>
          <a:prstGeom prst="rect">
            <a:avLst/>
          </a:prstGeom>
          <a:solidFill>
            <a:srgbClr val="3FE0E0"/>
          </a:solidFill>
          <a:ln w="12700">
            <a:solidFill>
              <a:srgbClr val="3FE0E0"/>
            </a:solidFill>
            <a:prstDash val="solid"/>
          </a:ln>
        </p:spPr>
        <p:txBody>
          <a:bodyPr/>
          <a:lstStyle/>
          <a:p>
            <a:endParaRPr lang="en-US"/>
          </a:p>
        </p:txBody>
      </p:sp>
      <p:sp>
        <p:nvSpPr>
          <p:cNvPr id="24" name="Text 22"/>
          <p:cNvSpPr/>
          <p:nvPr/>
        </p:nvSpPr>
        <p:spPr>
          <a:xfrm>
            <a:off x="8540496" y="1828800"/>
            <a:ext cx="3200400" cy="502920"/>
          </a:xfrm>
          <a:prstGeom prst="rect">
            <a:avLst/>
          </a:prstGeom>
          <a:noFill/>
          <a:ln/>
        </p:spPr>
        <p:txBody>
          <a:bodyPr wrap="square" lIns="0" tIns="0" rIns="0" bIns="0" rtlCol="0" anchor="ctr"/>
          <a:lstStyle/>
          <a:p>
            <a:pPr marL="0" indent="0">
              <a:buNone/>
            </a:pPr>
            <a:r>
              <a:rPr lang="en-US" sz="1800" b="1" kern="0" spc="200" dirty="0">
                <a:solidFill>
                  <a:srgbClr val="001D24"/>
                </a:solidFill>
                <a:latin typeface="Calibri" pitchFamily="34" charset="0"/>
                <a:ea typeface="Calibri" pitchFamily="34" charset="-122"/>
                <a:cs typeface="Calibri" pitchFamily="34" charset="-120"/>
              </a:rPr>
              <a:t>100×</a:t>
            </a:r>
            <a:endParaRPr lang="en-US" sz="1800" dirty="0"/>
          </a:p>
        </p:txBody>
      </p:sp>
      <p:sp>
        <p:nvSpPr>
          <p:cNvPr id="25" name="Text 23"/>
          <p:cNvSpPr/>
          <p:nvPr/>
        </p:nvSpPr>
        <p:spPr>
          <a:xfrm>
            <a:off x="8540496" y="2468880"/>
            <a:ext cx="3200400" cy="274320"/>
          </a:xfrm>
          <a:prstGeom prst="rect">
            <a:avLst/>
          </a:prstGeom>
          <a:noFill/>
          <a:ln/>
        </p:spPr>
        <p:txBody>
          <a:bodyPr wrap="square" lIns="0" tIns="0" rIns="0" bIns="0" rtlCol="0" anchor="ctr"/>
          <a:lstStyle/>
          <a:p>
            <a:pPr marL="0" indent="0">
              <a:buNone/>
            </a:pPr>
            <a:r>
              <a:rPr lang="en-US" sz="1000" i="1" kern="0" spc="100" dirty="0">
                <a:solidFill>
                  <a:srgbClr val="3FE0E0"/>
                </a:solidFill>
                <a:latin typeface="Calibri" pitchFamily="34" charset="0"/>
                <a:ea typeface="Calibri" pitchFamily="34" charset="-122"/>
                <a:cs typeface="Calibri" pitchFamily="34" charset="-120"/>
              </a:rPr>
              <a:t>3.2 GB, 5B rows</a:t>
            </a:r>
            <a:endParaRPr lang="en-US" sz="1000" dirty="0"/>
          </a:p>
        </p:txBody>
      </p:sp>
      <p:sp>
        <p:nvSpPr>
          <p:cNvPr id="26" name="Text 24"/>
          <p:cNvSpPr/>
          <p:nvPr/>
        </p:nvSpPr>
        <p:spPr>
          <a:xfrm>
            <a:off x="8540496" y="2788920"/>
            <a:ext cx="3200400" cy="13716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8–16 workers × 16 GB</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16+ partitions, 5+ brokers</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RF=3, 5+ datanodes</a:t>
            </a:r>
            <a:endParaRPr lang="en-US" sz="1100" dirty="0"/>
          </a:p>
          <a:p>
            <a:pPr marL="342900" indent="-342900">
              <a:spcAft>
                <a:spcPts val="400"/>
              </a:spcAft>
              <a:buSzPct val="100000"/>
              <a:buChar char="●"/>
            </a:pPr>
            <a:r>
              <a:rPr lang="en-US" sz="1100" dirty="0">
                <a:solidFill>
                  <a:srgbClr val="B7D7DC"/>
                </a:solidFill>
                <a:latin typeface="Calibri" pitchFamily="34" charset="0"/>
                <a:ea typeface="Calibri" pitchFamily="34" charset="-122"/>
                <a:cs typeface="Calibri" pitchFamily="34" charset="-120"/>
              </a:rPr>
              <a:t>CeleryExecutor + Redis</a:t>
            </a:r>
            <a:endParaRPr lang="en-US" sz="1100" dirty="0"/>
          </a:p>
        </p:txBody>
      </p:sp>
      <p:sp>
        <p:nvSpPr>
          <p:cNvPr id="27" name="Text 25"/>
          <p:cNvSpPr/>
          <p:nvPr/>
        </p:nvSpPr>
        <p:spPr>
          <a:xfrm>
            <a:off x="457200" y="4434840"/>
            <a:ext cx="11247120" cy="274320"/>
          </a:xfrm>
          <a:prstGeom prst="rect">
            <a:avLst/>
          </a:prstGeom>
          <a:noFill/>
          <a:ln/>
        </p:spPr>
        <p:txBody>
          <a:bodyPr wrap="square" lIns="0" tIns="0" rIns="0" bIns="0" rtlCol="0" anchor="ctr"/>
          <a:lstStyle/>
          <a:p>
            <a:pPr marL="0" indent="0">
              <a:buNone/>
            </a:pPr>
            <a:r>
              <a:rPr lang="en-US" sz="1000" kern="0" spc="300" dirty="0">
                <a:solidFill>
                  <a:srgbClr val="3FE0E0"/>
                </a:solidFill>
                <a:latin typeface="Calibri" pitchFamily="34" charset="0"/>
                <a:ea typeface="Calibri" pitchFamily="34" charset="-122"/>
                <a:cs typeface="Calibri" pitchFamily="34" charset="-120"/>
              </a:rPr>
              <a:t>CLOUD-MANAGED EQUIVALENTS</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4754880"/>
          <a:ext cx="11247120" cy="1463040"/>
        </p:xfrm>
        <a:graphic>
          <a:graphicData uri="http://schemas.openxmlformats.org/drawingml/2006/table">
            <a:tbl>
              <a:tblPr/>
              <a:tblGrid>
                <a:gridCol w="27432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292608">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AWS</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GCP</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Azure</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0"/>
                  </a:ext>
                </a:extLst>
              </a:tr>
              <a:tr h="292608">
                <a:tc>
                  <a:txBody>
                    <a:bodyPr/>
                    <a:lstStyle/>
                    <a:p>
                      <a:pPr marL="0" indent="0" algn="l">
                        <a:buNone/>
                      </a:pPr>
                      <a:r>
                        <a:rPr lang="en-US" sz="1100" b="1" dirty="0">
                          <a:solidFill>
                            <a:srgbClr val="3FE0E0"/>
                          </a:solidFill>
                          <a:latin typeface="Calibri" pitchFamily="34" charset="0"/>
                          <a:ea typeface="Calibri" pitchFamily="34" charset="-122"/>
                          <a:cs typeface="Calibri" pitchFamily="34" charset="-120"/>
                        </a:rPr>
                        <a:t>Storage</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S3 + EMRFS</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Cloud Storage</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ADLS Gen2</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extLst>
                  <a:ext uri="{0D108BD9-81ED-4DB2-BD59-A6C34878D82A}">
                    <a16:rowId xmlns:a16="http://schemas.microsoft.com/office/drawing/2014/main" val="10001"/>
                  </a:ext>
                </a:extLst>
              </a:tr>
              <a:tr h="292608">
                <a:tc>
                  <a:txBody>
                    <a:bodyPr/>
                    <a:lstStyle/>
                    <a:p>
                      <a:pPr marL="0" indent="0" algn="l">
                        <a:buNone/>
                      </a:pPr>
                      <a:r>
                        <a:rPr lang="en-US" sz="1100" b="1" dirty="0">
                          <a:solidFill>
                            <a:srgbClr val="3FE0E0"/>
                          </a:solidFill>
                          <a:latin typeface="Calibri" pitchFamily="34" charset="0"/>
                          <a:ea typeface="Calibri" pitchFamily="34" charset="-122"/>
                          <a:cs typeface="Calibri" pitchFamily="34" charset="-120"/>
                        </a:rPr>
                        <a:t>Compute</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EMR / Glue</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Dataproc</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HDInsight / Synapse</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2"/>
                  </a:ext>
                </a:extLst>
              </a:tr>
              <a:tr h="292608">
                <a:tc>
                  <a:txBody>
                    <a:bodyPr/>
                    <a:lstStyle/>
                    <a:p>
                      <a:pPr marL="0" indent="0" algn="l">
                        <a:buNone/>
                      </a:pPr>
                      <a:r>
                        <a:rPr lang="en-US" sz="1100" b="1" dirty="0">
                          <a:solidFill>
                            <a:srgbClr val="3FE0E0"/>
                          </a:solidFill>
                          <a:latin typeface="Calibri" pitchFamily="34" charset="0"/>
                          <a:ea typeface="Calibri" pitchFamily="34" charset="-122"/>
                          <a:cs typeface="Calibri" pitchFamily="34" charset="-120"/>
                        </a:rPr>
                        <a:t>Streaming</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MSK / Kinesis</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Pub/Sub</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Event Hubs</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A4250"/>
                    </a:solidFill>
                  </a:tcPr>
                </a:tc>
                <a:extLst>
                  <a:ext uri="{0D108BD9-81ED-4DB2-BD59-A6C34878D82A}">
                    <a16:rowId xmlns:a16="http://schemas.microsoft.com/office/drawing/2014/main" val="10003"/>
                  </a:ext>
                </a:extLst>
              </a:tr>
              <a:tr h="292608">
                <a:tc>
                  <a:txBody>
                    <a:bodyPr/>
                    <a:lstStyle/>
                    <a:p>
                      <a:pPr marL="0" indent="0" algn="l">
                        <a:buNone/>
                      </a:pPr>
                      <a:r>
                        <a:rPr lang="en-US" sz="1100" b="1" dirty="0">
                          <a:solidFill>
                            <a:srgbClr val="3FE0E0"/>
                          </a:solidFill>
                          <a:latin typeface="Calibri" pitchFamily="34" charset="0"/>
                          <a:ea typeface="Calibri" pitchFamily="34" charset="-122"/>
                          <a:cs typeface="Calibri" pitchFamily="34" charset="-120"/>
                        </a:rPr>
                        <a:t>Orchestration</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MWAA</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Cloud Composer</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tc>
                  <a:txBody>
                    <a:bodyPr/>
                    <a:lstStyle/>
                    <a:p>
                      <a:pPr marL="0" indent="0" algn="ctr">
                        <a:buNone/>
                      </a:pPr>
                      <a:r>
                        <a:rPr lang="en-US" sz="1100" dirty="0">
                          <a:solidFill>
                            <a:srgbClr val="B7D7DC"/>
                          </a:solidFill>
                          <a:latin typeface="Calibri" pitchFamily="34" charset="0"/>
                          <a:ea typeface="Calibri" pitchFamily="34" charset="-122"/>
                          <a:cs typeface="Calibri" pitchFamily="34" charset="-120"/>
                        </a:rPr>
                        <a:t>Data Factory</a:t>
                      </a:r>
                      <a:endParaRPr lang="en-US" sz="1100" dirty="0">
                        <a:latin typeface="Calibri" charset="0"/>
                        <a:ea typeface="Calibri" charset="0"/>
                        <a:cs typeface="Calibri" charset="0"/>
                      </a:endParaRPr>
                    </a:p>
                  </a:txBody>
                  <a:tcPr anchor="ctr">
                    <a:lnL w="6350" cap="flat" cmpd="sng" algn="ctr">
                      <a:solidFill>
                        <a:srgbClr val="1E5A6B"/>
                      </a:solidFill>
                      <a:prstDash val="solid"/>
                      <a:round/>
                      <a:headEnd type="none" w="med" len="med"/>
                      <a:tailEnd type="none" w="med" len="med"/>
                    </a:lnL>
                    <a:lnR w="6350" cap="flat" cmpd="sng" algn="ctr">
                      <a:solidFill>
                        <a:srgbClr val="1E5A6B"/>
                      </a:solidFill>
                      <a:prstDash val="solid"/>
                      <a:round/>
                      <a:headEnd type="none" w="med" len="med"/>
                      <a:tailEnd type="none" w="med" len="med"/>
                    </a:lnR>
                    <a:lnT w="6350" cap="flat" cmpd="sng" algn="ctr">
                      <a:solidFill>
                        <a:srgbClr val="1E5A6B"/>
                      </a:solidFill>
                      <a:prstDash val="solid"/>
                      <a:round/>
                      <a:headEnd type="none" w="med" len="med"/>
                      <a:tailEnd type="none" w="med" len="med"/>
                    </a:lnT>
                    <a:lnB w="6350" cap="flat" cmpd="sng" algn="ctr">
                      <a:solidFill>
                        <a:srgbClr val="1E5A6B"/>
                      </a:solidFill>
                      <a:prstDash val="solid"/>
                      <a:round/>
                      <a:headEnd type="none" w="med" len="med"/>
                      <a:tailEnd type="none" w="med" len="med"/>
                    </a:lnB>
                    <a:solidFill>
                      <a:srgbClr val="001D24"/>
                    </a:solidFill>
                  </a:tcPr>
                </a:tc>
                <a:extLst>
                  <a:ext uri="{0D108BD9-81ED-4DB2-BD59-A6C34878D82A}">
                    <a16:rowId xmlns:a16="http://schemas.microsoft.com/office/drawing/2014/main" val="10004"/>
                  </a:ext>
                </a:extLst>
              </a:tr>
            </a:tbl>
          </a:graphicData>
        </a:graphic>
      </p:graphicFrame>
      <p:sp>
        <p:nvSpPr>
          <p:cNvPr id="29" name="Text 26"/>
          <p:cNvSpPr/>
          <p:nvPr/>
        </p:nvSpPr>
        <p:spPr>
          <a:xfrm>
            <a:off x="457200" y="6263640"/>
            <a:ext cx="11247120" cy="274320"/>
          </a:xfrm>
          <a:prstGeom prst="rect">
            <a:avLst/>
          </a:prstGeom>
          <a:noFill/>
          <a:ln/>
        </p:spPr>
        <p:txBody>
          <a:bodyPr wrap="square" lIns="0" tIns="0" rIns="0" bIns="0" rtlCol="0" anchor="ctr"/>
          <a:lstStyle/>
          <a:p>
            <a:pPr marL="0" indent="0" algn="ctr">
              <a:buNone/>
            </a:pPr>
            <a:r>
              <a:rPr lang="en-US" sz="1100" b="1" dirty="0">
                <a:solidFill>
                  <a:srgbClr val="3FE0E0"/>
                </a:solidFill>
                <a:latin typeface="Calibri" pitchFamily="34" charset="0"/>
                <a:ea typeface="Calibri" pitchFamily="34" charset="-122"/>
                <a:cs typeface="Calibri" pitchFamily="34" charset="-120"/>
              </a:rPr>
              <a:t>Recommended at 100×: AWS-based stack · ~70% lower TCO than self-managed once labor included</a:t>
            </a:r>
            <a:endParaRPr lang="en-US" sz="1100" dirty="0"/>
          </a:p>
        </p:txBody>
      </p:sp>
      <p:sp>
        <p:nvSpPr>
          <p:cNvPr id="30" name="Text 27"/>
          <p:cNvSpPr/>
          <p:nvPr/>
        </p:nvSpPr>
        <p:spPr>
          <a:xfrm>
            <a:off x="11338560" y="6446520"/>
            <a:ext cx="640080" cy="274320"/>
          </a:xfrm>
          <a:prstGeom prst="rect">
            <a:avLst/>
          </a:prstGeom>
          <a:noFill/>
          <a:ln/>
        </p:spPr>
        <p:txBody>
          <a:bodyPr wrap="square" lIns="0" tIns="0" rIns="0" bIns="0" rtlCol="0" anchor="ctr"/>
          <a:lstStyle/>
          <a:p>
            <a:pPr marL="0" indent="0" algn="r">
              <a:buNone/>
            </a:pPr>
            <a:r>
              <a:rPr lang="en-US" sz="900" dirty="0">
                <a:solidFill>
                  <a:srgbClr val="7FA8AE"/>
                </a:solidFill>
                <a:latin typeface="Calibri" pitchFamily="34" charset="0"/>
                <a:ea typeface="Calibri" pitchFamily="34" charset="-122"/>
                <a:cs typeface="Calibri" pitchFamily="34" charset="-120"/>
              </a:rPr>
              <a:t>20 / 22</a:t>
            </a:r>
            <a:endParaRPr lang="en-US" sz="900" dirty="0"/>
          </a:p>
        </p:txBody>
      </p:sp>
      <p:sp>
        <p:nvSpPr>
          <p:cNvPr id="31" name="Text 28"/>
          <p:cNvSpPr/>
          <p:nvPr/>
        </p:nvSpPr>
        <p:spPr>
          <a:xfrm>
            <a:off x="365760" y="6446520"/>
            <a:ext cx="7315200" cy="274320"/>
          </a:xfrm>
          <a:prstGeom prst="rect">
            <a:avLst/>
          </a:prstGeom>
          <a:noFill/>
          <a:ln/>
        </p:spPr>
        <p:txBody>
          <a:bodyPr wrap="square" lIns="0" tIns="0" rIns="0" bIns="0" rtlCol="0" anchor="ctr"/>
          <a:lstStyle/>
          <a:p>
            <a:pPr marL="0" indent="0" algn="l">
              <a:buNone/>
            </a:pPr>
            <a:r>
              <a:rPr lang="en-US" sz="900" kern="0" spc="200" dirty="0">
                <a:solidFill>
                  <a:srgbClr val="7FA8AE"/>
                </a:solidFill>
                <a:latin typeface="Calibri" pitchFamily="34" charset="0"/>
                <a:ea typeface="Calibri" pitchFamily="34" charset="-122"/>
                <a:cs typeface="Calibri" pitchFamily="34" charset="-120"/>
              </a:rPr>
              <a:t>DATA AVENGERS · MEDIAWAVE STREAMING</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457200" y="365760"/>
            <a:ext cx="112471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Lessons learned · what worked, what was hard, what we’d do differently</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457200" y="1005840"/>
            <a:ext cx="112471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100" normalizeH="0" baseline="0" noProof="0" dirty="0">
                <a:ln>
                  <a:noFill/>
                </a:ln>
                <a:solidFill>
                  <a:srgbClr val="3FE0E0"/>
                </a:solidFill>
                <a:effectLst/>
                <a:uLnTx/>
                <a:uFillTx/>
                <a:latin typeface="Calibri" pitchFamily="34" charset="0"/>
                <a:ea typeface="Calibri" pitchFamily="34" charset="-122"/>
                <a:cs typeface="Calibri" pitchFamily="34" charset="-120"/>
              </a:rPr>
              <a:t>Reflections from a four-week build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57200" y="1417320"/>
            <a:ext cx="91440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10"/>
          <p:cNvSpPr/>
          <p:nvPr/>
        </p:nvSpPr>
        <p:spPr>
          <a:xfrm>
            <a:off x="457200" y="1828800"/>
            <a:ext cx="3703320" cy="425196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1"/>
          <p:cNvSpPr/>
          <p:nvPr/>
        </p:nvSpPr>
        <p:spPr>
          <a:xfrm>
            <a:off x="457200" y="1828800"/>
            <a:ext cx="3703320" cy="411480"/>
          </a:xfrm>
          <a:prstGeom prst="rect">
            <a:avLst/>
          </a:prstGeom>
          <a:solidFill>
            <a:srgbClr val="3FE0E0"/>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2"/>
          <p:cNvSpPr/>
          <p:nvPr/>
        </p:nvSpPr>
        <p:spPr>
          <a:xfrm>
            <a:off x="731520" y="1828800"/>
            <a:ext cx="6400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1D24"/>
                </a:solidFill>
                <a:effectLst/>
                <a:uLnTx/>
                <a:uFillTx/>
                <a:latin typeface="Calibri" pitchFamily="34" charset="0"/>
                <a:ea typeface="Calibri" pitchFamily="34" charset="-122"/>
                <a:cs typeface="Calibri" pitchFamily="34" charset="-120"/>
              </a:rPr>
              <a:t>01</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731520" y="2423160"/>
            <a:ext cx="3200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dirty="0">
                <a:ln>
                  <a:noFill/>
                </a:ln>
                <a:solidFill>
                  <a:srgbClr val="FFFFFF"/>
                </a:solidFill>
                <a:effectLst/>
                <a:uLnTx/>
                <a:uFillTx/>
                <a:latin typeface="Calibri" pitchFamily="34" charset="0"/>
                <a:ea typeface="Calibri" pitchFamily="34" charset="-122"/>
                <a:cs typeface="Calibri" pitchFamily="34" charset="-120"/>
              </a:rPr>
              <a:t>WHAT WORKED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731520" y="2971800"/>
            <a:ext cx="731520" cy="0"/>
          </a:xfrm>
          <a:prstGeom prst="line">
            <a:avLst/>
          </a:prstGeom>
          <a:noFill/>
          <a:ln w="254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5"/>
          <p:cNvSpPr/>
          <p:nvPr/>
        </p:nvSpPr>
        <p:spPr>
          <a:xfrm>
            <a:off x="731520" y="3108960"/>
            <a:ext cx="3200400" cy="2194560"/>
          </a:xfrm>
          <a:prstGeom prst="rect">
            <a:avLst/>
          </a:prstGeom>
          <a:noFill/>
          <a:ln/>
        </p:spPr>
        <p:txBody>
          <a:bodyPr wrap="square" lIns="0" tIns="0" rIns="0" bIns="0" rtlCol="0" anchor="ctr"/>
          <a:lstStyle/>
          <a:p>
            <a:pPr marL="171450" marR="0" lvl="0" indent="-171450" algn="l" defTabSz="914400" rtl="0" eaLnBrk="1" fontAlgn="auto" latinLnBrk="0" hangingPunct="1">
              <a:lnSpc>
                <a:spcPct val="130000"/>
              </a:lnSpc>
              <a:spcBef>
                <a:spcPts val="0"/>
              </a:spcBef>
              <a:spcAft>
                <a:spcPts val="600"/>
              </a:spcAft>
              <a:buClr>
                <a:srgbClr val="3FE0E0"/>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Single docker-compose with shared network — eliminated service-discovery friction</a:t>
            </a:r>
          </a:p>
          <a:p>
            <a:pPr marL="171450" marR="0" lvl="0" indent="-171450" algn="l" defTabSz="914400" rtl="0" eaLnBrk="1" fontAlgn="auto" latinLnBrk="0" hangingPunct="1">
              <a:lnSpc>
                <a:spcPct val="130000"/>
              </a:lnSpc>
              <a:spcBef>
                <a:spcPts val="0"/>
              </a:spcBef>
              <a:spcAft>
                <a:spcPts val="600"/>
              </a:spcAft>
              <a:buClr>
                <a:srgbClr val="3FE0E0"/>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Reusable cleaning logic applied across all 5 datasets</a:t>
            </a:r>
          </a:p>
          <a:p>
            <a:pPr marL="171450" marR="0" lvl="0" indent="-171450" algn="l" defTabSz="914400" rtl="0" eaLnBrk="1" fontAlgn="auto" latinLnBrk="0" hangingPunct="1">
              <a:lnSpc>
                <a:spcPct val="130000"/>
              </a:lnSpc>
              <a:spcBef>
                <a:spcPts val="0"/>
              </a:spcBef>
              <a:spcAft>
                <a:spcPts val="0"/>
              </a:spcAft>
              <a:buClr>
                <a:srgbClr val="3FE0E0"/>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Custom cost_per_viewing_hour metric — directly linked technical work to business value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6"/>
          <p:cNvSpPr/>
          <p:nvPr/>
        </p:nvSpPr>
        <p:spPr>
          <a:xfrm>
            <a:off x="731520" y="5440680"/>
            <a:ext cx="3154680" cy="502920"/>
          </a:xfrm>
          <a:prstGeom prst="rect">
            <a:avLst/>
          </a:prstGeom>
          <a:solidFill>
            <a:srgbClr val="001D24"/>
          </a:solidFill>
          <a:ln w="12700">
            <a:solidFill>
              <a:srgbClr val="3FE0E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7"/>
          <p:cNvSpPr/>
          <p:nvPr/>
        </p:nvSpPr>
        <p:spPr>
          <a:xfrm>
            <a:off x="731520" y="5440680"/>
            <a:ext cx="3154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3FE0E0"/>
                </a:solidFill>
                <a:effectLst/>
                <a:uLnTx/>
                <a:uFillTx/>
                <a:latin typeface="Calibri" pitchFamily="34" charset="0"/>
                <a:ea typeface="Calibri" pitchFamily="34" charset="-122"/>
                <a:cs typeface="Calibri" pitchFamily="34" charset="-120"/>
              </a:rPr>
              <a:t>Foundations that made the build go fast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361688" y="1828800"/>
            <a:ext cx="3703320" cy="425196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9"/>
          <p:cNvSpPr/>
          <p:nvPr/>
        </p:nvSpPr>
        <p:spPr>
          <a:xfrm>
            <a:off x="4361688" y="1828800"/>
            <a:ext cx="3703320" cy="411480"/>
          </a:xfrm>
          <a:prstGeom prst="rect">
            <a:avLst/>
          </a:prstGeom>
          <a:solidFill>
            <a:srgbClr val="F0A23E"/>
          </a:solidFill>
          <a:ln w="1270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20"/>
          <p:cNvSpPr/>
          <p:nvPr/>
        </p:nvSpPr>
        <p:spPr>
          <a:xfrm>
            <a:off x="4636008" y="1828800"/>
            <a:ext cx="6400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1D24"/>
                </a:solidFill>
                <a:effectLst/>
                <a:uLnTx/>
                <a:uFillTx/>
                <a:latin typeface="Calibri" pitchFamily="34" charset="0"/>
                <a:ea typeface="Calibri" pitchFamily="34" charset="-122"/>
                <a:cs typeface="Calibri" pitchFamily="34" charset="-120"/>
              </a:rPr>
              <a:t>02</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4636008" y="2423160"/>
            <a:ext cx="3200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dirty="0">
                <a:ln>
                  <a:noFill/>
                </a:ln>
                <a:solidFill>
                  <a:srgbClr val="FFFFFF"/>
                </a:solidFill>
                <a:effectLst/>
                <a:uLnTx/>
                <a:uFillTx/>
                <a:latin typeface="Calibri" pitchFamily="34" charset="0"/>
                <a:ea typeface="Calibri" pitchFamily="34" charset="-122"/>
                <a:cs typeface="Calibri" pitchFamily="34" charset="-120"/>
              </a:rPr>
              <a:t>WHAT WAS HARD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22"/>
          <p:cNvSpPr/>
          <p:nvPr/>
        </p:nvSpPr>
        <p:spPr>
          <a:xfrm>
            <a:off x="4636008" y="2971800"/>
            <a:ext cx="731520" cy="0"/>
          </a:xfrm>
          <a:prstGeom prst="line">
            <a:avLst/>
          </a:prstGeom>
          <a:noFill/>
          <a:ln w="2540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3"/>
          <p:cNvSpPr/>
          <p:nvPr/>
        </p:nvSpPr>
        <p:spPr>
          <a:xfrm>
            <a:off x="4636008" y="3108960"/>
            <a:ext cx="3200400" cy="2194560"/>
          </a:xfrm>
          <a:prstGeom prst="rect">
            <a:avLst/>
          </a:prstGeom>
          <a:noFill/>
          <a:ln/>
        </p:spPr>
        <p:txBody>
          <a:bodyPr wrap="square" lIns="0" tIns="0" rIns="0" bIns="0" rtlCol="0" anchor="ctr"/>
          <a:lstStyle/>
          <a:p>
            <a:pPr marL="171450" marR="0" lvl="0" indent="-171450" algn="l" defTabSz="914400" rtl="0" eaLnBrk="1" fontAlgn="auto" latinLnBrk="0" hangingPunct="1">
              <a:lnSpc>
                <a:spcPct val="130000"/>
              </a:lnSpc>
              <a:spcBef>
                <a:spcPts val="0"/>
              </a:spcBef>
              <a:spcAft>
                <a:spcPts val="600"/>
              </a:spcAft>
              <a:buClr>
                <a:srgbClr val="F0A23E"/>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Schema misalignment between batch and streaming layers — resolved by standardizing on raw Stage 1 fields</a:t>
            </a:r>
          </a:p>
          <a:p>
            <a:pPr marL="171450" marR="0" lvl="0" indent="-171450" algn="l" defTabSz="914400" rtl="0" eaLnBrk="1" fontAlgn="auto" latinLnBrk="0" hangingPunct="1">
              <a:lnSpc>
                <a:spcPct val="130000"/>
              </a:lnSpc>
              <a:spcBef>
                <a:spcPts val="0"/>
              </a:spcBef>
              <a:spcAft>
                <a:spcPts val="600"/>
              </a:spcAft>
              <a:buClr>
                <a:srgbClr val="F0A23E"/>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Streaming-quality lacked session-level join key — solved with user-level aggregation</a:t>
            </a:r>
          </a:p>
          <a:p>
            <a:pPr marL="171450" marR="0" lvl="0" indent="-171450" algn="l" defTabSz="914400" rtl="0" eaLnBrk="1" fontAlgn="auto" latinLnBrk="0" hangingPunct="1">
              <a:lnSpc>
                <a:spcPct val="130000"/>
              </a:lnSpc>
              <a:spcBef>
                <a:spcPts val="0"/>
              </a:spcBef>
              <a:spcAft>
                <a:spcPts val="0"/>
              </a:spcAft>
              <a:buClr>
                <a:srgbClr val="F0A23E"/>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Apple Silicon compatibility — required platform: linux/amd64 declaration on every service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4"/>
          <p:cNvSpPr/>
          <p:nvPr/>
        </p:nvSpPr>
        <p:spPr>
          <a:xfrm>
            <a:off x="4636008" y="5440680"/>
            <a:ext cx="3154680" cy="502920"/>
          </a:xfrm>
          <a:prstGeom prst="rect">
            <a:avLst/>
          </a:prstGeom>
          <a:solidFill>
            <a:srgbClr val="001D24"/>
          </a:solidFill>
          <a:ln w="12700">
            <a:solidFill>
              <a:srgbClr val="F0A23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5"/>
          <p:cNvSpPr/>
          <p:nvPr/>
        </p:nvSpPr>
        <p:spPr>
          <a:xfrm>
            <a:off x="4636008" y="5440680"/>
            <a:ext cx="3154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F0A23E"/>
                </a:solidFill>
                <a:effectLst/>
                <a:uLnTx/>
                <a:uFillTx/>
                <a:latin typeface="Calibri" pitchFamily="34" charset="0"/>
                <a:ea typeface="Calibri" pitchFamily="34" charset="-122"/>
                <a:cs typeface="Calibri" pitchFamily="34" charset="-120"/>
              </a:rPr>
              <a:t>Friction we worked through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8266176" y="1828800"/>
            <a:ext cx="3703320" cy="4251960"/>
          </a:xfrm>
          <a:prstGeom prst="rect">
            <a:avLst/>
          </a:prstGeom>
          <a:solidFill>
            <a:srgbClr val="0A4250"/>
          </a:solidFill>
          <a:ln w="12700">
            <a:solidFill>
              <a:srgbClr val="1E5A6B"/>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7"/>
          <p:cNvSpPr/>
          <p:nvPr/>
        </p:nvSpPr>
        <p:spPr>
          <a:xfrm>
            <a:off x="8266176" y="1828800"/>
            <a:ext cx="3703320" cy="411480"/>
          </a:xfrm>
          <a:prstGeom prst="rect">
            <a:avLst/>
          </a:prstGeom>
          <a:solidFill>
            <a:srgbClr val="5FBE7D"/>
          </a:solid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8"/>
          <p:cNvSpPr/>
          <p:nvPr/>
        </p:nvSpPr>
        <p:spPr>
          <a:xfrm>
            <a:off x="8540496" y="1828800"/>
            <a:ext cx="64008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1D24"/>
                </a:solidFill>
                <a:effectLst/>
                <a:uLnTx/>
                <a:uFillTx/>
                <a:latin typeface="Calibri" pitchFamily="34" charset="0"/>
                <a:ea typeface="Calibri" pitchFamily="34" charset="-122"/>
                <a:cs typeface="Calibri" pitchFamily="34" charset="-120"/>
              </a:rPr>
              <a:t>03</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9"/>
          <p:cNvSpPr/>
          <p:nvPr/>
        </p:nvSpPr>
        <p:spPr>
          <a:xfrm>
            <a:off x="8540496" y="2423160"/>
            <a:ext cx="3200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dirty="0">
                <a:ln>
                  <a:noFill/>
                </a:ln>
                <a:solidFill>
                  <a:srgbClr val="FFFFFF"/>
                </a:solidFill>
                <a:effectLst/>
                <a:uLnTx/>
                <a:uFillTx/>
                <a:latin typeface="Calibri" pitchFamily="34" charset="0"/>
                <a:ea typeface="Calibri" pitchFamily="34" charset="-122"/>
                <a:cs typeface="Calibri" pitchFamily="34" charset="-120"/>
              </a:rPr>
              <a:t>WHAT WE’D DO DIFFERENTLY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8540496" y="2971800"/>
            <a:ext cx="731520" cy="0"/>
          </a:xfrm>
          <a:prstGeom prst="line">
            <a:avLst/>
          </a:prstGeom>
          <a:noFill/>
          <a:ln w="254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8540496" y="3108960"/>
            <a:ext cx="3200400" cy="2194560"/>
          </a:xfrm>
          <a:prstGeom prst="rect">
            <a:avLst/>
          </a:prstGeom>
          <a:noFill/>
          <a:ln/>
        </p:spPr>
        <p:txBody>
          <a:bodyPr wrap="square" lIns="0" tIns="0" rIns="0" bIns="0" rtlCol="0" anchor="ctr"/>
          <a:lstStyle/>
          <a:p>
            <a:pPr marL="171450" marR="0" lvl="0" indent="-171450" algn="l" defTabSz="914400" rtl="0" eaLnBrk="1" fontAlgn="auto" latinLnBrk="0" hangingPunct="1">
              <a:lnSpc>
                <a:spcPct val="130000"/>
              </a:lnSpc>
              <a:spcBef>
                <a:spcPts val="0"/>
              </a:spcBef>
              <a:spcAft>
                <a:spcPts val="600"/>
              </a:spcAft>
              <a:buClr>
                <a:srgbClr val="5FBE7D"/>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Define data contracts between stages on Day 1</a:t>
            </a:r>
          </a:p>
          <a:p>
            <a:pPr marL="171450" marR="0" lvl="0" indent="-171450" algn="l" defTabSz="914400" rtl="0" eaLnBrk="1" fontAlgn="auto" latinLnBrk="0" hangingPunct="1">
              <a:lnSpc>
                <a:spcPct val="130000"/>
              </a:lnSpc>
              <a:spcBef>
                <a:spcPts val="0"/>
              </a:spcBef>
              <a:spcAft>
                <a:spcPts val="600"/>
              </a:spcAft>
              <a:buClr>
                <a:srgbClr val="5FBE7D"/>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Add a second Kafka topic for alerts to demonstrate multi-topic patterns</a:t>
            </a:r>
          </a:p>
          <a:p>
            <a:pPr marL="171450" marR="0" lvl="0" indent="-171450" algn="l" defTabSz="914400" rtl="0" eaLnBrk="1" fontAlgn="auto" latinLnBrk="0" hangingPunct="1">
              <a:lnSpc>
                <a:spcPct val="130000"/>
              </a:lnSpc>
              <a:spcBef>
                <a:spcPts val="0"/>
              </a:spcBef>
              <a:spcAft>
                <a:spcPts val="0"/>
              </a:spcAft>
              <a:buClr>
                <a:srgbClr val="5FBE7D"/>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B7D7DC"/>
                </a:solidFill>
                <a:effectLst/>
                <a:uLnTx/>
                <a:uFillTx/>
                <a:latin typeface="Calibri" pitchFamily="34" charset="0"/>
                <a:ea typeface="Calibri" pitchFamily="34" charset="-122"/>
                <a:cs typeface="Calibri" pitchFamily="34" charset="-120"/>
              </a:rPr>
              <a:t>Earlier integration testing — full-stack boot before each stage owner finishes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2"/>
          <p:cNvSpPr/>
          <p:nvPr/>
        </p:nvSpPr>
        <p:spPr>
          <a:xfrm>
            <a:off x="8540496" y="5440680"/>
            <a:ext cx="3154680" cy="502920"/>
          </a:xfrm>
          <a:prstGeom prst="rect">
            <a:avLst/>
          </a:prstGeom>
          <a:solidFill>
            <a:srgbClr val="001D24"/>
          </a:solidFill>
          <a:ln w="12700">
            <a:solidFill>
              <a:srgbClr val="5FBE7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8540496" y="5440680"/>
            <a:ext cx="3154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5FBE7D"/>
                </a:solidFill>
                <a:effectLst/>
                <a:uLnTx/>
                <a:uFillTx/>
                <a:latin typeface="Calibri" pitchFamily="34" charset="0"/>
                <a:ea typeface="Calibri" pitchFamily="34" charset="-122"/>
                <a:cs typeface="Calibri" pitchFamily="34" charset="-120"/>
              </a:rPr>
              <a:t>Process changes for round two</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4"/>
          <p:cNvSpPr/>
          <p:nvPr/>
        </p:nvSpPr>
        <p:spPr>
          <a:xfrm>
            <a:off x="11338560" y="6446520"/>
            <a:ext cx="64008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7FA8AE"/>
                </a:solidFill>
                <a:effectLst/>
                <a:uLnTx/>
                <a:uFillTx/>
                <a:latin typeface="Calibri" pitchFamily="34" charset="0"/>
                <a:ea typeface="Calibri" pitchFamily="34" charset="-122"/>
                <a:cs typeface="Calibri" pitchFamily="34" charset="-120"/>
              </a:rPr>
              <a:t>21 / 24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35"/>
          <p:cNvSpPr/>
          <p:nvPr/>
        </p:nvSpPr>
        <p:spPr>
          <a:xfrm>
            <a:off x="365760" y="6446520"/>
            <a:ext cx="7315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200" normalizeH="0" baseline="0" noProof="0" dirty="0">
                <a:ln>
                  <a:noFill/>
                </a:ln>
                <a:solidFill>
                  <a:srgbClr val="7FA8AE"/>
                </a:solidFill>
                <a:effectLst/>
                <a:uLnTx/>
                <a:uFillTx/>
                <a:latin typeface="Calibri" pitchFamily="34" charset="0"/>
                <a:ea typeface="Calibri" pitchFamily="34" charset="-122"/>
                <a:cs typeface="Calibri" pitchFamily="34" charset="-120"/>
              </a:rPr>
              <a:t>DATA AVENGERS · MEDIAWAVE STREAMING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1">
    <p:bg>
      <p:bgPr>
        <a:solidFill>
          <a:srgbClr val="012E36"/>
        </a:solidFill>
        <a:effectLst/>
      </p:bgPr>
    </p:bg>
    <p:spTree>
      <p:nvGrpSpPr>
        <p:cNvPr id="1" name=""/>
        <p:cNvGrpSpPr/>
        <p:nvPr/>
      </p:nvGrpSpPr>
      <p:grpSpPr>
        <a:xfrm>
          <a:off x="0" y="0"/>
          <a:ext cx="0" cy="0"/>
          <a:chOff x="0" y="0"/>
          <a:chExt cx="0" cy="0"/>
        </a:xfrm>
      </p:grpSpPr>
      <p:sp>
        <p:nvSpPr>
          <p:cNvPr id="2" name="Shape 0"/>
          <p:cNvSpPr/>
          <p:nvPr/>
        </p:nvSpPr>
        <p:spPr>
          <a:xfrm>
            <a:off x="10607040" y="-1097280"/>
            <a:ext cx="2377440" cy="2377440"/>
          </a:xfrm>
          <a:prstGeom prst="ellipse">
            <a:avLst/>
          </a:prstGeom>
          <a:solidFill>
            <a:srgbClr val="3FE0E0">
              <a:alpha val="10000"/>
            </a:srgbClr>
          </a:solidFill>
          <a:ln w="12700">
            <a:solidFill>
              <a:srgbClr val="3FE0E0"/>
            </a:solidFill>
            <a:prstDash val="solid"/>
          </a:ln>
        </p:spPr>
        <p:txBody>
          <a:bodyPr/>
          <a:lstStyle/>
          <a:p>
            <a:endParaRPr lang="en-US"/>
          </a:p>
        </p:txBody>
      </p:sp>
      <p:sp>
        <p:nvSpPr>
          <p:cNvPr id="3" name="Shape 1"/>
          <p:cNvSpPr/>
          <p:nvPr/>
        </p:nvSpPr>
        <p:spPr>
          <a:xfrm>
            <a:off x="10378440" y="-960120"/>
            <a:ext cx="2103120" cy="2103120"/>
          </a:xfrm>
          <a:prstGeom prst="ellipse">
            <a:avLst/>
          </a:prstGeom>
          <a:solidFill>
            <a:srgbClr val="3FE0E0">
              <a:alpha val="8500"/>
            </a:srgbClr>
          </a:solidFill>
          <a:ln w="12700">
            <a:solidFill>
              <a:srgbClr val="3FE0E0"/>
            </a:solidFill>
            <a:prstDash val="solid"/>
          </a:ln>
        </p:spPr>
        <p:txBody>
          <a:bodyPr/>
          <a:lstStyle/>
          <a:p>
            <a:endParaRPr lang="en-US"/>
          </a:p>
        </p:txBody>
      </p:sp>
      <p:sp>
        <p:nvSpPr>
          <p:cNvPr id="4" name="Shape 2"/>
          <p:cNvSpPr/>
          <p:nvPr/>
        </p:nvSpPr>
        <p:spPr>
          <a:xfrm>
            <a:off x="10149840" y="-822960"/>
            <a:ext cx="1828800" cy="1828800"/>
          </a:xfrm>
          <a:prstGeom prst="ellipse">
            <a:avLst/>
          </a:prstGeom>
          <a:solidFill>
            <a:srgbClr val="3FE0E0">
              <a:alpha val="7000"/>
            </a:srgbClr>
          </a:solidFill>
          <a:ln w="12700">
            <a:solidFill>
              <a:srgbClr val="3FE0E0"/>
            </a:solidFill>
            <a:prstDash val="solid"/>
          </a:ln>
        </p:spPr>
        <p:txBody>
          <a:bodyPr/>
          <a:lstStyle/>
          <a:p>
            <a:endParaRPr lang="en-US"/>
          </a:p>
        </p:txBody>
      </p:sp>
      <p:sp>
        <p:nvSpPr>
          <p:cNvPr id="5" name="Shape 3"/>
          <p:cNvSpPr/>
          <p:nvPr/>
        </p:nvSpPr>
        <p:spPr>
          <a:xfrm>
            <a:off x="9921240" y="-685800"/>
            <a:ext cx="1554480" cy="1554480"/>
          </a:xfrm>
          <a:prstGeom prst="ellipse">
            <a:avLst/>
          </a:prstGeom>
          <a:solidFill>
            <a:srgbClr val="3FE0E0">
              <a:alpha val="5500"/>
            </a:srgbClr>
          </a:solidFill>
          <a:ln w="12700">
            <a:solidFill>
              <a:srgbClr val="3FE0E0"/>
            </a:solidFill>
            <a:prstDash val="solid"/>
          </a:ln>
        </p:spPr>
        <p:txBody>
          <a:bodyPr/>
          <a:lstStyle/>
          <a:p>
            <a:endParaRPr lang="en-US"/>
          </a:p>
        </p:txBody>
      </p:sp>
      <p:sp>
        <p:nvSpPr>
          <p:cNvPr id="6" name="Shape 4"/>
          <p:cNvSpPr/>
          <p:nvPr/>
        </p:nvSpPr>
        <p:spPr>
          <a:xfrm>
            <a:off x="-182880" y="5943600"/>
            <a:ext cx="1371600" cy="0"/>
          </a:xfrm>
          <a:prstGeom prst="line">
            <a:avLst/>
          </a:prstGeom>
          <a:noFill/>
          <a:ln w="12700">
            <a:solidFill>
              <a:srgbClr val="3FE0E0">
                <a:alpha val="20000"/>
              </a:srgbClr>
            </a:solidFill>
            <a:prstDash val="solid"/>
          </a:ln>
        </p:spPr>
        <p:txBody>
          <a:bodyPr/>
          <a:lstStyle/>
          <a:p>
            <a:endParaRPr lang="en-US"/>
          </a:p>
        </p:txBody>
      </p:sp>
      <p:sp>
        <p:nvSpPr>
          <p:cNvPr id="7" name="Shape 5"/>
          <p:cNvSpPr/>
          <p:nvPr/>
        </p:nvSpPr>
        <p:spPr>
          <a:xfrm>
            <a:off x="-182880" y="6217920"/>
            <a:ext cx="1371600" cy="0"/>
          </a:xfrm>
          <a:prstGeom prst="line">
            <a:avLst/>
          </a:prstGeom>
          <a:noFill/>
          <a:ln w="12700">
            <a:solidFill>
              <a:srgbClr val="3FE0E0">
                <a:alpha val="15000"/>
              </a:srgbClr>
            </a:solidFill>
            <a:prstDash val="solid"/>
          </a:ln>
        </p:spPr>
        <p:txBody>
          <a:bodyPr/>
          <a:lstStyle/>
          <a:p>
            <a:endParaRPr lang="en-US"/>
          </a:p>
        </p:txBody>
      </p:sp>
      <p:sp>
        <p:nvSpPr>
          <p:cNvPr id="8" name="Shape 6"/>
          <p:cNvSpPr/>
          <p:nvPr/>
        </p:nvSpPr>
        <p:spPr>
          <a:xfrm>
            <a:off x="-182880" y="6492240"/>
            <a:ext cx="1371600" cy="0"/>
          </a:xfrm>
          <a:prstGeom prst="line">
            <a:avLst/>
          </a:prstGeom>
          <a:noFill/>
          <a:ln w="12700">
            <a:solidFill>
              <a:srgbClr val="3FE0E0">
                <a:alpha val="10000"/>
              </a:srgbClr>
            </a:solidFill>
            <a:prstDash val="solid"/>
          </a:ln>
        </p:spPr>
        <p:txBody>
          <a:bodyPr/>
          <a:lstStyle/>
          <a:p>
            <a:endParaRPr lang="en-US"/>
          </a:p>
        </p:txBody>
      </p:sp>
      <p:sp>
        <p:nvSpPr>
          <p:cNvPr id="9" name="Text 7"/>
          <p:cNvSpPr/>
          <p:nvPr/>
        </p:nvSpPr>
        <p:spPr>
          <a:xfrm>
            <a:off x="457200" y="2560320"/>
            <a:ext cx="11247120" cy="1371600"/>
          </a:xfrm>
          <a:prstGeom prst="rect">
            <a:avLst/>
          </a:prstGeom>
          <a:noFill/>
          <a:ln/>
        </p:spPr>
        <p:txBody>
          <a:bodyPr wrap="square" lIns="0" tIns="0" rIns="0" bIns="0" rtlCol="0" anchor="ctr"/>
          <a:lstStyle/>
          <a:p>
            <a:pPr marL="0" indent="0" algn="ctr">
              <a:buNone/>
            </a:pPr>
            <a:r>
              <a:rPr lang="en-US" sz="9000" b="1" dirty="0">
                <a:solidFill>
                  <a:srgbClr val="FFFFFF"/>
                </a:solidFill>
                <a:latin typeface="Calibri" pitchFamily="34" charset="0"/>
                <a:ea typeface="Calibri" pitchFamily="34" charset="-122"/>
                <a:cs typeface="Calibri" pitchFamily="34" charset="-120"/>
              </a:rPr>
              <a:t>Questions</a:t>
            </a:r>
            <a:endParaRPr lang="en-US" sz="9000" dirty="0"/>
          </a:p>
        </p:txBody>
      </p:sp>
      <p:sp>
        <p:nvSpPr>
          <p:cNvPr id="10" name="Shape 8"/>
          <p:cNvSpPr/>
          <p:nvPr/>
        </p:nvSpPr>
        <p:spPr>
          <a:xfrm>
            <a:off x="5166360" y="4023360"/>
            <a:ext cx="1828800" cy="0"/>
          </a:xfrm>
          <a:prstGeom prst="line">
            <a:avLst/>
          </a:prstGeom>
          <a:noFill/>
          <a:ln w="38100">
            <a:solidFill>
              <a:srgbClr val="3FE0E0"/>
            </a:solidFill>
            <a:prstDash val="solid"/>
          </a:ln>
        </p:spPr>
        <p:txBody>
          <a:bodyPr/>
          <a:lstStyle/>
          <a:p>
            <a:endParaRPr lang="en-US"/>
          </a:p>
        </p:txBody>
      </p:sp>
      <p:sp>
        <p:nvSpPr>
          <p:cNvPr id="11" name="Text 9"/>
          <p:cNvSpPr/>
          <p:nvPr/>
        </p:nvSpPr>
        <p:spPr>
          <a:xfrm>
            <a:off x="457200" y="4206240"/>
            <a:ext cx="11247120" cy="365760"/>
          </a:xfrm>
          <a:prstGeom prst="rect">
            <a:avLst/>
          </a:prstGeom>
          <a:noFill/>
          <a:ln/>
        </p:spPr>
        <p:txBody>
          <a:bodyPr wrap="square" lIns="0" tIns="0" rIns="0" bIns="0" rtlCol="0" anchor="ctr"/>
          <a:lstStyle/>
          <a:p>
            <a:pPr marL="0" indent="0" algn="ctr">
              <a:buNone/>
            </a:pPr>
            <a:r>
              <a:rPr lang="en-US" sz="1400" kern="0" spc="600" dirty="0">
                <a:solidFill>
                  <a:srgbClr val="3FE0E0"/>
                </a:solidFill>
                <a:latin typeface="Calibri" pitchFamily="34" charset="0"/>
                <a:ea typeface="Calibri" pitchFamily="34" charset="-122"/>
                <a:cs typeface="Calibri" pitchFamily="34" charset="-120"/>
              </a:rPr>
              <a:t>DISCUSSION OPEN</a:t>
            </a:r>
            <a:endParaRPr lang="en-US" sz="1400" dirty="0"/>
          </a:p>
        </p:txBody>
      </p:sp>
      <p:sp>
        <p:nvSpPr>
          <p:cNvPr id="12" name="Text 10"/>
          <p:cNvSpPr/>
          <p:nvPr/>
        </p:nvSpPr>
        <p:spPr>
          <a:xfrm>
            <a:off x="457200" y="6217920"/>
            <a:ext cx="11247120" cy="365760"/>
          </a:xfrm>
          <a:prstGeom prst="rect">
            <a:avLst/>
          </a:prstGeom>
          <a:noFill/>
          <a:ln/>
        </p:spPr>
        <p:txBody>
          <a:bodyPr wrap="square" lIns="0" tIns="0" rIns="0" bIns="0" rtlCol="0" anchor="ctr"/>
          <a:lstStyle/>
          <a:p>
            <a:pPr marL="0" indent="0" algn="ctr">
              <a:buNone/>
            </a:pPr>
            <a:r>
              <a:rPr lang="en-US" sz="1100" dirty="0">
                <a:solidFill>
                  <a:srgbClr val="7FA8AE"/>
                </a:solidFill>
                <a:latin typeface="Calibri" pitchFamily="34" charset="0"/>
                <a:ea typeface="Calibri" pitchFamily="34" charset="-122"/>
                <a:cs typeface="Calibri" pitchFamily="34" charset="-120"/>
              </a:rPr>
              <a:t>Team Data Avengers · Helen Nguyen · Quang Nguyen · Juan Rivera · Aleksandr Nicolaev · Yusuke Yoshizawa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6772</Words>
  <Application>Microsoft Macintosh PowerPoint</Application>
  <PresentationFormat>Widescreen</PresentationFormat>
  <Paragraphs>704</Paragraphs>
  <Slides>32</Slides>
  <Notes>32</Notes>
  <HiddenSlides>8</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MediaWave Streaming — Big Data Pipeline</dc:title>
  <dc:subject>PptxGenJS Presentation</dc:subject>
  <dc:creator>Team Data Avengers</dc:creator>
  <cp:lastModifiedBy>Nga Nguyễn</cp:lastModifiedBy>
  <cp:revision>1</cp:revision>
  <dcterms:created xsi:type="dcterms:W3CDTF">2026-05-02T21:18:39Z</dcterms:created>
  <dcterms:modified xsi:type="dcterms:W3CDTF">2026-05-04T14:44:41Z</dcterms:modified>
</cp:coreProperties>
</file>