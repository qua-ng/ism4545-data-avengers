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80" r:id="rId11"/>
    <p:sldId id="282" r:id="rId12"/>
    <p:sldId id="284" r:id="rId13"/>
    <p:sldId id="285" r:id="rId14"/>
    <p:sldId id="286" r:id="rId15"/>
    <p:sldId id="266" r:id="rId16"/>
    <p:sldId id="267" r:id="rId17"/>
    <p:sldId id="268" r:id="rId18"/>
    <p:sldId id="269" r:id="rId19"/>
    <p:sldId id="270" r:id="rId20"/>
    <p:sldId id="271" r:id="rId21"/>
    <p:sldId id="272" r:id="rId22"/>
    <p:sldId id="273" r:id="rId23"/>
    <p:sldId id="274" r:id="rId24"/>
    <p:sldId id="275" r:id="rId25"/>
    <p:sldId id="276"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11" dt="2026-05-02T22:17:23.4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664"/>
    <p:restoredTop sz="94610"/>
  </p:normalViewPr>
  <p:slideViewPr>
    <p:cSldViewPr snapToGrid="0" snapToObjects="1">
      <p:cViewPr varScale="1">
        <p:scale>
          <a:sx n="120" d="100"/>
          <a:sy n="120" d="100"/>
        </p:scale>
        <p:origin x="4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2T22:17:36.385" v="123" actId="2696"/>
      <pc:docMkLst>
        <pc:docMk/>
      </pc:docMkLst>
      <pc:sldChg chg="modSp mod">
        <pc:chgData name="Helen Nguyen" userId="1112739b-77dc-448a-8744-257d55cee90b" providerId="ADAL" clId="{194E4A13-58D5-5498-AEFF-E6FC041D81F5}" dt="2026-05-02T21:55:09.197" v="100" actId="20577"/>
        <pc:sldMkLst>
          <pc:docMk/>
          <pc:sldMk cId="0" sldId="257"/>
        </pc:sldMkLst>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sldChg>
      <pc:sldChg chg="del">
        <pc:chgData name="Helen Nguyen" userId="1112739b-77dc-448a-8744-257d55cee90b" providerId="ADAL" clId="{194E4A13-58D5-5498-AEFF-E6FC041D81F5}" dt="2026-05-02T22:14:55.182" v="113" actId="2696"/>
        <pc:sldMkLst>
          <pc:docMk/>
          <pc:sldMk cId="0" sldId="265"/>
        </pc:sldMkLst>
      </pc:sldChg>
      <pc:sldChg chg="addSp delSp modSp mod">
        <pc:chgData name="Helen Nguyen" userId="1112739b-77dc-448a-8744-257d55cee90b" providerId="ADAL" clId="{194E4A13-58D5-5498-AEFF-E6FC041D81F5}" dt="2026-05-02T22:17:15.451" v="118" actId="478"/>
        <pc:sldMkLst>
          <pc:docMk/>
          <pc:sldMk cId="0" sldId="266"/>
        </pc:sldMkLst>
        <pc:picChg chg="add del mod">
          <ac:chgData name="Helen Nguyen" userId="1112739b-77dc-448a-8744-257d55cee90b" providerId="ADAL" clId="{194E4A13-58D5-5498-AEFF-E6FC041D81F5}" dt="2026-05-02T22:17:15.451" v="118" actId="478"/>
          <ac:picMkLst>
            <pc:docMk/>
            <pc:sldMk cId="0" sldId="266"/>
            <ac:picMk id="38" creationId="{F822FB8B-AD94-73A4-E2E1-3906B4FFB02B}"/>
          </ac:picMkLst>
        </pc:picChg>
      </pc:sldChg>
      <pc:sldChg chg="del">
        <pc:chgData name="Helen Nguyen" userId="1112739b-77dc-448a-8744-257d55cee90b" providerId="ADAL" clId="{194E4A13-58D5-5498-AEFF-E6FC041D81F5}" dt="2026-05-02T22:17:36.385" v="123" actId="2696"/>
        <pc:sldMkLst>
          <pc:docMk/>
          <pc:sldMk cId="0" sldId="277"/>
        </pc:sldMkLst>
      </pc:sldChg>
      <pc:sldChg chg="new del">
        <pc:chgData name="Helen Nguyen" userId="1112739b-77dc-448a-8744-257d55cee90b" providerId="ADAL" clId="{194E4A13-58D5-5498-AEFF-E6FC041D81F5}" dt="2026-05-02T22:13:54.223" v="103" actId="2696"/>
        <pc:sldMkLst>
          <pc:docMk/>
          <pc:sldMk cId="4026015085" sldId="278"/>
        </pc:sldMkLst>
      </pc:sldChg>
      <pc:sldChg chg="add del setBg">
        <pc:chgData name="Helen Nguyen" userId="1112739b-77dc-448a-8744-257d55cee90b" providerId="ADAL" clId="{194E4A13-58D5-5498-AEFF-E6FC041D81F5}" dt="2026-05-02T22:14:18.742" v="105" actId="2696"/>
        <pc:sldMkLst>
          <pc:docMk/>
          <pc:sldMk cId="0" sldId="279"/>
        </pc:sldMkLst>
      </pc:sldChg>
      <pc:sldChg chg="addSp delSp add mod">
        <pc:chgData name="Helen Nguyen" userId="1112739b-77dc-448a-8744-257d55cee90b" providerId="ADAL" clId="{194E4A13-58D5-5498-AEFF-E6FC041D81F5}" dt="2026-05-02T22:14:41.651" v="109" actId="478"/>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ldChg>
      <pc:sldChg chg="add del">
        <pc:chgData name="Helen Nguyen" userId="1112739b-77dc-448a-8744-257d55cee90b" providerId="ADAL" clId="{194E4A13-58D5-5498-AEFF-E6FC041D81F5}" dt="2026-05-02T22:14:40.912" v="108"/>
        <pc:sldMkLst>
          <pc:docMk/>
          <pc:sldMk cId="0" sldId="281"/>
        </pc:sldMkLst>
      </pc:sldChg>
      <pc:sldChg chg="new del">
        <pc:chgData name="Helen Nguyen" userId="1112739b-77dc-448a-8744-257d55cee90b" providerId="ADAL" clId="{194E4A13-58D5-5498-AEFF-E6FC041D81F5}" dt="2026-05-02T22:14:47.201" v="112" actId="2696"/>
        <pc:sldMkLst>
          <pc:docMk/>
          <pc:sldMk cId="1757626998" sldId="281"/>
        </pc:sldMkLst>
      </pc:sldChg>
      <pc:sldChg chg="add">
        <pc:chgData name="Helen Nguyen" userId="1112739b-77dc-448a-8744-257d55cee90b" providerId="ADAL" clId="{194E4A13-58D5-5498-AEFF-E6FC041D81F5}" dt="2026-05-02T22:14:46.019" v="111"/>
        <pc:sldMkLst>
          <pc:docMk/>
          <pc:sldMk cId="0" sldId="282"/>
        </pc:sldMkLst>
      </pc:sldChg>
      <pc:sldChg chg="new del">
        <pc:chgData name="Helen Nguyen" userId="1112739b-77dc-448a-8744-257d55cee90b" providerId="ADAL" clId="{194E4A13-58D5-5498-AEFF-E6FC041D81F5}" dt="2026-05-02T22:17:24.912" v="122" actId="2696"/>
        <pc:sldMkLst>
          <pc:docMk/>
          <pc:sldMk cId="1839210567" sldId="283"/>
        </pc:sldMkLst>
      </pc:sldChg>
      <pc:sldChg chg="add">
        <pc:chgData name="Helen Nguyen" userId="1112739b-77dc-448a-8744-257d55cee90b" providerId="ADAL" clId="{194E4A13-58D5-5498-AEFF-E6FC041D81F5}" dt="2026-05-02T22:16:56.783" v="115"/>
        <pc:sldMkLst>
          <pc:docMk/>
          <pc:sldMk cId="0" sldId="284"/>
        </pc:sldMkLst>
      </pc:sldChg>
      <pc:sldChg chg="add">
        <pc:chgData name="Helen Nguyen" userId="1112739b-77dc-448a-8744-257d55cee90b" providerId="ADAL" clId="{194E4A13-58D5-5498-AEFF-E6FC041D81F5}" dt="2026-05-02T22:17:05.131" v="116"/>
        <pc:sldMkLst>
          <pc:docMk/>
          <pc:sldMk cId="0" sldId="285"/>
        </pc:sldMkLst>
      </pc:sldChg>
      <pc:sldChg chg="add del setBg">
        <pc:chgData name="Helen Nguyen" userId="1112739b-77dc-448a-8744-257d55cee90b" providerId="ADAL" clId="{194E4A13-58D5-5498-AEFF-E6FC041D81F5}" dt="2026-05-02T22:17:23.401" v="121"/>
        <pc:sldMkLst>
          <pc:docMk/>
          <pc:sldMk cId="0" sldId="28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First, content ROI: a measurable share of catalog spend earns disproportionately little viewing time. We will quantify the savings opportunity in section five. Second, engagement: a meaningful completion-rate gap exists between subscription tiers. This is a recommendation-system tuning opportunity, not a content acquisition one. Third, retention risk: streaming quality has a measurable correlation with churn, and three engagement signals together predict cancellation a full month in advance.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actual path data takes through the pipeline. Five raw sources land in HDFS in their original formats. PySpark cleans, standardizes, and joins them into three analytics tables stored as Parquet. Each analytics table maps directly to one of the business questions we cover next. In parallel, viewing events flow through Kafka and Spark Structured Streaming to produce real-time alerts. Both batch and streaming paths feed into business use; the analytics tables drive scheduled review and modeling, while streaming drives operational alerts. Transition: We chose this stack deliberately — the next slide explains why.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MediaWave's data needs are not uniform. Some questions are deeply historical — content ROI, churn modeling, engagement segmentation. These require batch correctness and the ability to recompute over arbitrary time windows. Other questions are operational — concurrent viewers per title, sessions hitting buffering thresholds. These require sub-minute latency, not historical depth. Lambda architecture serves both. Batch handles deep analytics with full data correctness. Streaming handles low-latency alerts. Both feed a unified analytics zone, which means data scientists query one place. We considered Kappa — pure streaming, no batch — and rejected it. Historical re-processing in Kappa requires replaying the full event log, which is expensive and slow for the deep analytics MediaWave needs. The trade-off: Lambda runs two code paths. We accept that complexity in exchange for the right tool for each question type.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5" name="Text 33"/>
          <p:cNvSpPr/>
          <p:nvPr/>
        </p:nvSpPr>
        <p:spPr>
          <a:xfrm>
            <a:off x="969264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0" name="Text 28"/>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03 / 22</a:t>
            </a:r>
            <a:endParaRPr lang="en-US" sz="9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05 / 22</a:t>
            </a: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Three findings. Each maps to a specific recommendation.</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Numbers shown are placeholders pending final analytics run</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CONTENT ROI</a:t>
            </a:r>
            <a:endParaRPr lang="en-US" sz="1000" dirty="0"/>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a:t>
            </a:r>
            <a:endParaRPr lang="en-US" sz="5400" dirty="0"/>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 catalog cost is concentrated in titles below median ROI</a:t>
            </a:r>
            <a:endParaRPr lang="en-US" sz="1400" dirty="0"/>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endParaRPr lang="en-US"/>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Calculated as cost_per_viewing_hour across the catalog. The bottom decile drives disproportionate license cost without proportional engagement.</a:t>
            </a:r>
            <a:endParaRPr lang="en-US" sz="1100" dirty="0"/>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endParaRPr lang="en-US"/>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F0A23E"/>
                </a:solidFill>
                <a:latin typeface="Calibri" pitchFamily="34" charset="0"/>
                <a:ea typeface="Calibri" pitchFamily="34" charset="-122"/>
                <a:cs typeface="Calibri" pitchFamily="34" charset="-120"/>
              </a:rPr>
              <a:t>ENGAGEMENT</a:t>
            </a:r>
            <a:endParaRPr lang="en-US" sz="1000" dirty="0"/>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pp ]</a:t>
            </a:r>
            <a:endParaRPr lang="en-US" sz="5400" dirty="0"/>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completion-rate gap between Premium and Basic tiers</a:t>
            </a:r>
            <a:endParaRPr lang="en-US" sz="1400" dirty="0"/>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endParaRPr lang="en-US"/>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Premium subscribers complete a higher share of titles they start. Either tier-aware recommendation algorithms or content commitment effects.</a:t>
            </a:r>
            <a:endParaRPr lang="en-US" sz="1100" dirty="0"/>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endParaRPr lang="en-US"/>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E8654A"/>
                </a:solidFill>
                <a:latin typeface="Calibri" pitchFamily="34" charset="0"/>
                <a:ea typeface="Calibri" pitchFamily="34" charset="-122"/>
                <a:cs typeface="Calibri" pitchFamily="34" charset="-120"/>
              </a:rPr>
              <a:t>RETENTION RISK</a:t>
            </a:r>
            <a:endParaRPr lang="en-US" sz="1000" dirty="0"/>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 X× ]</a:t>
            </a:r>
            <a:endParaRPr lang="en-US" sz="5400" dirty="0"/>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higher buffering events among users in the 30 days before churn</a:t>
            </a:r>
            <a:endParaRPr lang="en-US" sz="1400" dirty="0"/>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endParaRPr lang="en-US"/>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Streaming quality is a measurable churn precursor. Three signals together (buffering, completion drop, interaction drop) predict churn 30 days early.</a:t>
            </a:r>
            <a:endParaRPr lang="en-US" sz="1100" dirty="0"/>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07 / 22</a:t>
            </a:r>
            <a:endParaRPr lang="en-US" sz="900" dirty="0"/>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09 / 22</a:t>
            </a: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A</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11 / 22</a:t>
            </a: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0" name="Text 2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20 / 22</a:t>
            </a:r>
            <a:endParaRPr lang="en-US" sz="9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TotalTime>
  <Words>4619</Words>
  <Application>Microsoft Macintosh PowerPoint</Application>
  <PresentationFormat>Widescreen</PresentationFormat>
  <Paragraphs>530</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2026-05-02T22:17:37Z</dcterms:modified>
</cp:coreProperties>
</file>