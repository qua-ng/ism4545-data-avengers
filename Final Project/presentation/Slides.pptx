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notesSlides/notesSlide2.xml" ContentType="application/vnd.openxmlformats-officedocument.presentationml.notesSlide+xml"/>
  <Override PartName="/ppt/comments/modernComment_101_0.xml" ContentType="application/vnd.ms-powerpoint.comments+xml"/>
  <Override PartName="/ppt/notesSlides/notesSlide3.xml" ContentType="application/vnd.openxmlformats-officedocument.presentationml.notesSlide+xml"/>
  <Override PartName="/ppt/comments/modernComment_102_0.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modernComment_105_0.xml" ContentType="application/vnd.ms-powerpoint.comments+xml"/>
  <Override PartName="/ppt/notesSlides/notesSlide7.xml" ContentType="application/vnd.openxmlformats-officedocument.presentationml.notesSlide+xml"/>
  <Override PartName="/ppt/comments/modernComment_11F_0.xml" ContentType="application/vnd.ms-powerpoint.comment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omments/modernComment_110_0.xml" ContentType="application/vnd.ms-powerpoint.comments+xml"/>
  <Override PartName="/ppt/notesSlides/notesSlide27.xml" ContentType="application/vnd.openxmlformats-officedocument.presentationml.notesSlide+xml"/>
  <Override PartName="/ppt/comments/modernComment_124_0.xml" ContentType="application/vnd.ms-powerpoint.comments+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87" r:id="rId8"/>
    <p:sldId id="263" r:id="rId9"/>
    <p:sldId id="264" r:id="rId10"/>
    <p:sldId id="280" r:id="rId11"/>
    <p:sldId id="282" r:id="rId12"/>
    <p:sldId id="284" r:id="rId13"/>
    <p:sldId id="285" r:id="rId14"/>
    <p:sldId id="286" r:id="rId15"/>
    <p:sldId id="266" r:id="rId16"/>
    <p:sldId id="295" r:id="rId17"/>
    <p:sldId id="267" r:id="rId18"/>
    <p:sldId id="268" r:id="rId19"/>
    <p:sldId id="288" r:id="rId20"/>
    <p:sldId id="269" r:id="rId21"/>
    <p:sldId id="289" r:id="rId22"/>
    <p:sldId id="270" r:id="rId23"/>
    <p:sldId id="290" r:id="rId24"/>
    <p:sldId id="291" r:id="rId25"/>
    <p:sldId id="271" r:id="rId26"/>
    <p:sldId id="272" r:id="rId27"/>
    <p:sldId id="292" r:id="rId28"/>
    <p:sldId id="273" r:id="rId29"/>
    <p:sldId id="274" r:id="rId30"/>
    <p:sldId id="275" r:id="rId31"/>
    <p:sldId id="294" r:id="rId32"/>
    <p:sldId id="276"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8FFA44F-F2CB-31E9-D638-FA3346F2E98C}" name="Helen Nguyen" initials="QN" userId="S::nganguyen@usf.edu::1112739b-77dc-448a-8744-257d55cee90b"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B3549D-67C2-B940-BF53-0F19C784466C}" v="45" dt="2026-05-04T16:18:43.3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343"/>
    <p:restoredTop sz="79009"/>
  </p:normalViewPr>
  <p:slideViewPr>
    <p:cSldViewPr snapToGrid="0" snapToObjects="1">
      <p:cViewPr varScale="1">
        <p:scale>
          <a:sx n="83" d="100"/>
          <a:sy n="83" d="100"/>
        </p:scale>
        <p:origin x="184" y="4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len Nguyen" userId="1112739b-77dc-448a-8744-257d55cee90b" providerId="ADAL" clId="{194E4A13-58D5-5498-AEFF-E6FC041D81F5}"/>
    <pc:docChg chg="undo redo custSel addSld delSld modSld">
      <pc:chgData name="Helen Nguyen" userId="1112739b-77dc-448a-8744-257d55cee90b" providerId="ADAL" clId="{194E4A13-58D5-5498-AEFF-E6FC041D81F5}" dt="2026-05-04T16:19:54.707" v="209" actId="20577"/>
      <pc:docMkLst>
        <pc:docMk/>
      </pc:docMkLst>
      <pc:sldChg chg="addSp delSp modSp mod">
        <pc:chgData name="Helen Nguyen" userId="1112739b-77dc-448a-8744-257d55cee90b" providerId="ADAL" clId="{194E4A13-58D5-5498-AEFF-E6FC041D81F5}" dt="2026-05-04T15:06:04.594" v="182" actId="20577"/>
        <pc:sldMkLst>
          <pc:docMk/>
          <pc:sldMk cId="0" sldId="257"/>
        </pc:sldMkLst>
        <pc:spChg chg="mod">
          <ac:chgData name="Helen Nguyen" userId="1112739b-77dc-448a-8744-257d55cee90b" providerId="ADAL" clId="{194E4A13-58D5-5498-AEFF-E6FC041D81F5}" dt="2026-05-04T15:03:07.009" v="160" actId="207"/>
          <ac:spMkLst>
            <pc:docMk/>
            <pc:sldMk cId="0" sldId="257"/>
            <ac:spMk id="14" creationId="{00000000-0000-0000-0000-000000000000}"/>
          </ac:spMkLst>
        </pc:spChg>
        <pc:spChg chg="mod">
          <ac:chgData name="Helen Nguyen" userId="1112739b-77dc-448a-8744-257d55cee90b" providerId="ADAL" clId="{194E4A13-58D5-5498-AEFF-E6FC041D81F5}" dt="2026-05-04T15:03:12.270" v="161" actId="20577"/>
          <ac:spMkLst>
            <pc:docMk/>
            <pc:sldMk cId="0" sldId="257"/>
            <ac:spMk id="15" creationId="{00000000-0000-0000-0000-000000000000}"/>
          </ac:spMkLst>
        </pc:spChg>
        <pc:spChg chg="mod">
          <ac:chgData name="Helen Nguyen" userId="1112739b-77dc-448a-8744-257d55cee90b" providerId="ADAL" clId="{194E4A13-58D5-5498-AEFF-E6FC041D81F5}" dt="2026-05-02T21:54:22.711" v="20" actId="20577"/>
          <ac:spMkLst>
            <pc:docMk/>
            <pc:sldMk cId="0" sldId="257"/>
            <ac:spMk id="17" creationId="{00000000-0000-0000-0000-000000000000}"/>
          </ac:spMkLst>
        </pc:spChg>
        <pc:spChg chg="mod">
          <ac:chgData name="Helen Nguyen" userId="1112739b-77dc-448a-8744-257d55cee90b" providerId="ADAL" clId="{194E4A13-58D5-5498-AEFF-E6FC041D81F5}" dt="2026-05-02T21:54:36.930" v="36" actId="20577"/>
          <ac:spMkLst>
            <pc:docMk/>
            <pc:sldMk cId="0" sldId="257"/>
            <ac:spMk id="22" creationId="{00000000-0000-0000-0000-000000000000}"/>
          </ac:spMkLst>
        </pc:spChg>
        <pc:spChg chg="mod">
          <ac:chgData name="Helen Nguyen" userId="1112739b-77dc-448a-8744-257d55cee90b" providerId="ADAL" clId="{194E4A13-58D5-5498-AEFF-E6FC041D81F5}" dt="2026-05-04T15:04:18.384" v="163" actId="207"/>
          <ac:spMkLst>
            <pc:docMk/>
            <pc:sldMk cId="0" sldId="257"/>
            <ac:spMk id="24" creationId="{00000000-0000-0000-0000-000000000000}"/>
          </ac:spMkLst>
        </pc:spChg>
        <pc:spChg chg="mod">
          <ac:chgData name="Helen Nguyen" userId="1112739b-77dc-448a-8744-257d55cee90b" providerId="ADAL" clId="{194E4A13-58D5-5498-AEFF-E6FC041D81F5}" dt="2026-05-04T15:04:22.377" v="164" actId="20577"/>
          <ac:spMkLst>
            <pc:docMk/>
            <pc:sldMk cId="0" sldId="257"/>
            <ac:spMk id="25" creationId="{00000000-0000-0000-0000-000000000000}"/>
          </ac:spMkLst>
        </pc:spChg>
        <pc:spChg chg="mod">
          <ac:chgData name="Helen Nguyen" userId="1112739b-77dc-448a-8744-257d55cee90b" providerId="ADAL" clId="{194E4A13-58D5-5498-AEFF-E6FC041D81F5}" dt="2026-05-02T21:54:57.117" v="68" actId="20577"/>
          <ac:spMkLst>
            <pc:docMk/>
            <pc:sldMk cId="0" sldId="257"/>
            <ac:spMk id="27" creationId="{00000000-0000-0000-0000-000000000000}"/>
          </ac:spMkLst>
        </pc:spChg>
        <pc:spChg chg="mod">
          <ac:chgData name="Helen Nguyen" userId="1112739b-77dc-448a-8744-257d55cee90b" providerId="ADAL" clId="{194E4A13-58D5-5498-AEFF-E6FC041D81F5}" dt="2026-05-04T15:05:59.412" v="181" actId="207"/>
          <ac:spMkLst>
            <pc:docMk/>
            <pc:sldMk cId="0" sldId="257"/>
            <ac:spMk id="29" creationId="{00000000-0000-0000-0000-000000000000}"/>
          </ac:spMkLst>
        </pc:spChg>
        <pc:spChg chg="mod">
          <ac:chgData name="Helen Nguyen" userId="1112739b-77dc-448a-8744-257d55cee90b" providerId="ADAL" clId="{194E4A13-58D5-5498-AEFF-E6FC041D81F5}" dt="2026-05-04T15:06:04.594" v="182" actId="20577"/>
          <ac:spMkLst>
            <pc:docMk/>
            <pc:sldMk cId="0" sldId="257"/>
            <ac:spMk id="30" creationId="{00000000-0000-0000-0000-000000000000}"/>
          </ac:spMkLst>
        </pc:spChg>
        <pc:spChg chg="mod">
          <ac:chgData name="Helen Nguyen" userId="1112739b-77dc-448a-8744-257d55cee90b" providerId="ADAL" clId="{194E4A13-58D5-5498-AEFF-E6FC041D81F5}" dt="2026-05-02T21:55:04.125" v="86" actId="20577"/>
          <ac:spMkLst>
            <pc:docMk/>
            <pc:sldMk cId="0" sldId="257"/>
            <ac:spMk id="32" creationId="{00000000-0000-0000-0000-000000000000}"/>
          </ac:spMkLst>
        </pc:spChg>
        <pc:spChg chg="mod">
          <ac:chgData name="Helen Nguyen" userId="1112739b-77dc-448a-8744-257d55cee90b" providerId="ADAL" clId="{194E4A13-58D5-5498-AEFF-E6FC041D81F5}" dt="2026-05-04T15:05:35.712" v="179" actId="207"/>
          <ac:spMkLst>
            <pc:docMk/>
            <pc:sldMk cId="0" sldId="257"/>
            <ac:spMk id="34" creationId="{00000000-0000-0000-0000-000000000000}"/>
          </ac:spMkLst>
        </pc:spChg>
        <pc:spChg chg="del mod modCrop">
          <ac:chgData name="Helen Nguyen" userId="1112739b-77dc-448a-8744-257d55cee90b" providerId="ADAL" clId="{194E4A13-58D5-5498-AEFF-E6FC041D81F5}" dt="2026-05-04T15:05:28.600" v="177" actId="21"/>
          <ac:spMkLst>
            <pc:docMk/>
            <pc:sldMk cId="0" sldId="257"/>
            <ac:spMk id="35" creationId="{00000000-0000-0000-0000-000000000000}"/>
          </ac:spMkLst>
        </pc:spChg>
        <pc:spChg chg="mod">
          <ac:chgData name="Helen Nguyen" userId="1112739b-77dc-448a-8744-257d55cee90b" providerId="ADAL" clId="{194E4A13-58D5-5498-AEFF-E6FC041D81F5}" dt="2026-05-02T21:55:09.197" v="100" actId="20577"/>
          <ac:spMkLst>
            <pc:docMk/>
            <pc:sldMk cId="0" sldId="257"/>
            <ac:spMk id="37" creationId="{00000000-0000-0000-0000-000000000000}"/>
          </ac:spMkLst>
        </pc:spChg>
        <pc:picChg chg="add del mod">
          <ac:chgData name="Helen Nguyen" userId="1112739b-77dc-448a-8744-257d55cee90b" providerId="ADAL" clId="{194E4A13-58D5-5498-AEFF-E6FC041D81F5}" dt="2026-05-04T15:00:05.277" v="148" actId="21"/>
          <ac:picMkLst>
            <pc:docMk/>
            <pc:sldMk cId="0" sldId="257"/>
            <ac:picMk id="40" creationId="{EFDC6386-FF97-B524-CBBC-1C2E35EB13F4}"/>
          </ac:picMkLst>
        </pc:picChg>
        <pc:picChg chg="add del mod">
          <ac:chgData name="Helen Nguyen" userId="1112739b-77dc-448a-8744-257d55cee90b" providerId="ADAL" clId="{194E4A13-58D5-5498-AEFF-E6FC041D81F5}" dt="2026-05-04T15:00:21.670" v="158" actId="21"/>
          <ac:picMkLst>
            <pc:docMk/>
            <pc:sldMk cId="0" sldId="257"/>
            <ac:picMk id="41" creationId="{35579BD6-D0D0-6E45-FFDB-D92B6B40F17E}"/>
          </ac:picMkLst>
        </pc:picChg>
        <pc:picChg chg="add mod">
          <ac:chgData name="Helen Nguyen" userId="1112739b-77dc-448a-8744-257d55cee90b" providerId="ADAL" clId="{194E4A13-58D5-5498-AEFF-E6FC041D81F5}" dt="2026-05-04T15:00:18.532" v="155" actId="1076"/>
          <ac:picMkLst>
            <pc:docMk/>
            <pc:sldMk cId="0" sldId="257"/>
            <ac:picMk id="42" creationId="{3E67B904-6F6B-105B-2658-E3EE2F8EA5F9}"/>
          </ac:picMkLst>
        </pc:picChg>
      </pc:sldChg>
      <pc:sldChg chg="delSp mod">
        <pc:chgData name="Helen Nguyen" userId="1112739b-77dc-448a-8744-257d55cee90b" providerId="ADAL" clId="{194E4A13-58D5-5498-AEFF-E6FC041D81F5}" dt="2026-05-04T15:06:29.844" v="185" actId="478"/>
        <pc:sldMkLst>
          <pc:docMk/>
          <pc:sldMk cId="0" sldId="258"/>
        </pc:sldMkLst>
        <pc:spChg chg="del">
          <ac:chgData name="Helen Nguyen" userId="1112739b-77dc-448a-8744-257d55cee90b" providerId="ADAL" clId="{194E4A13-58D5-5498-AEFF-E6FC041D81F5}" dt="2026-05-04T15:06:29.844" v="185" actId="478"/>
          <ac:spMkLst>
            <pc:docMk/>
            <pc:sldMk cId="0" sldId="258"/>
            <ac:spMk id="30" creationId="{00000000-0000-0000-0000-000000000000}"/>
          </ac:spMkLst>
        </pc:spChg>
      </pc:sldChg>
      <pc:sldChg chg="modSp mod modNotesTx">
        <pc:chgData name="Helen Nguyen" userId="1112739b-77dc-448a-8744-257d55cee90b" providerId="ADAL" clId="{194E4A13-58D5-5498-AEFF-E6FC041D81F5}" dt="2026-05-04T16:19:54.707" v="209" actId="20577"/>
        <pc:sldMkLst>
          <pc:docMk/>
          <pc:sldMk cId="0" sldId="260"/>
        </pc:sldMkLst>
        <pc:spChg chg="mod">
          <ac:chgData name="Helen Nguyen" userId="1112739b-77dc-448a-8744-257d55cee90b" providerId="ADAL" clId="{194E4A13-58D5-5498-AEFF-E6FC041D81F5}" dt="2026-05-04T15:06:23.073" v="184" actId="20577"/>
          <ac:spMkLst>
            <pc:docMk/>
            <pc:sldMk cId="0" sldId="260"/>
            <ac:spMk id="38" creationId="{00000000-0000-0000-0000-000000000000}"/>
          </ac:spMkLst>
        </pc:spChg>
      </pc:sldChg>
      <pc:sldChg chg="modSp mod">
        <pc:chgData name="Helen Nguyen" userId="1112739b-77dc-448a-8744-257d55cee90b" providerId="ADAL" clId="{194E4A13-58D5-5498-AEFF-E6FC041D81F5}" dt="2026-05-04T15:06:38.107" v="186" actId="20577"/>
        <pc:sldMkLst>
          <pc:docMk/>
          <pc:sldMk cId="0" sldId="264"/>
        </pc:sldMkLst>
        <pc:spChg chg="mod">
          <ac:chgData name="Helen Nguyen" userId="1112739b-77dc-448a-8744-257d55cee90b" providerId="ADAL" clId="{194E4A13-58D5-5498-AEFF-E6FC041D81F5}" dt="2026-05-04T15:06:38.107" v="186" actId="20577"/>
          <ac:spMkLst>
            <pc:docMk/>
            <pc:sldMk cId="0" sldId="264"/>
            <ac:spMk id="39" creationId="{00000000-0000-0000-0000-000000000000}"/>
          </ac:spMkLst>
        </pc:spChg>
      </pc:sldChg>
      <pc:sldChg chg="addSp delSp modSp mod">
        <pc:chgData name="Helen Nguyen" userId="1112739b-77dc-448a-8744-257d55cee90b" providerId="ADAL" clId="{194E4A13-58D5-5498-AEFF-E6FC041D81F5}" dt="2026-05-04T15:06:53.105" v="189" actId="20577"/>
        <pc:sldMkLst>
          <pc:docMk/>
          <pc:sldMk cId="0" sldId="266"/>
        </pc:sldMkLst>
        <pc:spChg chg="mod">
          <ac:chgData name="Helen Nguyen" userId="1112739b-77dc-448a-8744-257d55cee90b" providerId="ADAL" clId="{194E4A13-58D5-5498-AEFF-E6FC041D81F5}" dt="2026-05-04T15:06:53.105" v="189" actId="20577"/>
          <ac:spMkLst>
            <pc:docMk/>
            <pc:sldMk cId="0" sldId="266"/>
            <ac:spMk id="36" creationId="{00000000-0000-0000-0000-000000000000}"/>
          </ac:spMkLst>
        </pc:spChg>
      </pc:sldChg>
      <pc:sldChg chg="mod modShow">
        <pc:chgData name="Helen Nguyen" userId="1112739b-77dc-448a-8744-257d55cee90b" providerId="ADAL" clId="{194E4A13-58D5-5498-AEFF-E6FC041D81F5}" dt="2026-05-03T23:00:22.047" v="135" actId="729"/>
        <pc:sldMkLst>
          <pc:docMk/>
          <pc:sldMk cId="0" sldId="268"/>
        </pc:sldMkLst>
      </pc:sldChg>
      <pc:sldChg chg="mod modShow">
        <pc:chgData name="Helen Nguyen" userId="1112739b-77dc-448a-8744-257d55cee90b" providerId="ADAL" clId="{194E4A13-58D5-5498-AEFF-E6FC041D81F5}" dt="2026-05-03T23:00:16.244" v="134" actId="729"/>
        <pc:sldMkLst>
          <pc:docMk/>
          <pc:sldMk cId="0" sldId="269"/>
        </pc:sldMkLst>
      </pc:sldChg>
      <pc:sldChg chg="mod modShow">
        <pc:chgData name="Helen Nguyen" userId="1112739b-77dc-448a-8744-257d55cee90b" providerId="ADAL" clId="{194E4A13-58D5-5498-AEFF-E6FC041D81F5}" dt="2026-05-02T22:43:12.164" v="131" actId="729"/>
        <pc:sldMkLst>
          <pc:docMk/>
          <pc:sldMk cId="0" sldId="270"/>
        </pc:sldMkLst>
      </pc:sldChg>
      <pc:sldChg chg="mod modShow">
        <pc:chgData name="Helen Nguyen" userId="1112739b-77dc-448a-8744-257d55cee90b" providerId="ADAL" clId="{194E4A13-58D5-5498-AEFF-E6FC041D81F5}" dt="2026-05-02T22:43:07.323" v="130" actId="729"/>
        <pc:sldMkLst>
          <pc:docMk/>
          <pc:sldMk cId="0" sldId="271"/>
        </pc:sldMkLst>
      </pc:sldChg>
      <pc:sldChg chg="mod modShow">
        <pc:chgData name="Helen Nguyen" userId="1112739b-77dc-448a-8744-257d55cee90b" providerId="ADAL" clId="{194E4A13-58D5-5498-AEFF-E6FC041D81F5}" dt="2026-05-02T22:43:50.582" v="133" actId="729"/>
        <pc:sldMkLst>
          <pc:docMk/>
          <pc:sldMk cId="0" sldId="273"/>
        </pc:sldMkLst>
      </pc:sldChg>
      <pc:sldChg chg="modNotesTx">
        <pc:chgData name="Helen Nguyen" userId="1112739b-77dc-448a-8744-257d55cee90b" providerId="ADAL" clId="{194E4A13-58D5-5498-AEFF-E6FC041D81F5}" dt="2026-05-04T16:05:01.494" v="208" actId="20577"/>
        <pc:sldMkLst>
          <pc:docMk/>
          <pc:sldMk cId="0" sldId="274"/>
        </pc:sldMkLst>
      </pc:sldChg>
      <pc:sldChg chg="delSp mod">
        <pc:chgData name="Helen Nguyen" userId="1112739b-77dc-448a-8744-257d55cee90b" providerId="ADAL" clId="{194E4A13-58D5-5498-AEFF-E6FC041D81F5}" dt="2026-05-04T15:07:23.316" v="198" actId="478"/>
        <pc:sldMkLst>
          <pc:docMk/>
          <pc:sldMk cId="0" sldId="275"/>
        </pc:sldMkLst>
        <pc:spChg chg="del">
          <ac:chgData name="Helen Nguyen" userId="1112739b-77dc-448a-8744-257d55cee90b" providerId="ADAL" clId="{194E4A13-58D5-5498-AEFF-E6FC041D81F5}" dt="2026-05-04T15:07:23.316" v="198" actId="478"/>
          <ac:spMkLst>
            <pc:docMk/>
            <pc:sldMk cId="0" sldId="275"/>
            <ac:spMk id="30" creationId="{00000000-0000-0000-0000-000000000000}"/>
          </ac:spMkLst>
        </pc:spChg>
      </pc:sldChg>
      <pc:sldChg chg="addSp delSp modSp add mod">
        <pc:chgData name="Helen Nguyen" userId="1112739b-77dc-448a-8744-257d55cee90b" providerId="ADAL" clId="{194E4A13-58D5-5498-AEFF-E6FC041D81F5}" dt="2026-05-04T15:06:44.909" v="187" actId="20577"/>
        <pc:sldMkLst>
          <pc:docMk/>
          <pc:sldMk cId="0" sldId="280"/>
        </pc:sldMkLst>
        <pc:spChg chg="add del">
          <ac:chgData name="Helen Nguyen" userId="1112739b-77dc-448a-8744-257d55cee90b" providerId="ADAL" clId="{194E4A13-58D5-5498-AEFF-E6FC041D81F5}" dt="2026-05-02T22:14:41.651" v="109" actId="478"/>
          <ac:spMkLst>
            <pc:docMk/>
            <pc:sldMk cId="0" sldId="280"/>
            <ac:spMk id="55" creationId="{00000000-0000-0000-0000-000000000000}"/>
          </ac:spMkLst>
        </pc:spChg>
        <pc:spChg chg="mod">
          <ac:chgData name="Helen Nguyen" userId="1112739b-77dc-448a-8744-257d55cee90b" providerId="ADAL" clId="{194E4A13-58D5-5498-AEFF-E6FC041D81F5}" dt="2026-05-04T15:06:44.909" v="187" actId="20577"/>
          <ac:spMkLst>
            <pc:docMk/>
            <pc:sldMk cId="0" sldId="280"/>
            <ac:spMk id="61" creationId="{00000000-0000-0000-0000-000000000000}"/>
          </ac:spMkLst>
        </pc:spChg>
      </pc:sldChg>
      <pc:sldChg chg="add mod modShow">
        <pc:chgData name="Helen Nguyen" userId="1112739b-77dc-448a-8744-257d55cee90b" providerId="ADAL" clId="{194E4A13-58D5-5498-AEFF-E6FC041D81F5}" dt="2026-05-04T14:42:27.158" v="141" actId="729"/>
        <pc:sldMkLst>
          <pc:docMk/>
          <pc:sldMk cId="0" sldId="282"/>
        </pc:sldMkLst>
      </pc:sldChg>
      <pc:sldChg chg="add mod modShow">
        <pc:chgData name="Helen Nguyen" userId="1112739b-77dc-448a-8744-257d55cee90b" providerId="ADAL" clId="{194E4A13-58D5-5498-AEFF-E6FC041D81F5}" dt="2026-05-04T14:41:21.562" v="139" actId="729"/>
        <pc:sldMkLst>
          <pc:docMk/>
          <pc:sldMk cId="0" sldId="284"/>
        </pc:sldMkLst>
      </pc:sldChg>
      <pc:sldChg chg="modSp add mod">
        <pc:chgData name="Helen Nguyen" userId="1112739b-77dc-448a-8744-257d55cee90b" providerId="ADAL" clId="{194E4A13-58D5-5498-AEFF-E6FC041D81F5}" dt="2026-05-04T15:06:48.669" v="188" actId="20577"/>
        <pc:sldMkLst>
          <pc:docMk/>
          <pc:sldMk cId="0" sldId="285"/>
        </pc:sldMkLst>
        <pc:spChg chg="mod">
          <ac:chgData name="Helen Nguyen" userId="1112739b-77dc-448a-8744-257d55cee90b" providerId="ADAL" clId="{194E4A13-58D5-5498-AEFF-E6FC041D81F5}" dt="2026-05-04T15:06:48.669" v="188" actId="20577"/>
          <ac:spMkLst>
            <pc:docMk/>
            <pc:sldMk cId="0" sldId="285"/>
            <ac:spMk id="44" creationId="{00000000-0000-0000-0000-000000000000}"/>
          </ac:spMkLst>
        </pc:spChg>
      </pc:sldChg>
      <pc:sldChg chg="add del mod setBg modShow">
        <pc:chgData name="Helen Nguyen" userId="1112739b-77dc-448a-8744-257d55cee90b" providerId="ADAL" clId="{194E4A13-58D5-5498-AEFF-E6FC041D81F5}" dt="2026-05-04T14:41:36.689" v="140" actId="729"/>
        <pc:sldMkLst>
          <pc:docMk/>
          <pc:sldMk cId="0" sldId="286"/>
        </pc:sldMkLst>
      </pc:sldChg>
      <pc:sldChg chg="modSp add mod">
        <pc:chgData name="Helen Nguyen" userId="1112739b-77dc-448a-8744-257d55cee90b" providerId="ADAL" clId="{194E4A13-58D5-5498-AEFF-E6FC041D81F5}" dt="2026-05-04T15:06:17.927" v="183" actId="20577"/>
        <pc:sldMkLst>
          <pc:docMk/>
          <pc:sldMk cId="0" sldId="287"/>
        </pc:sldMkLst>
        <pc:spChg chg="mod">
          <ac:chgData name="Helen Nguyen" userId="1112739b-77dc-448a-8744-257d55cee90b" providerId="ADAL" clId="{194E4A13-58D5-5498-AEFF-E6FC041D81F5}" dt="2026-05-04T15:06:17.927" v="183" actId="20577"/>
          <ac:spMkLst>
            <pc:docMk/>
            <pc:sldMk cId="0" sldId="287"/>
            <ac:spMk id="33" creationId="{00000000-0000-0000-0000-000000000000}"/>
          </ac:spMkLst>
        </pc:spChg>
      </pc:sldChg>
      <pc:sldChg chg="delSp add mod">
        <pc:chgData name="Helen Nguyen" userId="1112739b-77dc-448a-8744-257d55cee90b" providerId="ADAL" clId="{194E4A13-58D5-5498-AEFF-E6FC041D81F5}" dt="2026-05-04T15:07:04.255" v="193" actId="478"/>
        <pc:sldMkLst>
          <pc:docMk/>
          <pc:sldMk cId="0" sldId="288"/>
        </pc:sldMkLst>
        <pc:spChg chg="del">
          <ac:chgData name="Helen Nguyen" userId="1112739b-77dc-448a-8744-257d55cee90b" providerId="ADAL" clId="{194E4A13-58D5-5498-AEFF-E6FC041D81F5}" dt="2026-05-04T15:07:04.255" v="193" actId="478"/>
          <ac:spMkLst>
            <pc:docMk/>
            <pc:sldMk cId="0" sldId="288"/>
            <ac:spMk id="36" creationId="{00000000-0000-0000-0000-000000000000}"/>
          </ac:spMkLst>
        </pc:spChg>
      </pc:sldChg>
      <pc:sldChg chg="delSp add mod">
        <pc:chgData name="Helen Nguyen" userId="1112739b-77dc-448a-8744-257d55cee90b" providerId="ADAL" clId="{194E4A13-58D5-5498-AEFF-E6FC041D81F5}" dt="2026-05-04T15:07:07.478" v="194" actId="478"/>
        <pc:sldMkLst>
          <pc:docMk/>
          <pc:sldMk cId="0" sldId="289"/>
        </pc:sldMkLst>
        <pc:spChg chg="del">
          <ac:chgData name="Helen Nguyen" userId="1112739b-77dc-448a-8744-257d55cee90b" providerId="ADAL" clId="{194E4A13-58D5-5498-AEFF-E6FC041D81F5}" dt="2026-05-04T15:07:07.478" v="194" actId="478"/>
          <ac:spMkLst>
            <pc:docMk/>
            <pc:sldMk cId="0" sldId="289"/>
            <ac:spMk id="34" creationId="{00000000-0000-0000-0000-000000000000}"/>
          </ac:spMkLst>
        </pc:spChg>
      </pc:sldChg>
      <pc:sldChg chg="delSp add mod">
        <pc:chgData name="Helen Nguyen" userId="1112739b-77dc-448a-8744-257d55cee90b" providerId="ADAL" clId="{194E4A13-58D5-5498-AEFF-E6FC041D81F5}" dt="2026-05-04T15:07:11.526" v="195" actId="478"/>
        <pc:sldMkLst>
          <pc:docMk/>
          <pc:sldMk cId="0" sldId="290"/>
        </pc:sldMkLst>
        <pc:spChg chg="del">
          <ac:chgData name="Helen Nguyen" userId="1112739b-77dc-448a-8744-257d55cee90b" providerId="ADAL" clId="{194E4A13-58D5-5498-AEFF-E6FC041D81F5}" dt="2026-05-04T15:07:11.526" v="195" actId="478"/>
          <ac:spMkLst>
            <pc:docMk/>
            <pc:sldMk cId="0" sldId="290"/>
            <ac:spMk id="39" creationId="{00000000-0000-0000-0000-000000000000}"/>
          </ac:spMkLst>
        </pc:spChg>
      </pc:sldChg>
      <pc:sldChg chg="delSp add mod">
        <pc:chgData name="Helen Nguyen" userId="1112739b-77dc-448a-8744-257d55cee90b" providerId="ADAL" clId="{194E4A13-58D5-5498-AEFF-E6FC041D81F5}" dt="2026-05-04T15:07:14.780" v="196" actId="478"/>
        <pc:sldMkLst>
          <pc:docMk/>
          <pc:sldMk cId="0" sldId="291"/>
        </pc:sldMkLst>
        <pc:spChg chg="del">
          <ac:chgData name="Helen Nguyen" userId="1112739b-77dc-448a-8744-257d55cee90b" providerId="ADAL" clId="{194E4A13-58D5-5498-AEFF-E6FC041D81F5}" dt="2026-05-04T15:07:14.780" v="196" actId="478"/>
          <ac:spMkLst>
            <pc:docMk/>
            <pc:sldMk cId="0" sldId="291"/>
            <ac:spMk id="51" creationId="{00000000-0000-0000-0000-000000000000}"/>
          </ac:spMkLst>
        </pc:spChg>
      </pc:sldChg>
      <pc:sldChg chg="delSp add mod modNotesTx">
        <pc:chgData name="Helen Nguyen" userId="1112739b-77dc-448a-8744-257d55cee90b" providerId="ADAL" clId="{194E4A13-58D5-5498-AEFF-E6FC041D81F5}" dt="2026-05-04T16:04:54.947" v="206" actId="20577"/>
        <pc:sldMkLst>
          <pc:docMk/>
          <pc:sldMk cId="0" sldId="292"/>
        </pc:sldMkLst>
        <pc:spChg chg="del">
          <ac:chgData name="Helen Nguyen" userId="1112739b-77dc-448a-8744-257d55cee90b" providerId="ADAL" clId="{194E4A13-58D5-5498-AEFF-E6FC041D81F5}" dt="2026-05-04T15:07:18.951" v="197" actId="478"/>
          <ac:spMkLst>
            <pc:docMk/>
            <pc:sldMk cId="0" sldId="292"/>
            <ac:spMk id="15" creationId="{00000000-0000-0000-0000-000000000000}"/>
          </ac:spMkLst>
        </pc:spChg>
      </pc:sldChg>
      <pc:sldChg chg="new del">
        <pc:chgData name="Helen Nguyen" userId="1112739b-77dc-448a-8744-257d55cee90b" providerId="ADAL" clId="{194E4A13-58D5-5498-AEFF-E6FC041D81F5}" dt="2026-05-04T14:40:58.893" v="138" actId="2696"/>
        <pc:sldMkLst>
          <pc:docMk/>
          <pc:sldMk cId="2887596007" sldId="293"/>
        </pc:sldMkLst>
      </pc:sldChg>
      <pc:sldChg chg="delSp add del mod setBg">
        <pc:chgData name="Helen Nguyen" userId="1112739b-77dc-448a-8744-257d55cee90b" providerId="ADAL" clId="{194E4A13-58D5-5498-AEFF-E6FC041D81F5}" dt="2026-05-04T15:07:26.928" v="199" actId="478"/>
        <pc:sldMkLst>
          <pc:docMk/>
          <pc:sldMk cId="0" sldId="294"/>
        </pc:sldMkLst>
        <pc:spChg chg="del">
          <ac:chgData name="Helen Nguyen" userId="1112739b-77dc-448a-8744-257d55cee90b" providerId="ADAL" clId="{194E4A13-58D5-5498-AEFF-E6FC041D81F5}" dt="2026-05-04T15:07:26.928" v="199" actId="478"/>
          <ac:spMkLst>
            <pc:docMk/>
            <pc:sldMk cId="0" sldId="294"/>
            <ac:spMk id="36" creationId="{00000000-0000-0000-0000-000000000000}"/>
          </ac:spMkLst>
        </pc:spChg>
      </pc:sldChg>
      <pc:sldChg chg="addSp delSp add mod">
        <pc:chgData name="Helen Nguyen" userId="1112739b-77dc-448a-8744-257d55cee90b" providerId="ADAL" clId="{194E4A13-58D5-5498-AEFF-E6FC041D81F5}" dt="2026-05-04T15:06:59.003" v="192" actId="478"/>
        <pc:sldMkLst>
          <pc:docMk/>
          <pc:sldMk cId="1536956798" sldId="295"/>
        </pc:sldMkLst>
        <pc:spChg chg="add del">
          <ac:chgData name="Helen Nguyen" userId="1112739b-77dc-448a-8744-257d55cee90b" providerId="ADAL" clId="{194E4A13-58D5-5498-AEFF-E6FC041D81F5}" dt="2026-05-04T15:06:56.989" v="191" actId="478"/>
          <ac:spMkLst>
            <pc:docMk/>
            <pc:sldMk cId="1536956798" sldId="295"/>
            <ac:spMk id="2" creationId="{E7E63701-8948-3EE4-B091-6F1A0CBFC087}"/>
          </ac:spMkLst>
        </pc:spChg>
        <pc:spChg chg="add del">
          <ac:chgData name="Helen Nguyen" userId="1112739b-77dc-448a-8744-257d55cee90b" providerId="ADAL" clId="{194E4A13-58D5-5498-AEFF-E6FC041D81F5}" dt="2026-05-04T15:06:56.989" v="191" actId="478"/>
          <ac:spMkLst>
            <pc:docMk/>
            <pc:sldMk cId="1536956798" sldId="295"/>
            <ac:spMk id="3" creationId="{031449D8-C7E7-420B-7C74-B1DB56C28117}"/>
          </ac:spMkLst>
        </pc:spChg>
        <pc:spChg chg="add del">
          <ac:chgData name="Helen Nguyen" userId="1112739b-77dc-448a-8744-257d55cee90b" providerId="ADAL" clId="{194E4A13-58D5-5498-AEFF-E6FC041D81F5}" dt="2026-05-04T15:06:56.989" v="191" actId="478"/>
          <ac:spMkLst>
            <pc:docMk/>
            <pc:sldMk cId="1536956798" sldId="295"/>
            <ac:spMk id="4" creationId="{11F86C75-A4DF-10BB-DC51-6A51A26F4B33}"/>
          </ac:spMkLst>
        </pc:spChg>
        <pc:spChg chg="add del">
          <ac:chgData name="Helen Nguyen" userId="1112739b-77dc-448a-8744-257d55cee90b" providerId="ADAL" clId="{194E4A13-58D5-5498-AEFF-E6FC041D81F5}" dt="2026-05-04T15:06:56.989" v="191" actId="478"/>
          <ac:spMkLst>
            <pc:docMk/>
            <pc:sldMk cId="1536956798" sldId="295"/>
            <ac:spMk id="5" creationId="{B8A75D79-8C75-3086-548B-155C1B72C3BB}"/>
          </ac:spMkLst>
        </pc:spChg>
        <pc:spChg chg="add del">
          <ac:chgData name="Helen Nguyen" userId="1112739b-77dc-448a-8744-257d55cee90b" providerId="ADAL" clId="{194E4A13-58D5-5498-AEFF-E6FC041D81F5}" dt="2026-05-04T15:06:56.989" v="191" actId="478"/>
          <ac:spMkLst>
            <pc:docMk/>
            <pc:sldMk cId="1536956798" sldId="295"/>
            <ac:spMk id="6" creationId="{C6C0ACE7-660B-3685-040B-EF117D0DE3E4}"/>
          </ac:spMkLst>
        </pc:spChg>
        <pc:spChg chg="add del">
          <ac:chgData name="Helen Nguyen" userId="1112739b-77dc-448a-8744-257d55cee90b" providerId="ADAL" clId="{194E4A13-58D5-5498-AEFF-E6FC041D81F5}" dt="2026-05-04T15:06:56.989" v="191" actId="478"/>
          <ac:spMkLst>
            <pc:docMk/>
            <pc:sldMk cId="1536956798" sldId="295"/>
            <ac:spMk id="7" creationId="{C4A641FE-7C83-AD3B-8CFE-8F4A2BC4B83D}"/>
          </ac:spMkLst>
        </pc:spChg>
        <pc:spChg chg="add del">
          <ac:chgData name="Helen Nguyen" userId="1112739b-77dc-448a-8744-257d55cee90b" providerId="ADAL" clId="{194E4A13-58D5-5498-AEFF-E6FC041D81F5}" dt="2026-05-04T15:06:56.989" v="191" actId="478"/>
          <ac:spMkLst>
            <pc:docMk/>
            <pc:sldMk cId="1536956798" sldId="295"/>
            <ac:spMk id="8" creationId="{9FE480AA-8BB7-48A8-6BE5-56CCDCB9425D}"/>
          </ac:spMkLst>
        </pc:spChg>
        <pc:spChg chg="add del">
          <ac:chgData name="Helen Nguyen" userId="1112739b-77dc-448a-8744-257d55cee90b" providerId="ADAL" clId="{194E4A13-58D5-5498-AEFF-E6FC041D81F5}" dt="2026-05-04T15:06:56.989" v="191" actId="478"/>
          <ac:spMkLst>
            <pc:docMk/>
            <pc:sldMk cId="1536956798" sldId="295"/>
            <ac:spMk id="9" creationId="{B42E985E-1796-AE94-2989-2A39EDD5A301}"/>
          </ac:spMkLst>
        </pc:spChg>
        <pc:spChg chg="add del">
          <ac:chgData name="Helen Nguyen" userId="1112739b-77dc-448a-8744-257d55cee90b" providerId="ADAL" clId="{194E4A13-58D5-5498-AEFF-E6FC041D81F5}" dt="2026-05-04T15:06:56.989" v="191" actId="478"/>
          <ac:spMkLst>
            <pc:docMk/>
            <pc:sldMk cId="1536956798" sldId="295"/>
            <ac:spMk id="10" creationId="{2684F259-C4C0-AAE0-FAB2-9A1FBF773BAC}"/>
          </ac:spMkLst>
        </pc:spChg>
        <pc:spChg chg="add del">
          <ac:chgData name="Helen Nguyen" userId="1112739b-77dc-448a-8744-257d55cee90b" providerId="ADAL" clId="{194E4A13-58D5-5498-AEFF-E6FC041D81F5}" dt="2026-05-04T15:06:56.989" v="191" actId="478"/>
          <ac:spMkLst>
            <pc:docMk/>
            <pc:sldMk cId="1536956798" sldId="295"/>
            <ac:spMk id="11" creationId="{81337BED-E7C7-BA82-CEDC-060B71DEEAC9}"/>
          </ac:spMkLst>
        </pc:spChg>
        <pc:spChg chg="del">
          <ac:chgData name="Helen Nguyen" userId="1112739b-77dc-448a-8744-257d55cee90b" providerId="ADAL" clId="{194E4A13-58D5-5498-AEFF-E6FC041D81F5}" dt="2026-05-04T15:06:59.003" v="192" actId="478"/>
          <ac:spMkLst>
            <pc:docMk/>
            <pc:sldMk cId="1536956798" sldId="295"/>
            <ac:spMk id="20" creationId="{12CF136D-2D95-F876-6F21-4B56E4006076}"/>
          </ac:spMkLst>
        </pc:spChg>
      </pc:sldChg>
    </pc:docChg>
  </pc:docChgLst>
</pc:chgInfo>
</file>

<file path=ppt/comments/modernComment_11F_0.xml><?xml version="1.0" encoding="utf-8"?>
<p188:cmLst xmlns:a="http://schemas.openxmlformats.org/drawingml/2006/main" xmlns:r="http://schemas.openxmlformats.org/officeDocument/2006/relationships" xmlns:p188="http://schemas.microsoft.com/office/powerpoint/2018/8/main">
  <p188:cm id="{2A722BC9-B5D5-6842-815F-845742818217}" authorId="{38FFA44F-F2CB-31E9-D638-FA3346F2E98C}" created="2026-05-03T23:01:18.295">
    <pc:sldMkLst xmlns:pc="http://schemas.microsoft.com/office/powerpoint/2013/main/command">
      <pc:docMk/>
      <pc:sldMk cId="0" sldId="287"/>
    </pc:sldMkLst>
    <p188:txBody>
      <a:bodyPr/>
      <a:lstStyle/>
      <a:p>
        <a:r>
          <a:rPr lang="en-US"/>
          <a:t>Helen</a:t>
        </a:r>
      </a:p>
    </p188:txBody>
  </p188:cm>
</p188:cmLst>
</file>

<file path=ppt/comments/modernComment_100_0.xml><?xml version="1.0" encoding="utf-8"?>
<p188:cmLst xmlns:a="http://schemas.openxmlformats.org/drawingml/2006/main" xmlns:r="http://schemas.openxmlformats.org/officeDocument/2006/relationships" xmlns:p188="http://schemas.microsoft.com/office/powerpoint/2018/8/main">
  <p188:cm id="{349A8214-32CA-2E44-9568-1BCC67211496}" authorId="{38FFA44F-F2CB-31E9-D638-FA3346F2E98C}" created="2026-05-03T22:59:15.802">
    <pc:sldMkLst xmlns:pc="http://schemas.microsoft.com/office/powerpoint/2013/main/command">
      <pc:docMk/>
      <pc:sldMk cId="0" sldId="256"/>
    </pc:sldMkLst>
    <p188:txBody>
      <a:bodyPr/>
      <a:lstStyle/>
      <a:p>
        <a:r>
          <a:rPr lang="en-US"/>
          <a:t>Helen</a:t>
        </a:r>
      </a:p>
    </p188:txBody>
  </p188:cm>
</p188:cmLst>
</file>

<file path=ppt/comments/modernComment_101_0.xml><?xml version="1.0" encoding="utf-8"?>
<p188:cmLst xmlns:a="http://schemas.openxmlformats.org/drawingml/2006/main" xmlns:r="http://schemas.openxmlformats.org/officeDocument/2006/relationships" xmlns:p188="http://schemas.microsoft.com/office/powerpoint/2018/8/main">
  <p188:cm id="{29D6E4B1-EBE2-7C49-B774-0C8AF101ACD2}" authorId="{38FFA44F-F2CB-31E9-D638-FA3346F2E98C}" created="2026-05-03T22:59:22.604">
    <pc:sldMkLst xmlns:pc="http://schemas.microsoft.com/office/powerpoint/2013/main/command">
      <pc:docMk/>
      <pc:sldMk cId="0" sldId="257"/>
    </pc:sldMkLst>
    <p188:txBody>
      <a:bodyPr/>
      <a:lstStyle/>
      <a:p>
        <a:r>
          <a:rPr lang="en-US"/>
          <a:t>Everyone</a:t>
        </a:r>
      </a:p>
    </p188:txBody>
  </p188:cm>
</p188:cmLst>
</file>

<file path=ppt/comments/modernComment_102_0.xml><?xml version="1.0" encoding="utf-8"?>
<p188:cmLst xmlns:a="http://schemas.openxmlformats.org/drawingml/2006/main" xmlns:r="http://schemas.openxmlformats.org/officeDocument/2006/relationships" xmlns:p188="http://schemas.microsoft.com/office/powerpoint/2018/8/main">
  <p188:cm id="{375B4131-B03B-DD41-AB26-BF67FAED7949}" authorId="{38FFA44F-F2CB-31E9-D638-FA3346F2E98C}" created="2026-05-03T22:59:33.436">
    <pc:sldMkLst xmlns:pc="http://schemas.microsoft.com/office/powerpoint/2013/main/command">
      <pc:docMk/>
      <pc:sldMk cId="0" sldId="258"/>
    </pc:sldMkLst>
    <p188:txBody>
      <a:bodyPr/>
      <a:lstStyle/>
      <a:p>
        <a:r>
          <a:rPr lang="en-US"/>
          <a:t>Helen</a:t>
        </a:r>
      </a:p>
    </p188:txBody>
  </p188:cm>
</p188:cmLst>
</file>

<file path=ppt/comments/modernComment_105_0.xml><?xml version="1.0" encoding="utf-8"?>
<p188:cmLst xmlns:a="http://schemas.openxmlformats.org/drawingml/2006/main" xmlns:r="http://schemas.openxmlformats.org/officeDocument/2006/relationships" xmlns:p188="http://schemas.microsoft.com/office/powerpoint/2018/8/main">
  <p188:cm id="{0A57993D-5ECA-6140-9FF1-DEDD73FD3750}" authorId="{38FFA44F-F2CB-31E9-D638-FA3346F2E98C}" created="2026-05-03T23:01:11.475">
    <pc:sldMkLst xmlns:pc="http://schemas.microsoft.com/office/powerpoint/2013/main/command">
      <pc:docMk/>
      <pc:sldMk cId="0" sldId="261"/>
    </pc:sldMkLst>
    <p188:txBody>
      <a:bodyPr/>
      <a:lstStyle/>
      <a:p>
        <a:r>
          <a:rPr lang="en-US"/>
          <a:t>Helen</a:t>
        </a:r>
      </a:p>
    </p188:txBody>
  </p188:cm>
</p188:cmLst>
</file>

<file path=ppt/comments/modernComment_110_0.xml><?xml version="1.0" encoding="utf-8"?>
<p188:cmLst xmlns:a="http://schemas.openxmlformats.org/drawingml/2006/main" xmlns:r="http://schemas.openxmlformats.org/officeDocument/2006/relationships" xmlns:p188="http://schemas.microsoft.com/office/powerpoint/2018/8/main">
  <p188:cm id="{A8014FBD-99B2-B140-832B-93FE243BED3B}" authorId="{38FFA44F-F2CB-31E9-D638-FA3346F2E98C}" created="2026-05-03T22:59:59.628">
    <pc:sldMkLst xmlns:pc="http://schemas.microsoft.com/office/powerpoint/2013/main/command">
      <pc:docMk/>
      <pc:sldMk cId="0" sldId="272"/>
    </pc:sldMkLst>
    <p188:txBody>
      <a:bodyPr/>
      <a:lstStyle/>
      <a:p>
        <a:r>
          <a:rPr lang="en-US"/>
          <a:t>Helen</a:t>
        </a:r>
      </a:p>
    </p188:txBody>
  </p188:cm>
</p188:cmLst>
</file>

<file path=ppt/comments/modernComment_124_0.xml><?xml version="1.0" encoding="utf-8"?>
<p188:cmLst xmlns:a="http://schemas.openxmlformats.org/drawingml/2006/main" xmlns:r="http://schemas.openxmlformats.org/officeDocument/2006/relationships" xmlns:p188="http://schemas.microsoft.com/office/powerpoint/2018/8/main">
  <p188:cm id="{31954996-337D-7F43-BF4E-EEBC84CB8CE6}" authorId="{38FFA44F-F2CB-31E9-D638-FA3346F2E98C}" created="2026-05-03T23:00:04.266">
    <pc:sldMkLst xmlns:pc="http://schemas.microsoft.com/office/powerpoint/2013/main/command">
      <pc:docMk/>
      <pc:sldMk cId="0" sldId="292"/>
    </pc:sldMkLst>
    <p188:txBody>
      <a:bodyPr/>
      <a:lstStyle/>
      <a:p>
        <a:r>
          <a:rPr lang="en-US"/>
          <a:t>Helen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397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 are Team Data Avengers, presenting our recommended big data pipeline for MediaWave Streaming. This engagement focused on a single objective: turn five disconnected data sources into a unified platform that surfaces actionable engagement and content insights. Over the next twelve minutes, we will walk through the problem we addressed, what the data revealed, our architecture, our recommendations, and the path to scale. Transition: Let us begin with our team.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brings five complementary perspectives to this engagement. Helen led project management and client communication. Quang owned the streaming architecture. Juan led infrastructure and data lake design. Aleksandr handled orchestration and quality assurance. Yusuke led the analytics work that produced our findings. Transition: We will now define the problem this engagement was scoped to solve.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we'll go. We'll start with the problem we set out to solve, share three headline findings, walk briefly through the architecture, then spend most of our time on the four insights and four actions. We'll close with a scaling path to ten and a hundred times today's volume.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Starting with the problem.</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MediaWave</a:t>
            </a:r>
            <a:r>
              <a:rPr lang="en-US" dirty="0"/>
              <a:t> has five primary data sources: user profiles, viewing history, content catalog, user interactions, and streaming quality. The issue isn't volume. It's that the most valuable business questions cross every one of these boundaries. Which titles cost more in licensing than they earn in viewing hours? Does buffering predict cancellation? Which engagement signals come before disengagement? None of these can be answered without joining all five sources. </a:t>
            </a:r>
            <a:r>
              <a:rPr lang="en-US" b="1" dirty="0" err="1"/>
              <a:t>MediaWave</a:t>
            </a:r>
            <a:r>
              <a:rPr lang="en-US" b="1" dirty="0"/>
              <a:t> is not data-poor - it is integration-poor.</a:t>
            </a:r>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we want to flag up front.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headline findings from the full dataset. First — content ROI: 73% of catalog cost sits in titles below the median ROI. The bottom decile alone drives $3.13 billion in license cost, with an 860-times variance between best and worst. Second — engagement: contrary to assumption, the spread across plan tiers is less than one percentage point. Subscription tier does not predict viewing behavior. Third — retention: churned users watch 42% fewer hours per month than retained users. Total engagement volume is the dominant churn precursor. </a:t>
            </a:r>
            <a:r>
              <a:rPr lang="en-US" b="1" dirty="0"/>
              <a:t>Two of these confirm what teams suspected. The engagement finding contradicts it.</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built this.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one command. Storage on HDFS with a three-zone lake — landing, curated, analytics. Transformation in </a:t>
            </a:r>
            <a:r>
              <a:rPr lang="en-US" dirty="0" err="1"/>
              <a:t>PySpark</a:t>
            </a:r>
            <a:r>
              <a:rPr lang="en-US" dirty="0"/>
              <a:t> — cleaning, three-way joins, aggregations. Streaming through Kafka with Spark Structured Streaming for real-time alerts. Orchestration in Apache Airflow with quality gates, retries, and idempotent re-runs. The whole stack — eleven services across four layers — boots in three minutes from a single docker compose command.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data moves. Five raw sources land immutably in HDFS. </a:t>
            </a:r>
            <a:r>
              <a:rPr lang="en-US" dirty="0" err="1"/>
              <a:t>PySpark</a:t>
            </a:r>
            <a:r>
              <a:rPr lang="en-US" dirty="0"/>
              <a:t> cleans and joins them into a curated zone — five to ten times compression, four times faster scans. From there we produce three analytics tables: monthly engagement, content performance, and streaming quality by region. Each one feeds a specific business decision: churn early-warning, content ROI review, CDN investment plan. The streaming path runs in parallel for real-time alerts. This is a Lambda architecture.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each technology against credible alternatives before commitment. For storage: HDFS over raw S3 because of native replication and a clear migration path; over local filesystem because local does not scale. For compute: PySpark over pandas because the same code that handles fifty million rows today scales to billions without rewrite. Polars is fast but bounded to a single node. For streaming: Kafka over Kinesis to avoid AWS lock-in; over RabbitMQ because Kafka's throughput ceiling is two orders of magnitude higher. For orchestration: Airflow over cron because retry, SLA, and DAG abstractions are first-class. Prefect was viable but the operational community is smaller. Each choice supports a clear path to managed cloud services when MediaWave commits to that transition.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defensible engineering decision in our pipeline lives in the join logic. Viewing-history is the central fact table. Content-catalog joins on content_id; user-profiles joins on user_id. Both are clean. The design challenge: streaming-quality has no session-level join key. If we joined at session level we would either drop most viewing rows or fabricate synthetic keys. Both compromise data integrity. Our solution: aggregate quality metrics to the user level — average buffering events, average bitrate, average latency — then join at user_id. This preserves every viewing event, attaches meaningful quality context, and produces one analytics-ready table that backs all four insights we present in section four. This is the kind of decision a CIO's data engineering review would expect to see documented. We can defend it.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on why Lambda. We considered Kappa, where everything runs through streaming. We rejected it because historical re-processing requires replaying the full event log, heavy aggregations are expensive in pure streaming, and analytics queries get more complex. </a:t>
            </a:r>
            <a:r>
              <a:rPr lang="en-US" dirty="0" err="1"/>
              <a:t>MediaWave</a:t>
            </a:r>
            <a:r>
              <a:rPr lang="en-US" dirty="0"/>
              <a:t> needs both batch correctness for ROI and churn analysis, and streaming latency for quality alerts. Lambda gives us both.</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in this pipeline is enforced at three distinct layers, each catching a different class of failure. Tier one is schema-level cleaning inside the Spark transformation. We filter null join keys, cap impossible duration values, clamp out-of-range completion percentages, standardize categorical strings, and replace nulls with sentinels in optional fields. This catches malformed rows from upstream sources at the entry to the curated zone. Tier two is a quality gate task in the Airflow DAG, running between the clean and join stages. It verifies row count thresholds and null counts on join columns. If thresholds are breached, the DAG fails with email-on-failure alerting. This catches drift in upstream data shape — situations where the source itself has changed in unexpected ways. Tier three is watermarking in the streaming layer. Fifteen-minute watermark for viewer aggregations, thirty-minute for session aggregations. Events arriving past the watermark are dropped intentionally, which bounds state and prevents memory growth. This catches late and out-of-order streaming events. Defense in depth. No single layer is the whole quality strategy. Each tier addresses what the others cannot.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Three controls make this operational, not academic. Quality gates: row count and null checks run between every stage and stop the DAG before bad data reaches analytics. Idempotent re-runs: every Parquet write uses overwrite mode, so safe replay from any failure point — verified across five test runs. And monitoring: Airflow handles two retries with exponential backoff, with email alerts and a streaming health-check DAG every fifteen minutes. Maximum thirty-minute time to detect.</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133DE-05DF-2509-63AD-D8E9D2C5F5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8D4BFC-8F79-250F-A4E3-586A2F4D5C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4B681-FFFB-BA7E-074E-8C05C4915AB7}"/>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Quick proof it actually runs. Top: HDFS shows all five datasets landed in the landing zone. Bottom: Airflow shows the DAG executed end-to-end with every task green. </a:t>
            </a:r>
            <a:r>
              <a:rPr lang="en-US" sz="1200" b="1" kern="1200" dirty="0">
                <a:solidFill>
                  <a:schemeClr val="tx1"/>
                </a:solidFill>
                <a:effectLst/>
                <a:latin typeface="+mn-lt"/>
                <a:ea typeface="+mn-ea"/>
                <a:cs typeface="+mn-cs"/>
              </a:rPr>
              <a:t>The pipeline isn’t a diagram — it’s a working system.</a:t>
            </a:r>
            <a:r>
              <a:rPr lang="en-US" dirty="0">
                <a:effectLst/>
              </a:rPr>
              <a:t> </a:t>
            </a:r>
            <a:endParaRPr lang="en-US" dirty="0"/>
          </a:p>
        </p:txBody>
      </p:sp>
    </p:spTree>
    <p:extLst>
      <p:ext uri="{BB962C8B-B14F-4D97-AF65-F5344CB8AC3E}">
        <p14:creationId xmlns:p14="http://schemas.microsoft.com/office/powerpoint/2010/main" val="24818237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Now, what the data revealed.</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This reframes content from a binary in-catalog or out-of-catalog decision into a continuous ROI signal. The bottom decile of titles by this metric drives a disproportionate share of license cost relative to engagement. Recommendation: drop those titles at the next license cycle, with estimated annual savings shown. Transition: Engagement patterns within the catalog are also uneven.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one. We built a custom metric called cost per viewing hour — monthly license cost divided by total hours watched. The variance is dramatic. The worst three titles cost between eighteen and twenty thousand dollars per viewing hour. The best three cost twenty-three to twenty-five dollars. That’s an 860-times spread. The bottom decile alone drives $3.13 billion in annual license cost, and 73% of total catalog spend concentrates in below-median ROI titles. </a:t>
            </a:r>
            <a:r>
              <a:rPr lang="en-US" sz="1200" b="1" kern="1200" dirty="0">
                <a:solidFill>
                  <a:schemeClr val="tx1"/>
                </a:solidFill>
                <a:effectLst/>
                <a:latin typeface="+mn-lt"/>
                <a:ea typeface="+mn-ea"/>
                <a:cs typeface="+mn-cs"/>
              </a:rPr>
              <a:t>Our recommendation: drop the bottom decile at the next license cycle. Annual savings: $3.13 billion if fully discontinued, $1.5 to 2 billion with conservative renegotiation.</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is a clear engagement gap across subscription tiers. Premium subscribers watch more hours per month and complete a higher share of what they start. Two hypotheses explain this: tier-aware recommendation algorithms surfacing different content, or content-commitment effects where higher-paying subscribers select content they are more likely to finish. Both hypotheses point to the same intervention. Recommendation: tune the recommendation algorithm to surface higher-completion content for Basic users, with the goal of driving upgrade conversions through demonstrated engagement quality. Transition: Engagement patterns within a single tier also reveal the precursors to churn.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two — and this is our counter-finding. We expected Premium subscribers to engage more deeply. They don’t. Basic users complete 52.8% of what they start. Standard, 52.6%. Premium, 52.9%. Less than one percentage point separates the tiers. Subscription tier does not predict viewing behavior. The signal is at the title level: completion ranges from 28.9% on the worst-performing titles to 76.7% on the best — a 48-point spread. </a:t>
            </a:r>
            <a:r>
              <a:rPr lang="en-US" sz="1200" b="1" kern="1200" dirty="0">
                <a:solidFill>
                  <a:schemeClr val="tx1"/>
                </a:solidFill>
                <a:effectLst/>
                <a:latin typeface="+mn-lt"/>
                <a:ea typeface="+mn-ea"/>
                <a:cs typeface="+mn-cs"/>
              </a:rPr>
              <a:t>Our recommendation: redirect personalization investment from tier-aware logic to title-level features. That’s where the actual variance lives.</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three measurable signals that predict churn a full thirty days before cancellation. Completion percentage drops. Interaction count drops. Buffering events rise. None of these alone is sufficient, but the combination is highly predictive. Recommendation: build a churn early-warning model using these three features. Users hitting the threshold trigger automated retention interventions before they cancel. Even a five-percent reduction in monthly churn translates to a meaningful annual revenue figure, which we will quantify in section five. Transition: One of those three signals — buffering — is also infrastructure-related, which leads to insight four.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three. Comparing 19,573 churned users with 180,427 retained users, the dominant signal is monthly hours watched. Retained users average 26.4 hours per month. Churned users, 15.2. A 42% gap. We tested every other signal you’d expect — completion rate, buffering events, unique titles per month — none of them separate the two cohorts. They’re statistically identical. </a:t>
            </a:r>
            <a:r>
              <a:rPr lang="en-US" sz="1200" b="1" kern="1200" dirty="0">
                <a:solidFill>
                  <a:schemeClr val="tx1"/>
                </a:solidFill>
                <a:effectLst/>
                <a:latin typeface="+mn-lt"/>
                <a:ea typeface="+mn-ea"/>
                <a:cs typeface="+mn-cs"/>
              </a:rPr>
              <a:t>Our recommendation: build a churn early-warning model on monthly hours watched and engagement velocity — recent versus historical hours. Don’t build it on signals that don’t predict.</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four — our second counter-finding. We expected to find geographic hotspots — regions or ISPs with quality problems serious enough to drive churn. We didn’t. All seven CDN regions and ten ISPs cluster within a 3.3% spread of buffering events. The correlation between buffering and completion is essentially zero. Quality is uniform, and quality is not a meaningful retention lever in this dataset. </a:t>
            </a:r>
            <a:r>
              <a:rPr lang="en-US" sz="1200" b="1" kern="1200" dirty="0">
                <a:solidFill>
                  <a:schemeClr val="tx1"/>
                </a:solidFill>
                <a:effectLst/>
                <a:latin typeface="+mn-lt"/>
                <a:ea typeface="+mn-ea"/>
                <a:cs typeface="+mn-cs"/>
              </a:rPr>
              <a:t>Our recommendation: deprioritize geographic CDN investment. Reallocate that budget toward absolute baseline reduction or other levers where the data actually shows variance.</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ties buffering directly to completion. The correlation is strong and negative across all sessions: when buffering rises, completion falls. More importantly, the worst buffering experiences are geographically concentrated. Three region-by-ISP combinations account for a disproportionate share of poor streaming sessions. This is actionable. Recommendation: negotiate dedicated peering or upgrade CDN capacity for those three combinations. A twenty-percent buffering reduction translates directly to extended watch time and reduced churn risk. Transition: Each of these four insights maps to a specific, prioritized action.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Pulling it together — what we recommend.</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Four actions, prioritized by impact-to-effort ratio. First — drop bottom-decile titles by cost per viewing hour. From insight one. $1.5 to 3.1 billion in annual savings. Time: next license cycle. Second — build a churn early-warning model on monthly hours watched. From insight three. Targets roughly 10% of the 19,600 churners. Q3 implementation. Third — redirect personalization from tier-based to title-level signals. From insight two. Lifts completion via the 48-point title variance. Q3–Q4 A/B test. Fourth — reallocate CDN budget away from selective region investment. From insight four. Frees budget for higher-impact levers. Immediate review. </a:t>
            </a:r>
            <a:r>
              <a:rPr lang="en-US" sz="1200" b="1" kern="1200" dirty="0">
                <a:solidFill>
                  <a:schemeClr val="tx1"/>
                </a:solidFill>
                <a:effectLst/>
                <a:latin typeface="+mn-lt"/>
                <a:ea typeface="+mn-ea"/>
                <a:cs typeface="+mn-cs"/>
              </a:rPr>
              <a:t>All four are implementable from analytics tables our pipeline produces today. No additional data sources required.</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paired with expected impact and time-to-implement. Action one is the highest impact-to-effort ratio: dropping bottom-decile titles at the next license cycle requires only an analyst review of our content_performance table. Action two is the longest-running but highest revenue impact: building the churn model. Actions three and four can run in parallel through the second half of the year. All four actions draw on analytics tables our pipeline produces today. No new data sources are required. Transition: Finally, scaling considerations for production volume.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Briefly on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scales linearly. Today the pipeline handles 32 megabytes and 50 million rows on one Spark worker, one Kafka broker, two </a:t>
            </a:r>
            <a:r>
              <a:rPr lang="en-US" sz="1200" kern="1200" dirty="0" err="1">
                <a:solidFill>
                  <a:schemeClr val="tx1"/>
                </a:solidFill>
                <a:effectLst/>
                <a:latin typeface="+mn-lt"/>
                <a:ea typeface="+mn-ea"/>
                <a:cs typeface="+mn-cs"/>
              </a:rPr>
              <a:t>datanodes</a:t>
            </a:r>
            <a:r>
              <a:rPr lang="en-US" sz="1200" kern="1200" dirty="0">
                <a:solidFill>
                  <a:schemeClr val="tx1"/>
                </a:solidFill>
                <a:effectLst/>
                <a:latin typeface="+mn-lt"/>
                <a:ea typeface="+mn-ea"/>
                <a:cs typeface="+mn-cs"/>
              </a:rPr>
              <a:t>. Ten times: four workers, three brokers, shuffle partitions raised to 500. HDFS is still healthy. A hundred times: eight to sixteen workers, five-plus brokers, replication factor three, switch Airflow to Celery executor with Redis. Same architecture, just reconfigured. Cloud-managed equivalents exist in AWS, GCP, and Azure across all four layers. </a:t>
            </a:r>
            <a:r>
              <a:rPr lang="en-US" sz="1200" b="1" kern="1200" dirty="0">
                <a:solidFill>
                  <a:schemeClr val="tx1"/>
                </a:solidFill>
                <a:effectLst/>
                <a:latin typeface="+mn-lt"/>
                <a:ea typeface="+mn-ea"/>
                <a:cs typeface="+mn-cs"/>
              </a:rPr>
              <a:t>At hundred-times volume we recommend AWS — about 70% lower TCO than self-managed once labor is included.</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Three reflections from the build. What worked: a single docker compose with a shared network removed service-discovery friction completely. Reusable cleaning logic across all five datasets. The cost-per-viewing-hour metric directly linked technical work to business value. What was hard: schema alignment between batch and streaming layers, the missing session-level join key in streaming-quality which we worked around with user-level aggregation, and Apple Silicon compatibility. </a:t>
            </a:r>
            <a:r>
              <a:rPr lang="en-US" sz="1200" kern="1200">
                <a:solidFill>
                  <a:schemeClr val="tx1"/>
                </a:solidFill>
                <a:effectLst/>
                <a:latin typeface="+mn-lt"/>
                <a:ea typeface="+mn-ea"/>
                <a:cs typeface="+mn-cs"/>
              </a:rPr>
              <a:t>What we’d do differently: define data contracts on day one, add a second Kafka topic for alerts, and run earlier full-stack integration testing.</a:t>
            </a:r>
            <a:r>
              <a:rPr lang="en-US">
                <a:effectLst/>
              </a:rPr>
              <a:t> </a:t>
            </a:r>
            <a:endParaRPr lang="en-US"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take questions now. Each team member is positioned to address questions in their domain — Quang on streaming, Juan on infrastructure, Aleksandr on orchestration, Yusuke on analytics. We have prepared appendix slides for the most likely technical questions, available if needed.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0.xml"/><Relationship Id="rId7" Type="http://schemas.openxmlformats.org/officeDocument/2006/relationships/image" Target="../media/image4.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0.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05_0.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1F_0.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jp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microsoft.com/office/2018/10/relationships/comments" Target="../comments/modernComment_110_0.xm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microsoft.com/office/2018/10/relationships/comments" Target="../comments/modernComment_124_0.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194560"/>
            <a:ext cx="10698480" cy="548640"/>
          </a:xfrm>
          <a:prstGeom prst="rect">
            <a:avLst/>
          </a:prstGeom>
          <a:noFill/>
          <a:ln/>
        </p:spPr>
        <p:txBody>
          <a:bodyPr wrap="square" lIns="0" tIns="0" rIns="0" bIns="0" rtlCol="0" anchor="ctr"/>
          <a:lstStyle/>
          <a:p>
            <a:pPr marL="0" indent="0">
              <a:buNone/>
            </a:pPr>
            <a:r>
              <a:rPr lang="en-US" sz="1800" kern="0" spc="600" dirty="0">
                <a:solidFill>
                  <a:srgbClr val="3FE0E0"/>
                </a:solidFill>
                <a:latin typeface="Calibri" pitchFamily="34" charset="0"/>
                <a:ea typeface="Calibri" pitchFamily="34" charset="-122"/>
                <a:cs typeface="Calibri" pitchFamily="34" charset="-120"/>
              </a:rPr>
              <a:t>MEDIAWAVE STREAMING</a:t>
            </a:r>
            <a:endParaRPr lang="en-US" sz="1800" dirty="0"/>
          </a:p>
        </p:txBody>
      </p:sp>
      <p:sp>
        <p:nvSpPr>
          <p:cNvPr id="10" name="Text 8"/>
          <p:cNvSpPr/>
          <p:nvPr/>
        </p:nvSpPr>
        <p:spPr>
          <a:xfrm>
            <a:off x="731520" y="2743200"/>
            <a:ext cx="10698480" cy="1097280"/>
          </a:xfrm>
          <a:prstGeom prst="rect">
            <a:avLst/>
          </a:prstGeom>
          <a:noFill/>
          <a:ln/>
        </p:spPr>
        <p:txBody>
          <a:bodyPr wrap="square" lIns="0" tIns="0" rIns="0" bIns="0" rtlCol="0" anchor="ctr"/>
          <a:lstStyle/>
          <a:p>
            <a:pPr marL="0" indent="0">
              <a:buNone/>
            </a:pPr>
            <a:r>
              <a:rPr lang="en-US" sz="6400" b="1" dirty="0">
                <a:solidFill>
                  <a:srgbClr val="FFFFFF"/>
                </a:solidFill>
                <a:latin typeface="Calibri" pitchFamily="34" charset="0"/>
                <a:ea typeface="Calibri" pitchFamily="34" charset="-122"/>
                <a:cs typeface="Calibri" pitchFamily="34" charset="-120"/>
              </a:rPr>
              <a:t>Big Data Pipeline</a:t>
            </a:r>
            <a:endParaRPr lang="en-US" sz="6400" dirty="0"/>
          </a:p>
        </p:txBody>
      </p:sp>
      <p:sp>
        <p:nvSpPr>
          <p:cNvPr id="11" name="Shape 9"/>
          <p:cNvSpPr/>
          <p:nvPr/>
        </p:nvSpPr>
        <p:spPr>
          <a:xfrm>
            <a:off x="731520" y="4023360"/>
            <a:ext cx="1371600" cy="0"/>
          </a:xfrm>
          <a:prstGeom prst="line">
            <a:avLst/>
          </a:prstGeom>
          <a:noFill/>
          <a:ln w="38100">
            <a:solidFill>
              <a:srgbClr val="3FE0E0"/>
            </a:solidFill>
            <a:prstDash val="solid"/>
          </a:ln>
        </p:spPr>
        <p:txBody>
          <a:bodyPr/>
          <a:lstStyle/>
          <a:p>
            <a:endParaRPr lang="en-US"/>
          </a:p>
        </p:txBody>
      </p:sp>
      <p:sp>
        <p:nvSpPr>
          <p:cNvPr id="12" name="Text 10"/>
          <p:cNvSpPr/>
          <p:nvPr/>
        </p:nvSpPr>
        <p:spPr>
          <a:xfrm>
            <a:off x="731520" y="4160520"/>
            <a:ext cx="10698480" cy="457200"/>
          </a:xfrm>
          <a:prstGeom prst="rect">
            <a:avLst/>
          </a:prstGeom>
          <a:noFill/>
          <a:ln/>
        </p:spPr>
        <p:txBody>
          <a:bodyPr wrap="square" lIns="0" tIns="0" rIns="0" bIns="0" rtlCol="0" anchor="ctr"/>
          <a:lstStyle/>
          <a:p>
            <a:pPr marL="0" indent="0">
              <a:buNone/>
            </a:pPr>
            <a:r>
              <a:rPr lang="en-US" sz="1800" i="1" dirty="0">
                <a:solidFill>
                  <a:srgbClr val="B7D7DC"/>
                </a:solidFill>
                <a:latin typeface="Calibri" pitchFamily="34" charset="0"/>
                <a:ea typeface="Calibri" pitchFamily="34" charset="-122"/>
                <a:cs typeface="Calibri" pitchFamily="34" charset="-120"/>
              </a:rPr>
              <a:t>From data fragmentation to engagement intelligence</a:t>
            </a:r>
            <a:endParaRPr lang="en-US" sz="1800" dirty="0"/>
          </a:p>
        </p:txBody>
      </p:sp>
      <p:sp>
        <p:nvSpPr>
          <p:cNvPr id="13" name="Text 11"/>
          <p:cNvSpPr/>
          <p:nvPr/>
        </p:nvSpPr>
        <p:spPr>
          <a:xfrm>
            <a:off x="731520" y="5486400"/>
            <a:ext cx="3657600" cy="274320"/>
          </a:xfrm>
          <a:prstGeom prst="rect">
            <a:avLst/>
          </a:prstGeom>
          <a:noFill/>
          <a:ln/>
        </p:spPr>
        <p:txBody>
          <a:bodyPr wrap="square" lIns="0" tIns="0" rIns="0" bIns="0" rtlCol="0" anchor="ctr"/>
          <a:lstStyle/>
          <a:p>
            <a:pPr marL="0" indent="0">
              <a:buNone/>
            </a:pPr>
            <a:r>
              <a:rPr lang="en-US" sz="1000" kern="0" spc="300" dirty="0">
                <a:solidFill>
                  <a:srgbClr val="7FA8AE"/>
                </a:solidFill>
                <a:latin typeface="Calibri" pitchFamily="34" charset="0"/>
                <a:ea typeface="Calibri" pitchFamily="34" charset="-122"/>
                <a:cs typeface="Calibri" pitchFamily="34" charset="-120"/>
              </a:rPr>
              <a:t>PREPARED FOR</a:t>
            </a:r>
            <a:endParaRPr lang="en-US" sz="1000" dirty="0"/>
          </a:p>
        </p:txBody>
      </p:sp>
      <p:sp>
        <p:nvSpPr>
          <p:cNvPr id="14" name="Text 12"/>
          <p:cNvSpPr/>
          <p:nvPr/>
        </p:nvSpPr>
        <p:spPr>
          <a:xfrm>
            <a:off x="731520" y="5760720"/>
            <a:ext cx="548640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Office of the CIO · MediaWave Streaming</a:t>
            </a:r>
            <a:endParaRPr lang="en-US" sz="1400" dirty="0"/>
          </a:p>
        </p:txBody>
      </p:sp>
      <p:sp>
        <p:nvSpPr>
          <p:cNvPr id="15" name="Text 13"/>
          <p:cNvSpPr/>
          <p:nvPr/>
        </p:nvSpPr>
        <p:spPr>
          <a:xfrm>
            <a:off x="7589520" y="5486400"/>
            <a:ext cx="3657600" cy="274320"/>
          </a:xfrm>
          <a:prstGeom prst="rect">
            <a:avLst/>
          </a:prstGeom>
          <a:noFill/>
          <a:ln/>
        </p:spPr>
        <p:txBody>
          <a:bodyPr wrap="square" lIns="0" tIns="0" rIns="0" bIns="0" rtlCol="0" anchor="ctr"/>
          <a:lstStyle/>
          <a:p>
            <a:pPr marL="0" indent="0" algn="r">
              <a:buNone/>
            </a:pPr>
            <a:r>
              <a:rPr lang="en-US" sz="1000" kern="0" spc="300" dirty="0">
                <a:solidFill>
                  <a:srgbClr val="7FA8AE"/>
                </a:solidFill>
                <a:latin typeface="Calibri" pitchFamily="34" charset="0"/>
                <a:ea typeface="Calibri" pitchFamily="34" charset="-122"/>
                <a:cs typeface="Calibri" pitchFamily="34" charset="-120"/>
              </a:rPr>
              <a:t>PREPARED BY</a:t>
            </a:r>
            <a:endParaRPr lang="en-US" sz="1000" dirty="0"/>
          </a:p>
        </p:txBody>
      </p:sp>
      <p:sp>
        <p:nvSpPr>
          <p:cNvPr id="16" name="Text 14"/>
          <p:cNvSpPr/>
          <p:nvPr/>
        </p:nvSpPr>
        <p:spPr>
          <a:xfrm>
            <a:off x="6675120" y="5760720"/>
            <a:ext cx="5029200" cy="365760"/>
          </a:xfrm>
          <a:prstGeom prst="rect">
            <a:avLst/>
          </a:prstGeom>
          <a:noFill/>
          <a:ln/>
        </p:spPr>
        <p:txBody>
          <a:bodyPr wrap="square" lIns="0" tIns="0" rIns="0" bIns="0" rtlCol="0" anchor="ctr"/>
          <a:lstStyle/>
          <a:p>
            <a:pPr marL="0" indent="0" algn="r">
              <a:buNone/>
            </a:pPr>
            <a:r>
              <a:rPr lang="en-US" sz="1400" b="1" dirty="0">
                <a:solidFill>
                  <a:srgbClr val="FFFFFF"/>
                </a:solidFill>
                <a:latin typeface="Calibri" pitchFamily="34" charset="0"/>
                <a:ea typeface="Calibri" pitchFamily="34" charset="-122"/>
                <a:cs typeface="Calibri" pitchFamily="34" charset="-120"/>
              </a:rPr>
              <a:t>Team Data Avengers · ISM 6562 · May 2026</a:t>
            </a:r>
            <a:endParaRPr lang="en-US" sz="1400" dirty="0"/>
          </a:p>
        </p:txBody>
      </p:sp>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914400" cy="914400"/>
          </a:xfrm>
          <a:prstGeom prst="rect">
            <a:avLst/>
          </a:prstGeom>
          <a:noFill/>
          <a:ln/>
        </p:spPr>
        <p:txBody>
          <a:bodyPr wrap="square" lIns="0" tIns="0" rIns="0" bIns="0" rtlCol="0" anchor="ctr"/>
          <a:lstStyle/>
          <a:p>
            <a:pPr marL="0" indent="0">
              <a:buNone/>
            </a:pPr>
            <a:r>
              <a:rPr lang="en-US" sz="5600" b="1" dirty="0">
                <a:solidFill>
                  <a:srgbClr val="FFFFFF"/>
                </a:solidFill>
                <a:latin typeface="Calibri" pitchFamily="34" charset="0"/>
                <a:ea typeface="Calibri" pitchFamily="34" charset="-122"/>
                <a:cs typeface="Calibri" pitchFamily="34" charset="-120"/>
              </a:rPr>
              <a:t>01</a:t>
            </a:r>
            <a:endParaRPr lang="en-US" sz="5600" dirty="0"/>
          </a:p>
        </p:txBody>
      </p:sp>
      <p:sp>
        <p:nvSpPr>
          <p:cNvPr id="10" name="Shape 8"/>
          <p:cNvSpPr/>
          <p:nvPr/>
        </p:nvSpPr>
        <p:spPr>
          <a:xfrm>
            <a:off x="1463040" y="548640"/>
            <a:ext cx="0" cy="777240"/>
          </a:xfrm>
          <a:prstGeom prst="line">
            <a:avLst/>
          </a:prstGeom>
          <a:noFill/>
          <a:ln w="25400">
            <a:solidFill>
              <a:srgbClr val="3FE0E0"/>
            </a:solidFill>
            <a:prstDash val="solid"/>
          </a:ln>
        </p:spPr>
        <p:txBody>
          <a:bodyPr/>
          <a:lstStyle/>
          <a:p>
            <a:endParaRPr lang="en-US"/>
          </a:p>
        </p:txBody>
      </p:sp>
      <p:sp>
        <p:nvSpPr>
          <p:cNvPr id="11" name="Text 9"/>
          <p:cNvSpPr/>
          <p:nvPr/>
        </p:nvSpPr>
        <p:spPr>
          <a:xfrm>
            <a:off x="1691640" y="36576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TEAM INTRODUCTION</a:t>
            </a:r>
            <a:endParaRPr lang="en-US" sz="2800" dirty="0"/>
          </a:p>
        </p:txBody>
      </p:sp>
      <p:sp>
        <p:nvSpPr>
          <p:cNvPr id="12" name="Text 10"/>
          <p:cNvSpPr/>
          <p:nvPr/>
        </p:nvSpPr>
        <p:spPr>
          <a:xfrm>
            <a:off x="1691640" y="960120"/>
            <a:ext cx="8229600" cy="365760"/>
          </a:xfrm>
          <a:prstGeom prst="rect">
            <a:avLst/>
          </a:prstGeom>
          <a:noFill/>
          <a:ln/>
        </p:spPr>
        <p:txBody>
          <a:bodyPr wrap="square" lIns="0" tIns="0" rIns="0" bIns="0" rtlCol="0" anchor="ctr"/>
          <a:lstStyle/>
          <a:p>
            <a:pPr marL="0" indent="0">
              <a:buNone/>
            </a:pPr>
            <a:r>
              <a:rPr lang="en-US" sz="1400" kern="0" spc="400" dirty="0">
                <a:solidFill>
                  <a:srgbClr val="3FE0E0"/>
                </a:solidFill>
                <a:latin typeface="Calibri" pitchFamily="34" charset="0"/>
                <a:ea typeface="Calibri" pitchFamily="34" charset="-122"/>
                <a:cs typeface="Calibri" pitchFamily="34" charset="-120"/>
              </a:rPr>
              <a:t>DATA AVENGERS</a:t>
            </a:r>
            <a:endParaRPr lang="en-US" sz="1400" dirty="0"/>
          </a:p>
        </p:txBody>
      </p:sp>
      <p:sp>
        <p:nvSpPr>
          <p:cNvPr id="13" name="Shape 11"/>
          <p:cNvSpPr/>
          <p:nvPr/>
        </p:nvSpPr>
        <p:spPr>
          <a:xfrm>
            <a:off x="86868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4" name="Shape 12"/>
          <p:cNvSpPr/>
          <p:nvPr/>
        </p:nvSpPr>
        <p:spPr>
          <a:xfrm>
            <a:off x="914400" y="2286000"/>
            <a:ext cx="1463040" cy="1463040"/>
          </a:xfrm>
          <a:prstGeom prst="ellipse">
            <a:avLst/>
          </a:prstGeom>
          <a:blipFill>
            <a:blip r:embed="rId4"/>
            <a:stretch>
              <a:fillRect/>
            </a:stretch>
          </a:blipFill>
          <a:ln w="12700">
            <a:solidFill>
              <a:srgbClr val="0A4250"/>
            </a:solidFill>
            <a:prstDash val="solid"/>
          </a:ln>
        </p:spPr>
        <p:txBody>
          <a:bodyPr/>
          <a:lstStyle/>
          <a:p>
            <a:endParaRPr lang="en-US" dirty="0"/>
          </a:p>
        </p:txBody>
      </p:sp>
      <p:sp>
        <p:nvSpPr>
          <p:cNvPr id="15" name="Text 13"/>
          <p:cNvSpPr/>
          <p:nvPr/>
        </p:nvSpPr>
        <p:spPr>
          <a:xfrm>
            <a:off x="91440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16" name="Text 14"/>
          <p:cNvSpPr/>
          <p:nvPr/>
        </p:nvSpPr>
        <p:spPr>
          <a:xfrm>
            <a:off x="54864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Helen Nguyen</a:t>
            </a:r>
            <a:endParaRPr lang="en-US" sz="1400" dirty="0"/>
          </a:p>
        </p:txBody>
      </p:sp>
      <p:sp>
        <p:nvSpPr>
          <p:cNvPr id="17" name="Text 15"/>
          <p:cNvSpPr/>
          <p:nvPr/>
        </p:nvSpPr>
        <p:spPr>
          <a:xfrm>
            <a:off x="54864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Engagement Lead</a:t>
            </a:r>
            <a:endParaRPr lang="en-US" sz="1200" dirty="0"/>
          </a:p>
        </p:txBody>
      </p:sp>
      <p:sp>
        <p:nvSpPr>
          <p:cNvPr id="18" name="Shape 16"/>
          <p:cNvSpPr/>
          <p:nvPr/>
        </p:nvSpPr>
        <p:spPr>
          <a:xfrm>
            <a:off x="306324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9" name="Shape 17"/>
          <p:cNvSpPr/>
          <p:nvPr/>
        </p:nvSpPr>
        <p:spPr>
          <a:xfrm>
            <a:off x="310896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0" name="Text 18"/>
          <p:cNvSpPr/>
          <p:nvPr/>
        </p:nvSpPr>
        <p:spPr>
          <a:xfrm>
            <a:off x="310896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1" name="Text 19"/>
          <p:cNvSpPr/>
          <p:nvPr/>
        </p:nvSpPr>
        <p:spPr>
          <a:xfrm>
            <a:off x="274320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Quang Nguyen</a:t>
            </a:r>
            <a:endParaRPr lang="en-US" sz="1400" dirty="0"/>
          </a:p>
        </p:txBody>
      </p:sp>
      <p:sp>
        <p:nvSpPr>
          <p:cNvPr id="22" name="Text 20"/>
          <p:cNvSpPr/>
          <p:nvPr/>
        </p:nvSpPr>
        <p:spPr>
          <a:xfrm>
            <a:off x="274320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Streaming Lead</a:t>
            </a:r>
            <a:endParaRPr lang="en-US" sz="1200" dirty="0"/>
          </a:p>
        </p:txBody>
      </p:sp>
      <p:sp>
        <p:nvSpPr>
          <p:cNvPr id="23" name="Shape 21"/>
          <p:cNvSpPr/>
          <p:nvPr/>
        </p:nvSpPr>
        <p:spPr>
          <a:xfrm>
            <a:off x="525780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4" name="Shape 22"/>
          <p:cNvSpPr/>
          <p:nvPr/>
        </p:nvSpPr>
        <p:spPr>
          <a:xfrm>
            <a:off x="5303520" y="2286000"/>
            <a:ext cx="1463040" cy="1463040"/>
          </a:xfrm>
          <a:prstGeom prst="ellipse">
            <a:avLst/>
          </a:prstGeom>
          <a:blipFill>
            <a:blip r:embed="rId5"/>
            <a:stretch>
              <a:fillRect/>
            </a:stretch>
          </a:blipFill>
          <a:ln w="12700">
            <a:solidFill>
              <a:srgbClr val="0A4250"/>
            </a:solidFill>
            <a:prstDash val="solid"/>
          </a:ln>
        </p:spPr>
        <p:txBody>
          <a:bodyPr/>
          <a:lstStyle/>
          <a:p>
            <a:endParaRPr lang="en-US"/>
          </a:p>
        </p:txBody>
      </p:sp>
      <p:sp>
        <p:nvSpPr>
          <p:cNvPr id="25" name="Text 23"/>
          <p:cNvSpPr/>
          <p:nvPr/>
        </p:nvSpPr>
        <p:spPr>
          <a:xfrm>
            <a:off x="530352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26" name="Text 24"/>
          <p:cNvSpPr/>
          <p:nvPr/>
        </p:nvSpPr>
        <p:spPr>
          <a:xfrm>
            <a:off x="493776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Juan Rivera</a:t>
            </a:r>
            <a:endParaRPr lang="en-US" sz="1400" dirty="0"/>
          </a:p>
        </p:txBody>
      </p:sp>
      <p:sp>
        <p:nvSpPr>
          <p:cNvPr id="27" name="Text 25"/>
          <p:cNvSpPr/>
          <p:nvPr/>
        </p:nvSpPr>
        <p:spPr>
          <a:xfrm>
            <a:off x="493776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Infrastructure Lead</a:t>
            </a:r>
            <a:endParaRPr lang="en-US" sz="1200" dirty="0"/>
          </a:p>
        </p:txBody>
      </p:sp>
      <p:sp>
        <p:nvSpPr>
          <p:cNvPr id="28" name="Shape 26"/>
          <p:cNvSpPr/>
          <p:nvPr/>
        </p:nvSpPr>
        <p:spPr>
          <a:xfrm>
            <a:off x="745236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9" name="Shape 27"/>
          <p:cNvSpPr/>
          <p:nvPr/>
        </p:nvSpPr>
        <p:spPr>
          <a:xfrm>
            <a:off x="7498080" y="2286000"/>
            <a:ext cx="1463040" cy="1463040"/>
          </a:xfrm>
          <a:prstGeom prst="ellipse">
            <a:avLst/>
          </a:prstGeom>
          <a:blipFill>
            <a:blip r:embed="rId6"/>
            <a:stretch>
              <a:fillRect/>
            </a:stretch>
          </a:blipFill>
          <a:ln w="12700">
            <a:solidFill>
              <a:srgbClr val="0A4250"/>
            </a:solidFill>
            <a:prstDash val="solid"/>
          </a:ln>
        </p:spPr>
        <p:txBody>
          <a:bodyPr/>
          <a:lstStyle/>
          <a:p>
            <a:endParaRPr lang="en-US"/>
          </a:p>
        </p:txBody>
      </p:sp>
      <p:sp>
        <p:nvSpPr>
          <p:cNvPr id="30" name="Text 28"/>
          <p:cNvSpPr/>
          <p:nvPr/>
        </p:nvSpPr>
        <p:spPr>
          <a:xfrm>
            <a:off x="749808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31" name="Text 29"/>
          <p:cNvSpPr/>
          <p:nvPr/>
        </p:nvSpPr>
        <p:spPr>
          <a:xfrm>
            <a:off x="713232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Aleksandr Nicolaev</a:t>
            </a:r>
            <a:endParaRPr lang="en-US" sz="1400" dirty="0"/>
          </a:p>
        </p:txBody>
      </p:sp>
      <p:sp>
        <p:nvSpPr>
          <p:cNvPr id="32" name="Text 30"/>
          <p:cNvSpPr/>
          <p:nvPr/>
        </p:nvSpPr>
        <p:spPr>
          <a:xfrm>
            <a:off x="713232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Orchestration Lead</a:t>
            </a:r>
            <a:endParaRPr lang="en-US" sz="1200" dirty="0"/>
          </a:p>
        </p:txBody>
      </p:sp>
      <p:sp>
        <p:nvSpPr>
          <p:cNvPr id="33" name="Shape 31"/>
          <p:cNvSpPr/>
          <p:nvPr/>
        </p:nvSpPr>
        <p:spPr>
          <a:xfrm>
            <a:off x="964692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34" name="Shape 32"/>
          <p:cNvSpPr/>
          <p:nvPr/>
        </p:nvSpPr>
        <p:spPr>
          <a:xfrm>
            <a:off x="9692640" y="2286000"/>
            <a:ext cx="1463040" cy="1463040"/>
          </a:xfrm>
          <a:prstGeom prst="ellipse">
            <a:avLst/>
          </a:prstGeom>
          <a:blipFill>
            <a:blip>
              <a:extLst>
                <a:ext uri="{96DAC541-7B7A-43D3-8B79-37D633B846F1}">
                  <asvg:svgBlip xmlns:asvg="http://schemas.microsoft.com/office/drawing/2016/SVG/main" r:embed="rId7"/>
                </a:ext>
              </a:extLst>
            </a:blip>
            <a:stretch>
              <a:fillRect/>
            </a:stretch>
          </a:blipFill>
          <a:ln w="12700">
            <a:solidFill>
              <a:srgbClr val="0A4250"/>
            </a:solidFill>
            <a:prstDash val="solid"/>
          </a:ln>
        </p:spPr>
        <p:txBody>
          <a:bodyPr/>
          <a:lstStyle/>
          <a:p>
            <a:endParaRPr lang="en-US"/>
          </a:p>
        </p:txBody>
      </p:sp>
      <p:sp>
        <p:nvSpPr>
          <p:cNvPr id="36" name="Text 34"/>
          <p:cNvSpPr/>
          <p:nvPr/>
        </p:nvSpPr>
        <p:spPr>
          <a:xfrm>
            <a:off x="932688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Yusuke Yoshizawa</a:t>
            </a:r>
            <a:endParaRPr lang="en-US" sz="1400" dirty="0"/>
          </a:p>
        </p:txBody>
      </p:sp>
      <p:sp>
        <p:nvSpPr>
          <p:cNvPr id="37" name="Text 35"/>
          <p:cNvSpPr/>
          <p:nvPr/>
        </p:nvSpPr>
        <p:spPr>
          <a:xfrm>
            <a:off x="932688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Analytics Lead</a:t>
            </a:r>
            <a:endParaRPr lang="en-US" sz="1200" dirty="0"/>
          </a:p>
        </p:txBody>
      </p:sp>
      <p:sp>
        <p:nvSpPr>
          <p:cNvPr id="38" name="Text 36"/>
          <p:cNvSpPr/>
          <p:nvPr/>
        </p:nvSpPr>
        <p:spPr>
          <a:xfrm>
            <a:off x="457200" y="5852160"/>
            <a:ext cx="11247120" cy="365760"/>
          </a:xfrm>
          <a:prstGeom prst="rect">
            <a:avLst/>
          </a:prstGeom>
          <a:noFill/>
          <a:ln/>
        </p:spPr>
        <p:txBody>
          <a:bodyPr wrap="square" lIns="0" tIns="0" rIns="0" bIns="0" rtlCol="0" anchor="ctr"/>
          <a:lstStyle/>
          <a:p>
            <a:pPr marL="0" indent="0" algn="ctr">
              <a:buNone/>
            </a:pPr>
            <a:r>
              <a:rPr lang="en-US" sz="1200" i="1" dirty="0">
                <a:solidFill>
                  <a:srgbClr val="7FA8AE"/>
                </a:solidFill>
                <a:latin typeface="Calibri" pitchFamily="34" charset="0"/>
                <a:ea typeface="Calibri" pitchFamily="34" charset="-122"/>
                <a:cs typeface="Calibri" pitchFamily="34" charset="-120"/>
              </a:rPr>
              <a:t>Big Data strategy and implementation for MediaWave Streaming</a:t>
            </a:r>
            <a:endParaRPr lang="en-US" sz="1200" dirty="0"/>
          </a:p>
        </p:txBody>
      </p:sp>
    </p:spTree>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we will cover</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six-section briefing for the CIO</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640080" y="1828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01</a:t>
            </a:r>
            <a:endParaRPr lang="en-US" sz="2200" dirty="0"/>
          </a:p>
        </p:txBody>
      </p:sp>
      <p:sp>
        <p:nvSpPr>
          <p:cNvPr id="13" name="Text 11"/>
          <p:cNvSpPr/>
          <p:nvPr/>
        </p:nvSpPr>
        <p:spPr>
          <a:xfrm>
            <a:off x="1554480" y="1828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Engagement Problem</a:t>
            </a:r>
            <a:endParaRPr lang="en-US" sz="1600" dirty="0"/>
          </a:p>
        </p:txBody>
      </p:sp>
      <p:sp>
        <p:nvSpPr>
          <p:cNvPr id="14" name="Text 12"/>
          <p:cNvSpPr/>
          <p:nvPr/>
        </p:nvSpPr>
        <p:spPr>
          <a:xfrm>
            <a:off x="1554480" y="2148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Why MediaWave's current data fragmentation costs business value</a:t>
            </a:r>
            <a:endParaRPr lang="en-US" sz="1200" dirty="0"/>
          </a:p>
        </p:txBody>
      </p:sp>
      <p:sp>
        <p:nvSpPr>
          <p:cNvPr id="15" name="Text 13"/>
          <p:cNvSpPr/>
          <p:nvPr/>
        </p:nvSpPr>
        <p:spPr>
          <a:xfrm>
            <a:off x="640080" y="25146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02</a:t>
            </a:r>
            <a:endParaRPr lang="en-US" sz="2200" dirty="0"/>
          </a:p>
        </p:txBody>
      </p:sp>
      <p:sp>
        <p:nvSpPr>
          <p:cNvPr id="16" name="Text 14"/>
          <p:cNvSpPr/>
          <p:nvPr/>
        </p:nvSpPr>
        <p:spPr>
          <a:xfrm>
            <a:off x="1554480" y="25146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We Found</a:t>
            </a:r>
            <a:endParaRPr lang="en-US" sz="1600" dirty="0"/>
          </a:p>
        </p:txBody>
      </p:sp>
      <p:sp>
        <p:nvSpPr>
          <p:cNvPr id="17" name="Text 15"/>
          <p:cNvSpPr/>
          <p:nvPr/>
        </p:nvSpPr>
        <p:spPr>
          <a:xfrm>
            <a:off x="1554480" y="28346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 headline findings that warrant immediate executive attention</a:t>
            </a:r>
            <a:endParaRPr lang="en-US" sz="1200" dirty="0"/>
          </a:p>
        </p:txBody>
      </p:sp>
      <p:sp>
        <p:nvSpPr>
          <p:cNvPr id="18" name="Text 16"/>
          <p:cNvSpPr/>
          <p:nvPr/>
        </p:nvSpPr>
        <p:spPr>
          <a:xfrm>
            <a:off x="640080" y="32004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03</a:t>
            </a:r>
            <a:endParaRPr lang="en-US" sz="2200" dirty="0"/>
          </a:p>
        </p:txBody>
      </p:sp>
      <p:sp>
        <p:nvSpPr>
          <p:cNvPr id="19" name="Text 17"/>
          <p:cNvSpPr/>
          <p:nvPr/>
        </p:nvSpPr>
        <p:spPr>
          <a:xfrm>
            <a:off x="1554480" y="32004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How We Built the Answer</a:t>
            </a:r>
            <a:endParaRPr lang="en-US" sz="1600" dirty="0"/>
          </a:p>
        </p:txBody>
      </p:sp>
      <p:sp>
        <p:nvSpPr>
          <p:cNvPr id="20" name="Text 18"/>
          <p:cNvSpPr/>
          <p:nvPr/>
        </p:nvSpPr>
        <p:spPr>
          <a:xfrm>
            <a:off x="1554480" y="35204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Architecture, technology choices, and production readiness</a:t>
            </a:r>
            <a:endParaRPr lang="en-US" sz="1200" dirty="0"/>
          </a:p>
        </p:txBody>
      </p:sp>
      <p:sp>
        <p:nvSpPr>
          <p:cNvPr id="21" name="Text 19"/>
          <p:cNvSpPr/>
          <p:nvPr/>
        </p:nvSpPr>
        <p:spPr>
          <a:xfrm>
            <a:off x="640080" y="38862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04</a:t>
            </a:r>
            <a:endParaRPr lang="en-US" sz="2200" dirty="0"/>
          </a:p>
        </p:txBody>
      </p:sp>
      <p:sp>
        <p:nvSpPr>
          <p:cNvPr id="22" name="Text 20"/>
          <p:cNvSpPr/>
          <p:nvPr/>
        </p:nvSpPr>
        <p:spPr>
          <a:xfrm>
            <a:off x="1554480" y="38862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the Data Reveals</a:t>
            </a:r>
            <a:endParaRPr lang="en-US" sz="1600" dirty="0"/>
          </a:p>
        </p:txBody>
      </p:sp>
      <p:sp>
        <p:nvSpPr>
          <p:cNvPr id="23" name="Text 21"/>
          <p:cNvSpPr/>
          <p:nvPr/>
        </p:nvSpPr>
        <p:spPr>
          <a:xfrm>
            <a:off x="1554480" y="42062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Four specific insights with quantified business impact</a:t>
            </a:r>
            <a:endParaRPr lang="en-US" sz="1200" dirty="0"/>
          </a:p>
        </p:txBody>
      </p:sp>
      <p:sp>
        <p:nvSpPr>
          <p:cNvPr id="24" name="Text 22"/>
          <p:cNvSpPr/>
          <p:nvPr/>
        </p:nvSpPr>
        <p:spPr>
          <a:xfrm>
            <a:off x="640080" y="45720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05</a:t>
            </a:r>
            <a:endParaRPr lang="en-US" sz="2200" dirty="0"/>
          </a:p>
        </p:txBody>
      </p:sp>
      <p:sp>
        <p:nvSpPr>
          <p:cNvPr id="25" name="Text 23"/>
          <p:cNvSpPr/>
          <p:nvPr/>
        </p:nvSpPr>
        <p:spPr>
          <a:xfrm>
            <a:off x="1554480" y="45720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Recommended Actions</a:t>
            </a:r>
            <a:endParaRPr lang="en-US" sz="1600" dirty="0"/>
          </a:p>
        </p:txBody>
      </p:sp>
      <p:sp>
        <p:nvSpPr>
          <p:cNvPr id="26" name="Text 24"/>
          <p:cNvSpPr/>
          <p:nvPr/>
        </p:nvSpPr>
        <p:spPr>
          <a:xfrm>
            <a:off x="1554480" y="48920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Prioritized roadmap with expected outcomes and time-to-implement</a:t>
            </a:r>
            <a:endParaRPr lang="en-US" sz="1200" dirty="0"/>
          </a:p>
        </p:txBody>
      </p:sp>
      <p:sp>
        <p:nvSpPr>
          <p:cNvPr id="27" name="Text 25"/>
          <p:cNvSpPr/>
          <p:nvPr/>
        </p:nvSpPr>
        <p:spPr>
          <a:xfrm>
            <a:off x="640080" y="5257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06</a:t>
            </a:r>
            <a:endParaRPr lang="en-US" sz="2200" dirty="0"/>
          </a:p>
        </p:txBody>
      </p:sp>
      <p:sp>
        <p:nvSpPr>
          <p:cNvPr id="28" name="Text 26"/>
          <p:cNvSpPr/>
          <p:nvPr/>
        </p:nvSpPr>
        <p:spPr>
          <a:xfrm>
            <a:off x="1554480" y="5257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Scaling the Solution</a:t>
            </a:r>
            <a:endParaRPr lang="en-US" sz="1600" dirty="0"/>
          </a:p>
        </p:txBody>
      </p:sp>
      <p:sp>
        <p:nvSpPr>
          <p:cNvPr id="29" name="Text 27"/>
          <p:cNvSpPr/>
          <p:nvPr/>
        </p:nvSpPr>
        <p:spPr>
          <a:xfrm>
            <a:off x="1554480" y="5577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Path to 10× and 100× volume with cloud-equivalent services</a:t>
            </a:r>
            <a:endParaRPr lang="en-US" sz="1200" dirty="0"/>
          </a:p>
        </p:txBody>
      </p:sp>
      <p:sp>
        <p:nvSpPr>
          <p:cNvPr id="31" name="Text 29"/>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01</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The Engagement Problem</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WHY MEDIAWAVE NEEDS A UNIFIED DATA PLATFORM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Five data sources. The questions they should answer cross every boundary.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MediaWave's current data architecture forces analysts to ignore connections that matter most</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691640"/>
            <a:ext cx="50292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DATA SOURCES TODAY</a:t>
            </a:r>
            <a:endParaRPr lang="en-US" sz="1100" dirty="0"/>
          </a:p>
        </p:txBody>
      </p:sp>
      <p:sp>
        <p:nvSpPr>
          <p:cNvPr id="13" name="Shape 11"/>
          <p:cNvSpPr/>
          <p:nvPr/>
        </p:nvSpPr>
        <p:spPr>
          <a:xfrm>
            <a:off x="457200" y="2057400"/>
            <a:ext cx="5029200" cy="4114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05740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user-profiles.csv.gz</a:t>
            </a:r>
            <a:endParaRPr lang="en-US" sz="1300" dirty="0"/>
          </a:p>
        </p:txBody>
      </p:sp>
      <p:sp>
        <p:nvSpPr>
          <p:cNvPr id="15" name="Shape 13"/>
          <p:cNvSpPr/>
          <p:nvPr/>
        </p:nvSpPr>
        <p:spPr>
          <a:xfrm>
            <a:off x="457200" y="2560320"/>
            <a:ext cx="5029200" cy="411480"/>
          </a:xfrm>
          <a:prstGeom prst="rect">
            <a:avLst/>
          </a:prstGeom>
          <a:solidFill>
            <a:srgbClr val="0A4250"/>
          </a:solidFill>
          <a:ln w="12700">
            <a:solidFill>
              <a:srgbClr val="1E5A6B"/>
            </a:solidFill>
            <a:prstDash val="solid"/>
          </a:ln>
        </p:spPr>
        <p:txBody>
          <a:bodyPr/>
          <a:lstStyle/>
          <a:p>
            <a:endParaRPr lang="en-US"/>
          </a:p>
        </p:txBody>
      </p:sp>
      <p:sp>
        <p:nvSpPr>
          <p:cNvPr id="16" name="Text 14"/>
          <p:cNvSpPr/>
          <p:nvPr/>
        </p:nvSpPr>
        <p:spPr>
          <a:xfrm>
            <a:off x="640080" y="256032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viewing-history.csv.gz</a:t>
            </a:r>
            <a:endParaRPr lang="en-US" sz="1300" dirty="0"/>
          </a:p>
        </p:txBody>
      </p:sp>
      <p:sp>
        <p:nvSpPr>
          <p:cNvPr id="17" name="Shape 15"/>
          <p:cNvSpPr/>
          <p:nvPr/>
        </p:nvSpPr>
        <p:spPr>
          <a:xfrm>
            <a:off x="457200" y="3063240"/>
            <a:ext cx="5029200" cy="4114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6324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content-catalog.json.gz</a:t>
            </a:r>
            <a:endParaRPr lang="en-US" sz="1300" dirty="0"/>
          </a:p>
        </p:txBody>
      </p:sp>
      <p:sp>
        <p:nvSpPr>
          <p:cNvPr id="19" name="Shape 17"/>
          <p:cNvSpPr/>
          <p:nvPr/>
        </p:nvSpPr>
        <p:spPr>
          <a:xfrm>
            <a:off x="457200" y="3566160"/>
            <a:ext cx="5029200" cy="411480"/>
          </a:xfrm>
          <a:prstGeom prst="rect">
            <a:avLst/>
          </a:prstGeom>
          <a:solidFill>
            <a:srgbClr val="0A4250"/>
          </a:solidFill>
          <a:ln w="12700">
            <a:solidFill>
              <a:srgbClr val="1E5A6B"/>
            </a:solidFill>
            <a:prstDash val="solid"/>
          </a:ln>
        </p:spPr>
        <p:txBody>
          <a:bodyPr/>
          <a:lstStyle/>
          <a:p>
            <a:endParaRPr lang="en-US"/>
          </a:p>
        </p:txBody>
      </p:sp>
      <p:sp>
        <p:nvSpPr>
          <p:cNvPr id="20" name="Text 18"/>
          <p:cNvSpPr/>
          <p:nvPr/>
        </p:nvSpPr>
        <p:spPr>
          <a:xfrm>
            <a:off x="640080" y="356616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user-interactions.json.gz</a:t>
            </a:r>
            <a:endParaRPr lang="en-US" sz="1300" dirty="0"/>
          </a:p>
        </p:txBody>
      </p:sp>
      <p:sp>
        <p:nvSpPr>
          <p:cNvPr id="21" name="Shape 19"/>
          <p:cNvSpPr/>
          <p:nvPr/>
        </p:nvSpPr>
        <p:spPr>
          <a:xfrm>
            <a:off x="457200" y="4069080"/>
            <a:ext cx="5029200" cy="4114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406908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streaming-quality.csv.gz</a:t>
            </a:r>
            <a:endParaRPr lang="en-US" sz="1300" dirty="0"/>
          </a:p>
        </p:txBody>
      </p:sp>
      <p:sp>
        <p:nvSpPr>
          <p:cNvPr id="23" name="Text 21"/>
          <p:cNvSpPr/>
          <p:nvPr/>
        </p:nvSpPr>
        <p:spPr>
          <a:xfrm>
            <a:off x="6126480" y="1691640"/>
            <a:ext cx="54864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QUESTIONS THAT GO UNANSWERED</a:t>
            </a:r>
            <a:endParaRPr lang="en-US" sz="1100" dirty="0"/>
          </a:p>
        </p:txBody>
      </p:sp>
      <p:sp>
        <p:nvSpPr>
          <p:cNvPr id="24" name="Shape 22"/>
          <p:cNvSpPr/>
          <p:nvPr/>
        </p:nvSpPr>
        <p:spPr>
          <a:xfrm>
            <a:off x="6126480" y="2057400"/>
            <a:ext cx="5486400" cy="86868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6126480" y="2057400"/>
            <a:ext cx="73152" cy="868680"/>
          </a:xfrm>
          <a:prstGeom prst="rect">
            <a:avLst/>
          </a:prstGeom>
          <a:solidFill>
            <a:srgbClr val="E8654A"/>
          </a:solidFill>
          <a:ln w="12700">
            <a:solidFill>
              <a:srgbClr val="E8654A"/>
            </a:solidFill>
            <a:prstDash val="solid"/>
          </a:ln>
        </p:spPr>
        <p:txBody>
          <a:bodyPr/>
          <a:lstStyle/>
          <a:p>
            <a:endParaRPr lang="en-US"/>
          </a:p>
        </p:txBody>
      </p:sp>
      <p:sp>
        <p:nvSpPr>
          <p:cNvPr id="26" name="Text 24"/>
          <p:cNvSpPr/>
          <p:nvPr/>
        </p:nvSpPr>
        <p:spPr>
          <a:xfrm>
            <a:off x="6355080" y="210312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titles cost more in licensing than they earn in viewing hours?"</a:t>
            </a:r>
            <a:endParaRPr lang="en-US" sz="1300" dirty="0"/>
          </a:p>
        </p:txBody>
      </p:sp>
      <p:sp>
        <p:nvSpPr>
          <p:cNvPr id="27" name="Text 25"/>
          <p:cNvSpPr/>
          <p:nvPr/>
        </p:nvSpPr>
        <p:spPr>
          <a:xfrm>
            <a:off x="6355080" y="260604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Annual content waste</a:t>
            </a:r>
            <a:endParaRPr lang="en-US" sz="1000" dirty="0"/>
          </a:p>
        </p:txBody>
      </p:sp>
      <p:sp>
        <p:nvSpPr>
          <p:cNvPr id="28" name="Shape 26"/>
          <p:cNvSpPr/>
          <p:nvPr/>
        </p:nvSpPr>
        <p:spPr>
          <a:xfrm>
            <a:off x="6126480" y="3063240"/>
            <a:ext cx="5486400" cy="86868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6126480" y="3063240"/>
            <a:ext cx="73152" cy="868680"/>
          </a:xfrm>
          <a:prstGeom prst="rect">
            <a:avLst/>
          </a:prstGeom>
          <a:solidFill>
            <a:srgbClr val="E8654A"/>
          </a:solidFill>
          <a:ln w="12700">
            <a:solidFill>
              <a:srgbClr val="E8654A"/>
            </a:solidFill>
            <a:prstDash val="solid"/>
          </a:ln>
        </p:spPr>
        <p:txBody>
          <a:bodyPr/>
          <a:lstStyle/>
          <a:p>
            <a:endParaRPr lang="en-US"/>
          </a:p>
        </p:txBody>
      </p:sp>
      <p:sp>
        <p:nvSpPr>
          <p:cNvPr id="30" name="Text 28"/>
          <p:cNvSpPr/>
          <p:nvPr/>
        </p:nvSpPr>
        <p:spPr>
          <a:xfrm>
            <a:off x="6355080" y="310896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"Does buffering rate predict cancellation among Premium users?"</a:t>
            </a:r>
            <a:endParaRPr lang="en-US" sz="1300" dirty="0"/>
          </a:p>
        </p:txBody>
      </p:sp>
      <p:sp>
        <p:nvSpPr>
          <p:cNvPr id="31" name="Text 29"/>
          <p:cNvSpPr/>
          <p:nvPr/>
        </p:nvSpPr>
        <p:spPr>
          <a:xfrm>
            <a:off x="6355080" y="361188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Avoidable churn</a:t>
            </a:r>
            <a:endParaRPr lang="en-US" sz="1000" dirty="0"/>
          </a:p>
        </p:txBody>
      </p:sp>
      <p:sp>
        <p:nvSpPr>
          <p:cNvPr id="32" name="Shape 30"/>
          <p:cNvSpPr/>
          <p:nvPr/>
        </p:nvSpPr>
        <p:spPr>
          <a:xfrm>
            <a:off x="6126480" y="4069080"/>
            <a:ext cx="5486400" cy="868680"/>
          </a:xfrm>
          <a:prstGeom prst="rect">
            <a:avLst/>
          </a:prstGeom>
          <a:solidFill>
            <a:srgbClr val="0A4250"/>
          </a:solidFill>
          <a:ln w="12700">
            <a:solidFill>
              <a:srgbClr val="1E5A6B"/>
            </a:solidFill>
            <a:prstDash val="solid"/>
          </a:ln>
        </p:spPr>
        <p:txBody>
          <a:bodyPr/>
          <a:lstStyle/>
          <a:p>
            <a:endParaRPr lang="en-US"/>
          </a:p>
        </p:txBody>
      </p:sp>
      <p:sp>
        <p:nvSpPr>
          <p:cNvPr id="33" name="Shape 31"/>
          <p:cNvSpPr/>
          <p:nvPr/>
        </p:nvSpPr>
        <p:spPr>
          <a:xfrm>
            <a:off x="6126480" y="4069080"/>
            <a:ext cx="73152" cy="868680"/>
          </a:xfrm>
          <a:prstGeom prst="rect">
            <a:avLst/>
          </a:prstGeom>
          <a:solidFill>
            <a:srgbClr val="E8654A"/>
          </a:solidFill>
          <a:ln w="12700">
            <a:solidFill>
              <a:srgbClr val="E8654A"/>
            </a:solidFill>
            <a:prstDash val="solid"/>
          </a:ln>
        </p:spPr>
        <p:txBody>
          <a:bodyPr/>
          <a:lstStyle/>
          <a:p>
            <a:endParaRPr lang="en-US"/>
          </a:p>
        </p:txBody>
      </p:sp>
      <p:sp>
        <p:nvSpPr>
          <p:cNvPr id="34" name="Text 32"/>
          <p:cNvSpPr/>
          <p:nvPr/>
        </p:nvSpPr>
        <p:spPr>
          <a:xfrm>
            <a:off x="6355080" y="411480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engagement signals appear before a user disengages?"</a:t>
            </a:r>
            <a:endParaRPr lang="en-US" sz="1300" dirty="0"/>
          </a:p>
        </p:txBody>
      </p:sp>
      <p:sp>
        <p:nvSpPr>
          <p:cNvPr id="35" name="Text 33"/>
          <p:cNvSpPr/>
          <p:nvPr/>
        </p:nvSpPr>
        <p:spPr>
          <a:xfrm>
            <a:off x="6355080" y="461772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Late retention response</a:t>
            </a:r>
            <a:endParaRPr lang="en-US" sz="1000" dirty="0"/>
          </a:p>
        </p:txBody>
      </p:sp>
      <p:sp>
        <p:nvSpPr>
          <p:cNvPr id="36" name="Shape 34"/>
          <p:cNvSpPr/>
          <p:nvPr/>
        </p:nvSpPr>
        <p:spPr>
          <a:xfrm>
            <a:off x="457200" y="5440680"/>
            <a:ext cx="11247120" cy="640080"/>
          </a:xfrm>
          <a:prstGeom prst="rect">
            <a:avLst/>
          </a:prstGeom>
          <a:solidFill>
            <a:srgbClr val="0A4250"/>
          </a:solidFill>
          <a:ln w="25400">
            <a:solidFill>
              <a:srgbClr val="3FE0E0"/>
            </a:solidFill>
            <a:prstDash val="solid"/>
          </a:ln>
        </p:spPr>
        <p:txBody>
          <a:bodyPr/>
          <a:lstStyle/>
          <a:p>
            <a:endParaRPr lang="en-US"/>
          </a:p>
        </p:txBody>
      </p:sp>
      <p:sp>
        <p:nvSpPr>
          <p:cNvPr id="37" name="Text 35"/>
          <p:cNvSpPr/>
          <p:nvPr/>
        </p:nvSpPr>
        <p:spPr>
          <a:xfrm>
            <a:off x="640080" y="5440680"/>
            <a:ext cx="10881360" cy="6400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MediaWave is not data-poor. It is integration-poor. Every cross-source question represents a recurring blind spot.</a:t>
            </a:r>
            <a:endParaRPr lang="en-US" sz="1400" dirty="0"/>
          </a:p>
        </p:txBody>
      </p:sp>
      <p:sp>
        <p:nvSpPr>
          <p:cNvPr id="38" name="Text 36"/>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39" name="Text 3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02</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We Found</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THREE FINDINGS THAT WARRANT IMMEDIATE ATTENTION</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Three findings. Two confirm hypotheses. One contradicts it.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Findings derived from MediaWave's full dataset of 200K users and 20K titles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73152" cy="42519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CONTENT ROI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of catalog cost sits in titles whose ROI falls below the median</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731520" y="452628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731520"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The bottom decile of titles drives $3.13B in annual license cost — a 860× variance separates the worst-ROI and best-ROI titles in the 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73152" cy="425196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F0A23E"/>
                </a:solidFill>
                <a:effectLst/>
                <a:uLnTx/>
                <a:uFillTx/>
                <a:latin typeface="Calibri" pitchFamily="34" charset="0"/>
                <a:ea typeface="Calibri" pitchFamily="34" charset="-122"/>
                <a:cs typeface="Calibri"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&lt;1 pp</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completion-rate spread across all three plan tiers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4526280"/>
            <a:ext cx="91440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Engagement is virtually tier-agnostic: Basic 52.8%, Standard 52.6%, Premium 52.9%. Counter to common assumption — recommendation tuning should target title-level signals, not subscriber tier.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Shape 25"/>
          <p:cNvSpPr/>
          <p:nvPr/>
        </p:nvSpPr>
        <p:spPr>
          <a:xfrm>
            <a:off x="8266176" y="1828800"/>
            <a:ext cx="73152" cy="425196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E8654A"/>
                </a:solidFill>
                <a:effectLst/>
                <a:uLnTx/>
                <a:uFillTx/>
                <a:latin typeface="Calibri" pitchFamily="34" charset="0"/>
                <a:ea typeface="Calibri" pitchFamily="34" charset="-122"/>
                <a:cs typeface="Calibri" pitchFamily="34" charset="-120"/>
              </a:rPr>
              <a:t>RETENTION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42%</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lower monthly hours watched among users who churned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8540496" y="4526280"/>
            <a:ext cx="914400" cy="0"/>
          </a:xfrm>
          <a:prstGeom prst="line">
            <a:avLst/>
          </a:prstGeom>
          <a:noFill/>
          <a:ln w="254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Retained users average 26.4 hours per month; churned users 15.2. Total engagement volume is the dominant churn precursor — far stronger than buffering or completion signals.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03</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How We Built the Answer</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ARCHITECTURE, CHOICES, AND PRODUCTION READINESS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 four-layer pipeline reproducible from a single command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services orchestrate via Docker; full stack deploys in approximately three minutes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11247120" cy="7772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914400" cy="777240"/>
          </a:xfrm>
          <a:prstGeom prst="rect">
            <a:avLst/>
          </a:prstGeom>
          <a:solidFill>
            <a:srgbClr val="001D24"/>
          </a:solidFill>
          <a:ln w="12700">
            <a:solidFill>
              <a:srgbClr val="1E5A6B"/>
            </a:solidFill>
            <a:prstDash val="solid"/>
          </a:ln>
        </p:spPr>
        <p:txBody>
          <a:bodyPr/>
          <a:lstStyle/>
          <a:p>
            <a:endParaRPr lang="en-US"/>
          </a:p>
        </p:txBody>
      </p:sp>
      <p:sp>
        <p:nvSpPr>
          <p:cNvPr id="14" name="Text 12"/>
          <p:cNvSpPr/>
          <p:nvPr/>
        </p:nvSpPr>
        <p:spPr>
          <a:xfrm>
            <a:off x="457200" y="182880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01</a:t>
            </a:r>
            <a:endParaRPr lang="en-US" sz="2400" dirty="0"/>
          </a:p>
        </p:txBody>
      </p:sp>
      <p:sp>
        <p:nvSpPr>
          <p:cNvPr id="15" name="Text 13"/>
          <p:cNvSpPr/>
          <p:nvPr/>
        </p:nvSpPr>
        <p:spPr>
          <a:xfrm>
            <a:off x="1554480" y="182880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STORE</a:t>
            </a:r>
            <a:endParaRPr lang="en-US" sz="1500" dirty="0"/>
          </a:p>
        </p:txBody>
      </p:sp>
      <p:sp>
        <p:nvSpPr>
          <p:cNvPr id="16" name="Text 14"/>
          <p:cNvSpPr/>
          <p:nvPr/>
        </p:nvSpPr>
        <p:spPr>
          <a:xfrm>
            <a:off x="3931920" y="182880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HDFS</a:t>
            </a:r>
            <a:endParaRPr lang="en-US" sz="1400" dirty="0"/>
          </a:p>
        </p:txBody>
      </p:sp>
      <p:sp>
        <p:nvSpPr>
          <p:cNvPr id="17" name="Text 15"/>
          <p:cNvSpPr/>
          <p:nvPr/>
        </p:nvSpPr>
        <p:spPr>
          <a:xfrm>
            <a:off x="6492240" y="182880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Three-zone data lake: landing, curated, analytics</a:t>
            </a:r>
            <a:endParaRPr lang="en-US" sz="1200" dirty="0"/>
          </a:p>
        </p:txBody>
      </p:sp>
      <p:sp>
        <p:nvSpPr>
          <p:cNvPr id="18" name="Shape 16"/>
          <p:cNvSpPr/>
          <p:nvPr/>
        </p:nvSpPr>
        <p:spPr>
          <a:xfrm>
            <a:off x="457200" y="2697480"/>
            <a:ext cx="11247120" cy="777240"/>
          </a:xfrm>
          <a:prstGeom prst="rect">
            <a:avLst/>
          </a:prstGeom>
          <a:solidFill>
            <a:srgbClr val="0A4250"/>
          </a:solidFill>
          <a:ln w="12700">
            <a:solidFill>
              <a:srgbClr val="1E5A6B"/>
            </a:solidFill>
            <a:prstDash val="solid"/>
          </a:ln>
        </p:spPr>
        <p:txBody>
          <a:bodyPr/>
          <a:lstStyle/>
          <a:p>
            <a:endParaRPr lang="en-US"/>
          </a:p>
        </p:txBody>
      </p:sp>
      <p:sp>
        <p:nvSpPr>
          <p:cNvPr id="19" name="Shape 17"/>
          <p:cNvSpPr/>
          <p:nvPr/>
        </p:nvSpPr>
        <p:spPr>
          <a:xfrm>
            <a:off x="457200" y="2697480"/>
            <a:ext cx="914400" cy="777240"/>
          </a:xfrm>
          <a:prstGeom prst="rect">
            <a:avLst/>
          </a:prstGeom>
          <a:solidFill>
            <a:srgbClr val="001D24"/>
          </a:solidFill>
          <a:ln w="12700">
            <a:solidFill>
              <a:srgbClr val="1E5A6B"/>
            </a:solidFill>
            <a:prstDash val="solid"/>
          </a:ln>
        </p:spPr>
        <p:txBody>
          <a:bodyPr/>
          <a:lstStyle/>
          <a:p>
            <a:endParaRPr lang="en-US"/>
          </a:p>
        </p:txBody>
      </p:sp>
      <p:sp>
        <p:nvSpPr>
          <p:cNvPr id="20" name="Text 18"/>
          <p:cNvSpPr/>
          <p:nvPr/>
        </p:nvSpPr>
        <p:spPr>
          <a:xfrm>
            <a:off x="457200" y="269748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02</a:t>
            </a:r>
            <a:endParaRPr lang="en-US" sz="2400" dirty="0"/>
          </a:p>
        </p:txBody>
      </p:sp>
      <p:sp>
        <p:nvSpPr>
          <p:cNvPr id="21" name="Text 19"/>
          <p:cNvSpPr/>
          <p:nvPr/>
        </p:nvSpPr>
        <p:spPr>
          <a:xfrm>
            <a:off x="1554480" y="269748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TRANSFORM</a:t>
            </a:r>
            <a:endParaRPr lang="en-US" sz="1500" dirty="0"/>
          </a:p>
        </p:txBody>
      </p:sp>
      <p:sp>
        <p:nvSpPr>
          <p:cNvPr id="22" name="Text 20"/>
          <p:cNvSpPr/>
          <p:nvPr/>
        </p:nvSpPr>
        <p:spPr>
          <a:xfrm>
            <a:off x="3931920" y="269748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PySpark</a:t>
            </a:r>
            <a:endParaRPr lang="en-US" sz="1400" dirty="0"/>
          </a:p>
        </p:txBody>
      </p:sp>
      <p:sp>
        <p:nvSpPr>
          <p:cNvPr id="23" name="Text 21"/>
          <p:cNvSpPr/>
          <p:nvPr/>
        </p:nvSpPr>
        <p:spPr>
          <a:xfrm>
            <a:off x="6492240" y="269748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Cleaning, three-way joins, business aggregations</a:t>
            </a:r>
            <a:endParaRPr lang="en-US" sz="1200" dirty="0"/>
          </a:p>
        </p:txBody>
      </p:sp>
      <p:sp>
        <p:nvSpPr>
          <p:cNvPr id="24" name="Shape 22"/>
          <p:cNvSpPr/>
          <p:nvPr/>
        </p:nvSpPr>
        <p:spPr>
          <a:xfrm>
            <a:off x="457200" y="3566160"/>
            <a:ext cx="11247120" cy="77724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457200" y="3566160"/>
            <a:ext cx="914400" cy="777240"/>
          </a:xfrm>
          <a:prstGeom prst="rect">
            <a:avLst/>
          </a:prstGeom>
          <a:solidFill>
            <a:srgbClr val="001D24"/>
          </a:solidFill>
          <a:ln w="12700">
            <a:solidFill>
              <a:srgbClr val="1E5A6B"/>
            </a:solidFill>
            <a:prstDash val="solid"/>
          </a:ln>
        </p:spPr>
        <p:txBody>
          <a:bodyPr/>
          <a:lstStyle/>
          <a:p>
            <a:endParaRPr lang="en-US"/>
          </a:p>
        </p:txBody>
      </p:sp>
      <p:sp>
        <p:nvSpPr>
          <p:cNvPr id="26" name="Text 24"/>
          <p:cNvSpPr/>
          <p:nvPr/>
        </p:nvSpPr>
        <p:spPr>
          <a:xfrm>
            <a:off x="457200" y="356616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03</a:t>
            </a:r>
            <a:endParaRPr lang="en-US" sz="2400" dirty="0"/>
          </a:p>
        </p:txBody>
      </p:sp>
      <p:sp>
        <p:nvSpPr>
          <p:cNvPr id="27" name="Text 25"/>
          <p:cNvSpPr/>
          <p:nvPr/>
        </p:nvSpPr>
        <p:spPr>
          <a:xfrm>
            <a:off x="1554480" y="356616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STREAM</a:t>
            </a:r>
            <a:endParaRPr lang="en-US" sz="1500" dirty="0"/>
          </a:p>
        </p:txBody>
      </p:sp>
      <p:sp>
        <p:nvSpPr>
          <p:cNvPr id="28" name="Text 26"/>
          <p:cNvSpPr/>
          <p:nvPr/>
        </p:nvSpPr>
        <p:spPr>
          <a:xfrm>
            <a:off x="3931920" y="356616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Kafka + Spark</a:t>
            </a:r>
            <a:endParaRPr lang="en-US" sz="1400" dirty="0"/>
          </a:p>
        </p:txBody>
      </p:sp>
      <p:sp>
        <p:nvSpPr>
          <p:cNvPr id="29" name="Text 27"/>
          <p:cNvSpPr/>
          <p:nvPr/>
        </p:nvSpPr>
        <p:spPr>
          <a:xfrm>
            <a:off x="6492240" y="356616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Real-time event processing with windowed alerts</a:t>
            </a:r>
            <a:endParaRPr lang="en-US" sz="1200" dirty="0"/>
          </a:p>
        </p:txBody>
      </p:sp>
      <p:sp>
        <p:nvSpPr>
          <p:cNvPr id="30" name="Shape 28"/>
          <p:cNvSpPr/>
          <p:nvPr/>
        </p:nvSpPr>
        <p:spPr>
          <a:xfrm>
            <a:off x="457200" y="4434840"/>
            <a:ext cx="11247120" cy="777240"/>
          </a:xfrm>
          <a:prstGeom prst="rect">
            <a:avLst/>
          </a:prstGeom>
          <a:solidFill>
            <a:srgbClr val="0A4250"/>
          </a:solidFill>
          <a:ln w="12700">
            <a:solidFill>
              <a:srgbClr val="1E5A6B"/>
            </a:solidFill>
            <a:prstDash val="solid"/>
          </a:ln>
        </p:spPr>
        <p:txBody>
          <a:bodyPr/>
          <a:lstStyle/>
          <a:p>
            <a:endParaRPr lang="en-US"/>
          </a:p>
        </p:txBody>
      </p:sp>
      <p:sp>
        <p:nvSpPr>
          <p:cNvPr id="31" name="Shape 29"/>
          <p:cNvSpPr/>
          <p:nvPr/>
        </p:nvSpPr>
        <p:spPr>
          <a:xfrm>
            <a:off x="457200" y="4434840"/>
            <a:ext cx="914400" cy="777240"/>
          </a:xfrm>
          <a:prstGeom prst="rect">
            <a:avLst/>
          </a:prstGeom>
          <a:solidFill>
            <a:srgbClr val="001D24"/>
          </a:solidFill>
          <a:ln w="12700">
            <a:solidFill>
              <a:srgbClr val="1E5A6B"/>
            </a:solidFill>
            <a:prstDash val="solid"/>
          </a:ln>
        </p:spPr>
        <p:txBody>
          <a:bodyPr/>
          <a:lstStyle/>
          <a:p>
            <a:endParaRPr lang="en-US"/>
          </a:p>
        </p:txBody>
      </p:sp>
      <p:sp>
        <p:nvSpPr>
          <p:cNvPr id="32" name="Text 30"/>
          <p:cNvSpPr/>
          <p:nvPr/>
        </p:nvSpPr>
        <p:spPr>
          <a:xfrm>
            <a:off x="457200" y="443484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04</a:t>
            </a:r>
            <a:endParaRPr lang="en-US" sz="2400" dirty="0"/>
          </a:p>
        </p:txBody>
      </p:sp>
      <p:sp>
        <p:nvSpPr>
          <p:cNvPr id="33" name="Text 31"/>
          <p:cNvSpPr/>
          <p:nvPr/>
        </p:nvSpPr>
        <p:spPr>
          <a:xfrm>
            <a:off x="1554480" y="443484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ORCHESTRATE</a:t>
            </a:r>
            <a:endParaRPr lang="en-US" sz="1500" dirty="0"/>
          </a:p>
        </p:txBody>
      </p:sp>
      <p:sp>
        <p:nvSpPr>
          <p:cNvPr id="34" name="Text 32"/>
          <p:cNvSpPr/>
          <p:nvPr/>
        </p:nvSpPr>
        <p:spPr>
          <a:xfrm>
            <a:off x="3931920" y="443484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Apache Airflow</a:t>
            </a:r>
            <a:endParaRPr lang="en-US" sz="1400" dirty="0"/>
          </a:p>
        </p:txBody>
      </p:sp>
      <p:sp>
        <p:nvSpPr>
          <p:cNvPr id="35" name="Text 33"/>
          <p:cNvSpPr/>
          <p:nvPr/>
        </p:nvSpPr>
        <p:spPr>
          <a:xfrm>
            <a:off x="6492240" y="443484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Quality gates, retries, idempotent re-runs</a:t>
            </a:r>
            <a:endParaRPr lang="en-US" sz="1200" dirty="0"/>
          </a:p>
        </p:txBody>
      </p:sp>
      <p:sp>
        <p:nvSpPr>
          <p:cNvPr id="36" name="Shape 34"/>
          <p:cNvSpPr/>
          <p:nvPr/>
        </p:nvSpPr>
        <p:spPr>
          <a:xfrm>
            <a:off x="457200" y="5486400"/>
            <a:ext cx="11247120" cy="594360"/>
          </a:xfrm>
          <a:prstGeom prst="rect">
            <a:avLst/>
          </a:prstGeom>
          <a:solidFill>
            <a:srgbClr val="001D24"/>
          </a:solidFill>
          <a:ln w="12700">
            <a:solidFill>
              <a:srgbClr val="3FE0E0"/>
            </a:solidFill>
            <a:prstDash val="solid"/>
          </a:ln>
        </p:spPr>
        <p:txBody>
          <a:bodyPr/>
          <a:lstStyle/>
          <a:p>
            <a:endParaRPr lang="en-US"/>
          </a:p>
        </p:txBody>
      </p:sp>
      <p:sp>
        <p:nvSpPr>
          <p:cNvPr id="37" name="Text 35"/>
          <p:cNvSpPr/>
          <p:nvPr/>
        </p:nvSpPr>
        <p:spPr>
          <a:xfrm>
            <a:off x="640080" y="5486400"/>
            <a:ext cx="4572000" cy="594360"/>
          </a:xfrm>
          <a:prstGeom prst="rect">
            <a:avLst/>
          </a:prstGeom>
          <a:noFill/>
          <a:ln/>
        </p:spPr>
        <p:txBody>
          <a:bodyPr wrap="square" lIns="0" tIns="0" rIns="0" bIns="0" rtlCol="0" anchor="ctr"/>
          <a:lstStyle/>
          <a:p>
            <a:pPr marL="0" indent="0">
              <a:buNone/>
            </a:pPr>
            <a:r>
              <a:rPr lang="en-US" sz="1600" b="1" dirty="0">
                <a:solidFill>
                  <a:srgbClr val="3FE0E0"/>
                </a:solidFill>
                <a:latin typeface="Consolas" pitchFamily="34" charset="0"/>
                <a:ea typeface="Consolas" pitchFamily="34" charset="-122"/>
                <a:cs typeface="Consolas" pitchFamily="34" charset="-120"/>
              </a:rPr>
              <a:t>$ docker compose up -d</a:t>
            </a:r>
            <a:endParaRPr lang="en-US" sz="1600" dirty="0"/>
          </a:p>
        </p:txBody>
      </p:sp>
      <p:sp>
        <p:nvSpPr>
          <p:cNvPr id="38" name="Text 36"/>
          <p:cNvSpPr/>
          <p:nvPr/>
        </p:nvSpPr>
        <p:spPr>
          <a:xfrm>
            <a:off x="5212080" y="5486400"/>
            <a:ext cx="6400800" cy="594360"/>
          </a:xfrm>
          <a:prstGeom prst="rect">
            <a:avLst/>
          </a:prstGeom>
          <a:noFill/>
          <a:ln/>
        </p:spPr>
        <p:txBody>
          <a:bodyPr wrap="square" lIns="0" tIns="0" rIns="0" bIns="0" rtlCol="0" anchor="ctr"/>
          <a:lstStyle/>
          <a:p>
            <a:pPr marL="0" indent="0" algn="r">
              <a:buNone/>
            </a:pPr>
            <a:r>
              <a:rPr lang="en-US" sz="1200" i="1" dirty="0">
                <a:solidFill>
                  <a:srgbClr val="B7D7DC"/>
                </a:solidFill>
                <a:latin typeface="Calibri" pitchFamily="34" charset="0"/>
                <a:ea typeface="Calibri" pitchFamily="34" charset="-122"/>
                <a:cs typeface="Calibri" pitchFamily="34" charset="-120"/>
              </a:rPr>
              <a:t>Eleven services, four layers, full pipeline · 3-minute boot time</a:t>
            </a:r>
            <a:endParaRPr lang="en-US" sz="1200" dirty="0"/>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How data moves · five sources to three analytics tables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Lambda architecture: batch and streaming both feed the analytics layer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548640" y="1737360"/>
            <a:ext cx="1691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RAW SOURCES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 y="210312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10312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user-profiles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65176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548640" y="265176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viewing-history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548640" y="320040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548640" y="320040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content-catalog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74904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548640" y="374904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user-interactions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 y="429768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429768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streaming-quality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274320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LANDING (HDFS)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743200" y="2103120"/>
            <a:ext cx="2011680" cy="3291840"/>
          </a:xfrm>
          <a:prstGeom prst="rect">
            <a:avLst/>
          </a:prstGeom>
          <a:solidFill>
            <a:srgbClr val="001D24"/>
          </a:solid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74320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Raw files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immutable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2743200" y="35661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CSV.gz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JSON.gz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2743200" y="44805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RF=2 critical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RF=1 high-vol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2286000" y="233172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2286000" y="288036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2286000" y="342900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2286000" y="397764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Shape 30"/>
          <p:cNvSpPr/>
          <p:nvPr/>
        </p:nvSpPr>
        <p:spPr>
          <a:xfrm>
            <a:off x="2286000" y="452628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512064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CURATED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5120640" y="2103120"/>
            <a:ext cx="2011680" cy="3291840"/>
          </a:xfrm>
          <a:prstGeom prst="rect">
            <a:avLst/>
          </a:prstGeom>
          <a:solidFill>
            <a:srgbClr val="001D24"/>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512064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PySpark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5120640" y="3474720"/>
            <a:ext cx="2011680" cy="10058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clean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+ 3-way join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5120640" y="457200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5–10× compression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4× scan speed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4800600" y="3749040"/>
            <a:ext cx="2743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749808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ANALYTICS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7498080" y="2103120"/>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7498080" y="2103120"/>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user-monthly-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7498080" y="3227832"/>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7498080" y="3227832"/>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content-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performance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2"/>
          <p:cNvSpPr/>
          <p:nvPr/>
        </p:nvSpPr>
        <p:spPr>
          <a:xfrm>
            <a:off x="7498080" y="4352544"/>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Text 43"/>
          <p:cNvSpPr/>
          <p:nvPr/>
        </p:nvSpPr>
        <p:spPr>
          <a:xfrm>
            <a:off x="7498080" y="4352544"/>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streaming-quality-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region-isp</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7178040" y="2583180"/>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Shape 45"/>
          <p:cNvSpPr/>
          <p:nvPr/>
        </p:nvSpPr>
        <p:spPr>
          <a:xfrm>
            <a:off x="7178040" y="3707892"/>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Shape 46"/>
          <p:cNvSpPr/>
          <p:nvPr/>
        </p:nvSpPr>
        <p:spPr>
          <a:xfrm>
            <a:off x="7178040" y="4832604"/>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784080" y="173736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BUSINESS USE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9784080" y="237744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Churn early-warning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9784080" y="347472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Content ROI review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9784080" y="457200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CDN investment plan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5120640" y="5669280"/>
            <a:ext cx="2011680" cy="548640"/>
          </a:xfrm>
          <a:prstGeom prst="rect">
            <a:avLst/>
          </a:prstGeom>
          <a:solidFill>
            <a:srgbClr val="001D24"/>
          </a:solid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5120640" y="5669280"/>
            <a:ext cx="201168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Kafka + Spark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2697480" y="2880360"/>
            <a:ext cx="0" cy="269748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Shape 54"/>
          <p:cNvSpPr/>
          <p:nvPr/>
        </p:nvSpPr>
        <p:spPr>
          <a:xfrm>
            <a:off x="2697480" y="5943600"/>
            <a:ext cx="2377440" cy="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 name="Text 55"/>
          <p:cNvSpPr/>
          <p:nvPr/>
        </p:nvSpPr>
        <p:spPr>
          <a:xfrm>
            <a:off x="2743200" y="5715000"/>
            <a:ext cx="22860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producer replays events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7178040" y="5943600"/>
            <a:ext cx="2560320" cy="0"/>
          </a:xfrm>
          <a:prstGeom prst="line">
            <a:avLst/>
          </a:prstGeom>
          <a:no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9784080" y="5669280"/>
            <a:ext cx="22860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 Real-time alerts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548640" y="6263640"/>
            <a:ext cx="10972800" cy="16459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Solid arrows: batch path  ·  Dashed arrows: streaming path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6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these four technologies · alternatives we evaluated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Each choice was diligenced against credible alternatives before commitment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HDFS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457200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6" name="Table 0"/>
          <p:cNvGraphicFramePr>
            <a:graphicFrameLocks noGrp="1"/>
          </p:cNvGraphicFramePr>
          <p:nvPr/>
        </p:nvGraphicFramePr>
        <p:xfrm>
          <a:off x="68580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Replication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Spark integration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HDFS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 configurable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S3 + EMRFS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Raw S3</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Cross-region, expensive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via connector</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Already cloud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Local 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Not viable at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17" name="Shape 14"/>
          <p:cNvSpPr/>
          <p:nvPr/>
        </p:nvSpPr>
        <p:spPr>
          <a:xfrm>
            <a:off x="608076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5"/>
          <p:cNvSpPr/>
          <p:nvPr/>
        </p:nvSpPr>
        <p:spPr>
          <a:xfrm>
            <a:off x="608076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6"/>
          <p:cNvSpPr/>
          <p:nvPr/>
        </p:nvSpPr>
        <p:spPr>
          <a:xfrm>
            <a:off x="630936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PySpark</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p:nvPr/>
        </p:nvSpPr>
        <p:spPr>
          <a:xfrm>
            <a:off x="1019556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1" name="Table 1"/>
          <p:cNvGraphicFramePr>
            <a:graphicFrameLocks noGrp="1"/>
          </p:cNvGraphicFramePr>
          <p:nvPr/>
        </p:nvGraphicFramePr>
        <p:xfrm>
          <a:off x="630936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Scale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Code reuse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Memory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PySpark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Petabytes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Same code at any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Distributed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pandas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~100M rows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 RAM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Polars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Fast but bounded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2" name="Shape 18"/>
          <p:cNvSpPr/>
          <p:nvPr/>
        </p:nvSpPr>
        <p:spPr>
          <a:xfrm>
            <a:off x="45720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19"/>
          <p:cNvSpPr/>
          <p:nvPr/>
        </p:nvSpPr>
        <p:spPr>
          <a:xfrm>
            <a:off x="45720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0"/>
          <p:cNvSpPr/>
          <p:nvPr/>
        </p:nvSpPr>
        <p:spPr>
          <a:xfrm>
            <a:off x="68580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Kafka</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1"/>
          <p:cNvSpPr/>
          <p:nvPr/>
        </p:nvSpPr>
        <p:spPr>
          <a:xfrm>
            <a:off x="457200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6" name="Table 2"/>
          <p:cNvGraphicFramePr>
            <a:graphicFrameLocks noGrp="1"/>
          </p:cNvGraphicFramePr>
          <p:nvPr/>
        </p:nvGraphicFramePr>
        <p:xfrm>
          <a:off x="68580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Vendor lock-in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Throughput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Kafka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None — open source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Millions msg/sec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MSK or Confluent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 Kinesis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AWS-only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Comparable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Hard to leave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RabbitMQ</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10k msg/sec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Different paradigm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7" name="Shape 22"/>
          <p:cNvSpPr/>
          <p:nvPr/>
        </p:nvSpPr>
        <p:spPr>
          <a:xfrm>
            <a:off x="608076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Shape 23"/>
          <p:cNvSpPr/>
          <p:nvPr/>
        </p:nvSpPr>
        <p:spPr>
          <a:xfrm>
            <a:off x="608076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4"/>
          <p:cNvSpPr/>
          <p:nvPr/>
        </p:nvSpPr>
        <p:spPr>
          <a:xfrm>
            <a:off x="630936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Apache Airflow</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5"/>
          <p:cNvSpPr/>
          <p:nvPr/>
        </p:nvSpPr>
        <p:spPr>
          <a:xfrm>
            <a:off x="1019556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31" name="Table 3"/>
          <p:cNvGraphicFramePr>
            <a:graphicFrameLocks noGrp="1"/>
          </p:cNvGraphicFramePr>
          <p:nvPr/>
        </p:nvGraphicFramePr>
        <p:xfrm>
          <a:off x="630936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DAG support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Retry logic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SLA / monitoring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Airflow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cron + scripts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Manual</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External tooling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Prefect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Smaller community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32" name="Text 26"/>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27"/>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the join logic that makes engagement queryable</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How four heterogeneous datasets become one analytics-ready table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6675120" cy="42976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85800" y="1920240"/>
            <a:ext cx="62179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JOIN GRAPH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2743200" y="3291840"/>
            <a:ext cx="2103120" cy="6400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2743200" y="3291840"/>
            <a:ext cx="210312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viewing-history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8229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8229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content-catalog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1737360" y="2926080"/>
            <a:ext cx="146304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2697480" y="297180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content_id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9377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9377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user-profiles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5852160" y="2926080"/>
            <a:ext cx="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3474720" y="2971800"/>
            <a:ext cx="146304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user_id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286000" y="4892040"/>
            <a:ext cx="3017520" cy="594360"/>
          </a:xfrm>
          <a:prstGeom prst="rect">
            <a:avLst/>
          </a:prstGeom>
          <a:solidFill>
            <a:srgbClr val="001D24"/>
          </a:solidFill>
          <a:ln w="1905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286000" y="4892040"/>
            <a:ext cx="3017520" cy="5943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streaming-quality (user-aggregated)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3794760" y="3977640"/>
            <a:ext cx="0" cy="868680"/>
          </a:xfrm>
          <a:prstGeom prst="line">
            <a:avLst/>
          </a:prstGeom>
          <a:noFill/>
          <a:ln w="12700">
            <a:solidFill>
              <a:srgbClr val="F0A23E"/>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3886200" y="429768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on user_id (aggregated)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1554480" y="5623560"/>
            <a:ext cx="4389120" cy="32004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1554480" y="5623560"/>
            <a:ext cx="438912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 enriched-viewing-sessions (one row per viewing event)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7315200" y="1783080"/>
            <a:ext cx="43891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DESIGN DECISION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7315200" y="2103120"/>
            <a:ext cx="4389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we aggregate quality to user level before joining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7315200" y="2743200"/>
            <a:ext cx="4389120" cy="1280160"/>
          </a:xfrm>
          <a:prstGeom prst="rect">
            <a:avLst/>
          </a:prstGeom>
          <a:solidFill>
            <a:srgbClr val="001D24"/>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7452360" y="27889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THE PROBLEM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7452360" y="30632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has no session-level join key. Joining at session-level would either drop rows or fabricate keys. Both are unacceptable.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7315200" y="4114800"/>
            <a:ext cx="4389120" cy="12801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7452360" y="41605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OUR APPROACH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7452360" y="44348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Aggregate quality metrics to user-level (avg buffering, bitrate, latency) and join at user_id. Every viewing event gets quality context with zero data loss.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7315200" y="5532120"/>
            <a:ext cx="438912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Result: 5 datasets become 1 analytics-ready table that backs all four insights.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why Lambda architecture, not Kappa</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MediaWave needs both deep historical analytics and real-time alerts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394960" cy="3657600"/>
          </a:xfrm>
          <a:prstGeom prst="rect">
            <a:avLst/>
          </a:prstGeom>
          <a:solidFill>
            <a:srgbClr val="0A4250"/>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5394960" cy="45720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828800"/>
            <a:ext cx="49377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LAMBDA · OUR CHOICE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777240" y="283464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777240" y="283464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2560320" y="2606040"/>
            <a:ext cx="146304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2560320" y="260604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 (Spark)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2560320" y="3246120"/>
            <a:ext cx="1463040" cy="50292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2560320" y="324612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(Kafka)</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2057400" y="2926080"/>
            <a:ext cx="457200" cy="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2057400" y="3200400"/>
            <a:ext cx="457200" cy="27432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4389120" y="2926080"/>
            <a:ext cx="1280160" cy="8686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280160" cy="8686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023360" y="2862072"/>
            <a:ext cx="365760" cy="50292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4023360" y="3502152"/>
            <a:ext cx="36576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777240" y="4069080"/>
            <a:ext cx="47548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3FE0E0"/>
                </a:solidFill>
                <a:effectLst/>
                <a:uLnTx/>
                <a:uFillTx/>
                <a:latin typeface="Calibri" pitchFamily="34" charset="0"/>
                <a:ea typeface="Calibri" pitchFamily="34" charset="-122"/>
                <a:cs typeface="Calibri" pitchFamily="34" charset="-120"/>
              </a:rPr>
              <a:t>STRENGTHS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914400" y="4343400"/>
            <a:ext cx="448056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Deep historical analytics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Low-latency operational alerts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Both layers feed the same analytics 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Independent scaling of batch vs stream</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6126480" y="1828800"/>
            <a:ext cx="5577840" cy="3657600"/>
          </a:xfrm>
          <a:prstGeom prst="rect">
            <a:avLst/>
          </a:prstGeom>
          <a:solidFill>
            <a:srgbClr val="0A4250"/>
          </a:solidFill>
          <a:ln w="25400">
            <a:solidFill>
              <a:srgbClr val="E8654A"/>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6126480" y="1828800"/>
            <a:ext cx="5577840" cy="45720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6355080" y="1828800"/>
            <a:ext cx="51206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FFFFFF"/>
                </a:solidFill>
                <a:effectLst/>
                <a:uLnTx/>
                <a:uFillTx/>
                <a:latin typeface="Calibri" pitchFamily="34" charset="0"/>
                <a:ea typeface="Calibri" pitchFamily="34" charset="-122"/>
                <a:cs typeface="Calibri" pitchFamily="34" charset="-120"/>
              </a:rPr>
              <a:t>KAPPA · CONSIDERED, REJECTED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6446520" y="292608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644652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229600" y="2926080"/>
            <a:ext cx="1463040" cy="54864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229600" y="2926080"/>
            <a:ext cx="146304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only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10149840" y="2926080"/>
            <a:ext cx="1280160" cy="5486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1014984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772668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Shape 37"/>
          <p:cNvSpPr/>
          <p:nvPr/>
        </p:nvSpPr>
        <p:spPr>
          <a:xfrm>
            <a:off x="969264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46520" y="4023360"/>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WHY REJECTED FOR MEDIAWAVE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6583680" y="4297680"/>
            <a:ext cx="466344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Historical re-processing requires replay of full event 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Heavy aggregations expensive in pure streaming systems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Higher operational complexity for analytics queries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MediaWave's analytics tables benefit from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457200" y="5669280"/>
            <a:ext cx="11247120" cy="54864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640080" y="566928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Lambda gives MediaWave both batch correctness for ROI and churn analysis, and streaming latency for real-time quality alerts.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three layers of data quality enforcement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Validation at every stage prevents bad data from reaching analytics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783080"/>
            <a:ext cx="3703320" cy="50292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01</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Schema-level cleaning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batch transformation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Filter null user_id and content_id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Cap duration_watched at total_duration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Clamp completion_pct to [0, 100]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 device strings to 5 categories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Replace null search_query with sentinel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212080"/>
            <a:ext cx="3154680" cy="5943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68680"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Malformed rows from upstream sources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4361688" y="1783080"/>
            <a:ext cx="3703320" cy="50292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quality gate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Airflow DAG (between clean and join)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36008"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Row count threshold check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Null check on join columns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conformance test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Fails the DAG if violations exceed threshold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Email-on-failure to operations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36008" y="5212080"/>
            <a:ext cx="3154680" cy="59436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4773168"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F0A23E"/>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773168"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Drift in upstream data shape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8266176"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8266176" y="1783080"/>
            <a:ext cx="3703320" cy="502920"/>
          </a:xfrm>
          <a:prstGeom prst="rect">
            <a:avLst/>
          </a:prstGeom>
          <a:solidFill>
            <a:srgbClr val="C586E0"/>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03</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Stream watermarking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540496"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Structured Streaming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15-min watermark for viewer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30-min watermark for session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Late events past watermark are dropped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Bounded state prevents memory issues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Logged for monitoring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8540496" y="5212080"/>
            <a:ext cx="3154680" cy="59436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8677656"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C586E0"/>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8677656"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Late or out-of-order streaming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457200" y="5989320"/>
            <a:ext cx="11247120" cy="36576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0080" y="5989320"/>
            <a:ext cx="109728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Defense in depth: each tier catches a different class of failure. No single layer is the whole strategy.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Production-ready: quality, idempotency, and fault tolerance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Three controls make the pipeline operational, not academic</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01</a:t>
            </a:r>
            <a:endParaRPr lang="en-US" sz="1400" dirty="0"/>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DATA QUALITY GATES</a:t>
            </a:r>
            <a:endParaRPr lang="en-US" sz="1600" dirty="0"/>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endParaRPr lang="en-US"/>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Row count and null checks run between every stage. Failures stop the DAG and surface to operations before bad data contaminates analytics.</a:t>
            </a:r>
            <a:endParaRPr lang="en-US" sz="1200" dirty="0"/>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endParaRPr lang="en-US"/>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indent="0" algn="ctr">
              <a:buNone/>
            </a:pPr>
            <a:r>
              <a:rPr lang="en-US" sz="1100" i="1" dirty="0">
                <a:solidFill>
                  <a:srgbClr val="3FE0E0"/>
                </a:solidFill>
                <a:latin typeface="Calibri" pitchFamily="34" charset="0"/>
                <a:ea typeface="Calibri" pitchFamily="34" charset="-122"/>
                <a:cs typeface="Calibri" pitchFamily="34" charset="-120"/>
              </a:rPr>
              <a:t>Validates curated data before joins</a:t>
            </a:r>
            <a:endParaRPr lang="en-US" sz="1100" dirty="0"/>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1" name="Shape 19"/>
          <p:cNvSpPr/>
          <p:nvPr/>
        </p:nvSpPr>
        <p:spPr>
          <a:xfrm>
            <a:off x="4361688" y="1828800"/>
            <a:ext cx="3703320" cy="411480"/>
          </a:xfrm>
          <a:prstGeom prst="rect">
            <a:avLst/>
          </a:prstGeom>
          <a:solidFill>
            <a:srgbClr val="5FBE7D"/>
          </a:solidFill>
          <a:ln w="12700">
            <a:solidFill>
              <a:srgbClr val="5FBE7D"/>
            </a:solidFill>
            <a:prstDash val="solid"/>
          </a:ln>
        </p:spPr>
        <p:txBody>
          <a:bodyPr/>
          <a:lstStyle/>
          <a:p>
            <a:endParaRPr lang="en-US"/>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IDEMPOTENT RE-RUNS</a:t>
            </a:r>
            <a:endParaRPr lang="en-US" sz="1600" dirty="0"/>
          </a:p>
        </p:txBody>
      </p:sp>
      <p:sp>
        <p:nvSpPr>
          <p:cNvPr id="24" name="Shape 22"/>
          <p:cNvSpPr/>
          <p:nvPr/>
        </p:nvSpPr>
        <p:spPr>
          <a:xfrm>
            <a:off x="4636008" y="2971800"/>
            <a:ext cx="731520" cy="0"/>
          </a:xfrm>
          <a:prstGeom prst="line">
            <a:avLst/>
          </a:prstGeom>
          <a:noFill/>
          <a:ln w="25400">
            <a:solidFill>
              <a:srgbClr val="5FBE7D"/>
            </a:solidFill>
            <a:prstDash val="solid"/>
          </a:ln>
        </p:spPr>
        <p:txBody>
          <a:bodyPr/>
          <a:lstStyle/>
          <a:p>
            <a:endParaRPr lang="en-US"/>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All Parquet writes use overwrite mode. Re-running the pipeline produces identical output with no duplicate rows. Safe replay from any task.</a:t>
            </a:r>
            <a:endParaRPr lang="en-US" sz="1200" dirty="0"/>
          </a:p>
        </p:txBody>
      </p:sp>
      <p:sp>
        <p:nvSpPr>
          <p:cNvPr id="26" name="Shape 24"/>
          <p:cNvSpPr/>
          <p:nvPr/>
        </p:nvSpPr>
        <p:spPr>
          <a:xfrm>
            <a:off x="4636008" y="5440680"/>
            <a:ext cx="3154680" cy="502920"/>
          </a:xfrm>
          <a:prstGeom prst="rect">
            <a:avLst/>
          </a:prstGeom>
          <a:solidFill>
            <a:srgbClr val="001D24"/>
          </a:solidFill>
          <a:ln w="12700">
            <a:solidFill>
              <a:srgbClr val="5FBE7D"/>
            </a:solidFill>
            <a:prstDash val="solid"/>
          </a:ln>
        </p:spPr>
        <p:txBody>
          <a:bodyPr/>
          <a:lstStyle/>
          <a:p>
            <a:endParaRPr lang="en-US"/>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indent="0" algn="ctr">
              <a:buNone/>
            </a:pPr>
            <a:r>
              <a:rPr lang="en-US" sz="1100" i="1" dirty="0">
                <a:solidFill>
                  <a:srgbClr val="5FBE7D"/>
                </a:solidFill>
                <a:latin typeface="Calibri" pitchFamily="34" charset="0"/>
                <a:ea typeface="Calibri" pitchFamily="34" charset="-122"/>
                <a:cs typeface="Calibri" pitchFamily="34" charset="-120"/>
              </a:rPr>
              <a:t>Verified across 5 test re-runs</a:t>
            </a:r>
            <a:endParaRPr lang="en-US" sz="1100" dirty="0"/>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8266176" y="1828800"/>
            <a:ext cx="3703320" cy="411480"/>
          </a:xfrm>
          <a:prstGeom prst="rect">
            <a:avLst/>
          </a:prstGeom>
          <a:solidFill>
            <a:srgbClr val="F0A23E"/>
          </a:solidFill>
          <a:ln w="12700">
            <a:solidFill>
              <a:srgbClr val="F0A23E"/>
            </a:solidFill>
            <a:prstDash val="solid"/>
          </a:ln>
        </p:spPr>
        <p:txBody>
          <a:bodyPr/>
          <a:lstStyle/>
          <a:p>
            <a:endParaRPr lang="en-US"/>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03</a:t>
            </a:r>
            <a:endParaRPr lang="en-US" sz="1400" dirty="0"/>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RETRY &amp; MONITORING</a:t>
            </a:r>
            <a:endParaRPr lang="en-US" sz="1600" dirty="0"/>
          </a:p>
        </p:txBody>
      </p:sp>
      <p:sp>
        <p:nvSpPr>
          <p:cNvPr id="32" name="Shape 30"/>
          <p:cNvSpPr/>
          <p:nvPr/>
        </p:nvSpPr>
        <p:spPr>
          <a:xfrm>
            <a:off x="8540496" y="2971800"/>
            <a:ext cx="731520" cy="0"/>
          </a:xfrm>
          <a:prstGeom prst="line">
            <a:avLst/>
          </a:prstGeom>
          <a:noFill/>
          <a:ln w="25400">
            <a:solidFill>
              <a:srgbClr val="F0A23E"/>
            </a:solidFill>
            <a:prstDash val="solid"/>
          </a:ln>
        </p:spPr>
        <p:txBody>
          <a:bodyPr/>
          <a:lstStyle/>
          <a:p>
            <a:endParaRPr lang="en-US"/>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Airflow handles 2 retries with exponential backoff. Email-on-failure alerting built in. Streaming monitor DAG runs every 15 minutes to check Kafka lag.</a:t>
            </a:r>
            <a:endParaRPr lang="en-US" sz="1200" dirty="0"/>
          </a:p>
        </p:txBody>
      </p:sp>
      <p:sp>
        <p:nvSpPr>
          <p:cNvPr id="34" name="Shape 32"/>
          <p:cNvSpPr/>
          <p:nvPr/>
        </p:nvSpPr>
        <p:spPr>
          <a:xfrm>
            <a:off x="8540496" y="5440680"/>
            <a:ext cx="3154680" cy="502920"/>
          </a:xfrm>
          <a:prstGeom prst="rect">
            <a:avLst/>
          </a:prstGeom>
          <a:solidFill>
            <a:srgbClr val="001D24"/>
          </a:solidFill>
          <a:ln w="12700">
            <a:solidFill>
              <a:srgbClr val="F0A23E"/>
            </a:solidFill>
            <a:prstDash val="solid"/>
          </a:ln>
        </p:spPr>
        <p:txBody>
          <a:bodyPr/>
          <a:lstStyle/>
          <a:p>
            <a:endParaRPr lang="en-US"/>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indent="0" algn="ctr">
              <a:buNone/>
            </a:pPr>
            <a:r>
              <a:rPr lang="en-US" sz="1100" i="1" dirty="0">
                <a:solidFill>
                  <a:srgbClr val="F0A23E"/>
                </a:solidFill>
                <a:latin typeface="Calibri" pitchFamily="34" charset="0"/>
                <a:ea typeface="Calibri" pitchFamily="34" charset="-122"/>
                <a:cs typeface="Calibri" pitchFamily="34" charset="-120"/>
              </a:rPr>
              <a:t>30-min max time to detect issue</a:t>
            </a:r>
            <a:endParaRPr lang="en-US" sz="1100" dirty="0"/>
          </a:p>
        </p:txBody>
      </p:sp>
      <p:sp>
        <p:nvSpPr>
          <p:cNvPr id="36" name="Text 34"/>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a:extLst>
            <a:ext uri="{FF2B5EF4-FFF2-40B4-BE49-F238E27FC236}">
              <a16:creationId xmlns:a16="http://schemas.microsoft.com/office/drawing/2014/main" id="{51EAC6BB-69BD-7EB6-DD64-3997AEFE1326}"/>
            </a:ext>
          </a:extLst>
        </p:cNvPr>
        <p:cNvGrpSpPr/>
        <p:nvPr/>
      </p:nvGrpSpPr>
      <p:grpSpPr>
        <a:xfrm>
          <a:off x="0" y="0"/>
          <a:ext cx="0" cy="0"/>
          <a:chOff x="0" y="0"/>
          <a:chExt cx="0" cy="0"/>
        </a:xfrm>
      </p:grpSpPr>
      <p:sp>
        <p:nvSpPr>
          <p:cNvPr id="2" name="Glow 1">
            <a:extLst>
              <a:ext uri="{FF2B5EF4-FFF2-40B4-BE49-F238E27FC236}">
                <a16:creationId xmlns:a16="http://schemas.microsoft.com/office/drawing/2014/main" id="{E7E63701-8948-3EE4-B091-6F1A0CBFC087}"/>
              </a:ext>
            </a:extLst>
          </p:cNvPr>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Glow 2">
            <a:extLst>
              <a:ext uri="{FF2B5EF4-FFF2-40B4-BE49-F238E27FC236}">
                <a16:creationId xmlns:a16="http://schemas.microsoft.com/office/drawing/2014/main" id="{031449D8-C7E7-420B-7C74-B1DB56C28117}"/>
              </a:ext>
            </a:extLst>
          </p:cNvPr>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Glow 3">
            <a:extLst>
              <a:ext uri="{FF2B5EF4-FFF2-40B4-BE49-F238E27FC236}">
                <a16:creationId xmlns:a16="http://schemas.microsoft.com/office/drawing/2014/main" id="{11F86C75-A4DF-10BB-DC51-6A51A26F4B33}"/>
              </a:ext>
            </a:extLst>
          </p:cNvPr>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Glow 4">
            <a:extLst>
              <a:ext uri="{FF2B5EF4-FFF2-40B4-BE49-F238E27FC236}">
                <a16:creationId xmlns:a16="http://schemas.microsoft.com/office/drawing/2014/main" id="{B8A75D79-8C75-3086-548B-155C1B72C3BB}"/>
              </a:ext>
            </a:extLst>
          </p:cNvPr>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treak 1">
            <a:extLst>
              <a:ext uri="{FF2B5EF4-FFF2-40B4-BE49-F238E27FC236}">
                <a16:creationId xmlns:a16="http://schemas.microsoft.com/office/drawing/2014/main" id="{C6C0ACE7-660B-3685-040B-EF117D0DE3E4}"/>
              </a:ext>
            </a:extLst>
          </p:cNvPr>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treak 2">
            <a:extLst>
              <a:ext uri="{FF2B5EF4-FFF2-40B4-BE49-F238E27FC236}">
                <a16:creationId xmlns:a16="http://schemas.microsoft.com/office/drawing/2014/main" id="{C4A641FE-7C83-AD3B-8CFE-8F4A2BC4B83D}"/>
              </a:ext>
            </a:extLst>
          </p:cNvPr>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treak 3">
            <a:extLst>
              <a:ext uri="{FF2B5EF4-FFF2-40B4-BE49-F238E27FC236}">
                <a16:creationId xmlns:a16="http://schemas.microsoft.com/office/drawing/2014/main" id="{9FE480AA-8BB7-48A8-6BE5-56CCDCB9425D}"/>
              </a:ext>
            </a:extLst>
          </p:cNvPr>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itle">
            <a:extLst>
              <a:ext uri="{FF2B5EF4-FFF2-40B4-BE49-F238E27FC236}">
                <a16:creationId xmlns:a16="http://schemas.microsoft.com/office/drawing/2014/main" id="{B42E985E-1796-AE94-2989-2A39EDD5A301}"/>
              </a:ext>
            </a:extLst>
          </p:cNvPr>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in action · all four layers running on a single command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ubtitle">
            <a:extLst>
              <a:ext uri="{FF2B5EF4-FFF2-40B4-BE49-F238E27FC236}">
                <a16:creationId xmlns:a16="http://schemas.microsoft.com/office/drawing/2014/main" id="{2684F259-C4C0-AAE0-FAB2-9A1FBF773BAC}"/>
              </a:ext>
            </a:extLst>
          </p:cNvPr>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Captured from a live deployment of the stack</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Accent Line">
            <a:extLst>
              <a:ext uri="{FF2B5EF4-FFF2-40B4-BE49-F238E27FC236}">
                <a16:creationId xmlns:a16="http://schemas.microsoft.com/office/drawing/2014/main" id="{81337BED-E7C7-BA82-CEDC-060B71DEEAC9}"/>
              </a:ext>
            </a:extLst>
          </p:cNvPr>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2" name="HDFS Screenshot">
            <a:extLst>
              <a:ext uri="{FF2B5EF4-FFF2-40B4-BE49-F238E27FC236}">
                <a16:creationId xmlns:a16="http://schemas.microsoft.com/office/drawing/2014/main" id="{421E171F-7615-AB17-ECFB-DE0993597BFE}"/>
              </a:ext>
            </a:extLst>
          </p:cNvPr>
          <p:cNvPicPr>
            <a:picLocks noChangeAspect="1"/>
          </p:cNvPicPr>
          <p:nvPr/>
        </p:nvPicPr>
        <p:blipFill>
          <a:blip r:embed="rId3"/>
          <a:stretch>
            <a:fillRect/>
          </a:stretch>
        </p:blipFill>
        <p:spPr>
          <a:xfrm>
            <a:off x="3262192" y="1368574"/>
            <a:ext cx="5400000" cy="2508509"/>
          </a:xfrm>
          <a:prstGeom prst="rect">
            <a:avLst/>
          </a:prstGeom>
          <a:ln w="12700">
            <a:solidFill>
              <a:srgbClr val="3FE0E0"/>
            </a:solidFill>
            <a:prstDash val="solid"/>
          </a:ln>
        </p:spPr>
      </p:pic>
      <p:sp>
        <p:nvSpPr>
          <p:cNvPr id="14" name="Caption TL">
            <a:extLst>
              <a:ext uri="{FF2B5EF4-FFF2-40B4-BE49-F238E27FC236}">
                <a16:creationId xmlns:a16="http://schemas.microsoft.com/office/drawing/2014/main" id="{CA911A56-AFFF-D876-5370-661130E0E7EF}"/>
              </a:ext>
            </a:extLst>
          </p:cNvPr>
          <p:cNvSpPr/>
          <p:nvPr/>
        </p:nvSpPr>
        <p:spPr>
          <a:xfrm>
            <a:off x="3262191" y="3887084"/>
            <a:ext cx="5400000" cy="24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HDFS · </a:t>
            </a: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5 datasets landed in /mediawave-lake/landing</a:t>
            </a:r>
          </a:p>
        </p:txBody>
      </p:sp>
      <p:pic>
        <p:nvPicPr>
          <p:cNvPr id="16" name="Airflow Screenshot">
            <a:extLst>
              <a:ext uri="{FF2B5EF4-FFF2-40B4-BE49-F238E27FC236}">
                <a16:creationId xmlns:a16="http://schemas.microsoft.com/office/drawing/2014/main" id="{7A214B87-0F75-A958-89E5-47D60296D10D}"/>
              </a:ext>
            </a:extLst>
          </p:cNvPr>
          <p:cNvPicPr>
            <a:picLocks noChangeAspect="1"/>
          </p:cNvPicPr>
          <p:nvPr/>
        </p:nvPicPr>
        <p:blipFill>
          <a:blip r:embed="rId4"/>
          <a:stretch>
            <a:fillRect/>
          </a:stretch>
        </p:blipFill>
        <p:spPr>
          <a:xfrm>
            <a:off x="3262191" y="4368284"/>
            <a:ext cx="5400000" cy="1900000"/>
          </a:xfrm>
          <a:prstGeom prst="rect">
            <a:avLst/>
          </a:prstGeom>
          <a:ln w="12700">
            <a:solidFill>
              <a:srgbClr val="3FE0E0"/>
            </a:solidFill>
            <a:prstDash val="solid"/>
          </a:ln>
        </p:spPr>
      </p:pic>
      <p:sp>
        <p:nvSpPr>
          <p:cNvPr id="18" name="Caption BL">
            <a:extLst>
              <a:ext uri="{FF2B5EF4-FFF2-40B4-BE49-F238E27FC236}">
                <a16:creationId xmlns:a16="http://schemas.microsoft.com/office/drawing/2014/main" id="{645D1771-A26F-479B-6387-6B56C0A022C1}"/>
              </a:ext>
            </a:extLst>
          </p:cNvPr>
          <p:cNvSpPr/>
          <p:nvPr/>
        </p:nvSpPr>
        <p:spPr>
          <a:xfrm>
            <a:off x="3262191" y="6278284"/>
            <a:ext cx="5400000" cy="24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Airflow · </a:t>
            </a: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DAG green across all tasks</a:t>
            </a:r>
          </a:p>
        </p:txBody>
      </p:sp>
      <p:sp>
        <p:nvSpPr>
          <p:cNvPr id="21" name="Footer">
            <a:extLst>
              <a:ext uri="{FF2B5EF4-FFF2-40B4-BE49-F238E27FC236}">
                <a16:creationId xmlns:a16="http://schemas.microsoft.com/office/drawing/2014/main" id="{BEA05659-B9D4-EAC0-E557-DF6D85A0B4D0}"/>
              </a:ext>
            </a:extLst>
          </p:cNvPr>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69567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04</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the Data Reveals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FOUR INSIGHTS WITH QUANTIFIED BUSINESS IMPACT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01 · Content ROI is concentrated in a small share of titles</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Custom metric: cost per viewing hour reveals where catalog spend underperforms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CUSTOM METRIC</a:t>
            </a:r>
            <a:endParaRPr lang="en-US" sz="1000" dirty="0"/>
          </a:p>
        </p:txBody>
      </p:sp>
      <p:sp>
        <p:nvSpPr>
          <p:cNvPr id="14" name="Text 12"/>
          <p:cNvSpPr/>
          <p:nvPr/>
        </p:nvSpPr>
        <p:spPr>
          <a:xfrm>
            <a:off x="640080" y="2286000"/>
            <a:ext cx="4663440" cy="411480"/>
          </a:xfrm>
          <a:prstGeom prst="rect">
            <a:avLst/>
          </a:prstGeom>
          <a:noFill/>
          <a:ln/>
        </p:spPr>
        <p:txBody>
          <a:bodyPr wrap="square" lIns="0" tIns="0" rIns="0" bIns="0" rtlCol="0" anchor="ctr"/>
          <a:lstStyle/>
          <a:p>
            <a:pPr marL="0" indent="0">
              <a:buNone/>
            </a:pPr>
            <a:r>
              <a:rPr lang="en-US" sz="1800" b="1" dirty="0">
                <a:solidFill>
                  <a:srgbClr val="FFFFFF"/>
                </a:solidFill>
                <a:latin typeface="Consolas" pitchFamily="34" charset="0"/>
                <a:ea typeface="Consolas" pitchFamily="34" charset="-122"/>
                <a:cs typeface="Consolas" pitchFamily="34" charset="-120"/>
              </a:rPr>
              <a:t>cost_per_viewing_hour</a:t>
            </a:r>
            <a:endParaRPr lang="en-US" sz="1800" dirty="0"/>
          </a:p>
        </p:txBody>
      </p:sp>
      <p:sp>
        <p:nvSpPr>
          <p:cNvPr id="15" name="Text 13"/>
          <p:cNvSpPr/>
          <p:nvPr/>
        </p:nvSpPr>
        <p:spPr>
          <a:xfrm>
            <a:off x="640080" y="310896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monthly license cost</a:t>
            </a:r>
            <a:endParaRPr lang="en-US" sz="1600" dirty="0"/>
          </a:p>
        </p:txBody>
      </p:sp>
      <p:sp>
        <p:nvSpPr>
          <p:cNvPr id="16" name="Shape 14"/>
          <p:cNvSpPr/>
          <p:nvPr/>
        </p:nvSpPr>
        <p:spPr>
          <a:xfrm>
            <a:off x="1371600" y="3611880"/>
            <a:ext cx="3200400" cy="0"/>
          </a:xfrm>
          <a:prstGeom prst="line">
            <a:avLst/>
          </a:prstGeom>
          <a:noFill/>
          <a:ln w="25400">
            <a:solidFill>
              <a:srgbClr val="3FE0E0"/>
            </a:solidFill>
            <a:prstDash val="solid"/>
          </a:ln>
        </p:spPr>
        <p:txBody>
          <a:bodyPr/>
          <a:lstStyle/>
          <a:p>
            <a:endParaRPr lang="en-US"/>
          </a:p>
        </p:txBody>
      </p:sp>
      <p:sp>
        <p:nvSpPr>
          <p:cNvPr id="17" name="Text 15"/>
          <p:cNvSpPr/>
          <p:nvPr/>
        </p:nvSpPr>
        <p:spPr>
          <a:xfrm>
            <a:off x="640080" y="370332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total viewing hours</a:t>
            </a:r>
            <a:endParaRPr lang="en-US" sz="1600" dirty="0"/>
          </a:p>
        </p:txBody>
      </p:sp>
      <p:sp>
        <p:nvSpPr>
          <p:cNvPr id="18" name="Text 16"/>
          <p:cNvSpPr/>
          <p:nvPr/>
        </p:nvSpPr>
        <p:spPr>
          <a:xfrm>
            <a:off x="640080" y="4434840"/>
            <a:ext cx="4663440" cy="155448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Dollars-out divided by hours-watched yields a clean per-title ROI signal that MediaWave can act on at the next license cycle.</a:t>
            </a:r>
            <a:endParaRPr lang="en-US" sz="1200" dirty="0"/>
          </a:p>
        </p:txBody>
      </p:sp>
      <p:sp>
        <p:nvSpPr>
          <p:cNvPr id="19" name="Text 17"/>
          <p:cNvSpPr/>
          <p:nvPr/>
        </p:nvSpPr>
        <p:spPr>
          <a:xfrm>
            <a:off x="5760720" y="1828800"/>
            <a:ext cx="59436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WHAT WE FOUND</a:t>
            </a:r>
            <a:endParaRPr lang="en-US" sz="1000" dirty="0"/>
          </a:p>
        </p:txBody>
      </p:sp>
      <p:sp>
        <p:nvSpPr>
          <p:cNvPr id="20" name="Text 18"/>
          <p:cNvSpPr/>
          <p:nvPr/>
        </p:nvSpPr>
        <p:spPr>
          <a:xfrm>
            <a:off x="5760720" y="2194560"/>
            <a:ext cx="5943600" cy="1645920"/>
          </a:xfrm>
          <a:prstGeom prst="rect">
            <a:avLst/>
          </a:prstGeom>
          <a:noFill/>
          <a:ln/>
        </p:spPr>
        <p:txBody>
          <a:bodyPr wrap="square" lIns="0" tIns="0" rIns="0" bIns="0" rtlCol="0" anchor="ctr"/>
          <a:lstStyle/>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Top 3 worst-ROI titles to be inserted from analytics output</a:t>
            </a:r>
            <a:endParaRPr lang="en-US" sz="1300" dirty="0"/>
          </a:p>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Bottom 3 best-ROI titles to be inserted from analytics output</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Bottom-decile titles drive a measurable share of catalog cost without proportional engagement</a:t>
            </a:r>
            <a:endParaRPr lang="en-US" sz="1300" dirty="0"/>
          </a:p>
        </p:txBody>
      </p:sp>
      <p:sp>
        <p:nvSpPr>
          <p:cNvPr id="21" name="Shape 19"/>
          <p:cNvSpPr/>
          <p:nvPr/>
        </p:nvSpPr>
        <p:spPr>
          <a:xfrm>
            <a:off x="5760720" y="4023360"/>
            <a:ext cx="5943600" cy="2057400"/>
          </a:xfrm>
          <a:prstGeom prst="rect">
            <a:avLst/>
          </a:prstGeom>
          <a:solidFill>
            <a:srgbClr val="001D24"/>
          </a:solidFill>
          <a:ln w="25400">
            <a:solidFill>
              <a:srgbClr val="3FE0E0"/>
            </a:solidFill>
            <a:prstDash val="solid"/>
          </a:ln>
        </p:spPr>
        <p:txBody>
          <a:bodyPr/>
          <a:lstStyle/>
          <a:p>
            <a:endParaRPr lang="en-US"/>
          </a:p>
        </p:txBody>
      </p:sp>
      <p:sp>
        <p:nvSpPr>
          <p:cNvPr id="22" name="Text 20"/>
          <p:cNvSpPr/>
          <p:nvPr/>
        </p:nvSpPr>
        <p:spPr>
          <a:xfrm>
            <a:off x="5943600" y="4160520"/>
            <a:ext cx="55778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3" name="Text 21"/>
          <p:cNvSpPr/>
          <p:nvPr/>
        </p:nvSpPr>
        <p:spPr>
          <a:xfrm>
            <a:off x="5943600" y="4526280"/>
            <a:ext cx="5577840" cy="1417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Drop bottom-decile titles by ROI at next license cycle. Estimated annual savings: $X. Promote best-ROI titles in next campaign — efficiency compounds with promotion.</a:t>
            </a:r>
            <a:endParaRPr lang="en-US" sz="1300" dirty="0"/>
          </a:p>
        </p:txBody>
      </p:sp>
      <p:sp>
        <p:nvSpPr>
          <p:cNvPr id="24" name="Text 2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13 / 22</a:t>
            </a:r>
            <a:endParaRPr lang="en-US" sz="900" dirty="0"/>
          </a:p>
        </p:txBody>
      </p:sp>
      <p:sp>
        <p:nvSpPr>
          <p:cNvPr id="25" name="Text 2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01 · Content ROI is concentrated in a small share of titles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Custom metric: cost per viewing hour reveals where catalog spend underperforms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EXAMPLES FROM THE 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33172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WORST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40080" y="260604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Frozen Roads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3840480" y="260604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$19,634/hr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640080" y="289864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Stars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3840480" y="289864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$18,543/hr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640080" y="319125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Memories 4</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3840480" y="319125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$18,425/hr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822960" y="3657600"/>
            <a:ext cx="4297680" cy="0"/>
          </a:xfrm>
          <a:prstGeom prst="line">
            <a:avLst/>
          </a:prstGeom>
          <a:no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37947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BEST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640080" y="406908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Midnight Bridges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3840480" y="406908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640080" y="436168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Hidden Memories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3840480" y="436168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40080" y="465429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Wild Kingdoms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3840480" y="465429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640080" y="5349240"/>
            <a:ext cx="466344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860× variance · best to worst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5715000"/>
            <a:ext cx="466344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cost_per_viewing_hour = monthly cost ÷ viewing hours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760720" y="1828800"/>
            <a:ext cx="5943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WE FOUND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5760720" y="2194560"/>
            <a:ext cx="5943600" cy="17830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Worst-ROI titles cost $18,400–$19,600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Best-ROI titles cost $23–$25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Bottom decile (worst 10%) drives $3.13B annual license cost — 17% of catalog spend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 of total catalog cost concentrates in below-median ROI titles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760720" y="4160520"/>
            <a:ext cx="5943600" cy="19202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5943600" y="4297680"/>
            <a:ext cx="55778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943600" y="4617720"/>
            <a:ext cx="5577840" cy="1417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Drop bottom-decile titles at next license cycle. Estimated annual savings: $3.13B if fully discontinued, or $1.5–2B with conservative renegotiation. Promote best-ROI titles in next campaign — efficiency compounds with promotion.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1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02 · Premium subscribers complete more of what they start</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measurable engagement gap exists across subscription tiers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743200"/>
          </a:xfrm>
          <a:prstGeom prst="rect">
            <a:avLst/>
          </a:prstGeom>
          <a:solidFill>
            <a:srgbClr val="0A4250"/>
          </a:solidFill>
          <a:ln w="12700">
            <a:solidFill>
              <a:srgbClr val="0A4250"/>
            </a:solidFill>
            <a:prstDash val="solid"/>
          </a:ln>
        </p:spPr>
        <p:txBody>
          <a:bodyPr/>
          <a:lstStyle/>
          <a:p>
            <a:endParaRPr lang="en-US"/>
          </a:p>
        </p:txBody>
      </p:sp>
      <p:sp>
        <p:nvSpPr>
          <p:cNvPr id="13" name="Text 11"/>
          <p:cNvSpPr/>
          <p:nvPr/>
        </p:nvSpPr>
        <p:spPr>
          <a:xfrm>
            <a:off x="731520" y="1965960"/>
            <a:ext cx="3383280" cy="365760"/>
          </a:xfrm>
          <a:prstGeom prst="rect">
            <a:avLst/>
          </a:prstGeom>
          <a:noFill/>
          <a:ln/>
        </p:spPr>
        <p:txBody>
          <a:bodyPr wrap="square" lIns="0" tIns="0" rIns="0" bIns="0" rtlCol="0" anchor="ctr"/>
          <a:lstStyle/>
          <a:p>
            <a:pPr marL="0" indent="0">
              <a:buNone/>
            </a:pPr>
            <a:r>
              <a:rPr lang="en-US" sz="1400" b="1" kern="0" spc="400" dirty="0">
                <a:solidFill>
                  <a:srgbClr val="FFFFFF"/>
                </a:solidFill>
                <a:latin typeface="Calibri" pitchFamily="34" charset="0"/>
                <a:ea typeface="Calibri" pitchFamily="34" charset="-122"/>
                <a:cs typeface="Calibri" pitchFamily="34" charset="-120"/>
              </a:rPr>
              <a:t>BASIC</a:t>
            </a:r>
            <a:endParaRPr lang="en-US" sz="1400" dirty="0"/>
          </a:p>
        </p:txBody>
      </p:sp>
      <p:sp>
        <p:nvSpPr>
          <p:cNvPr id="14" name="Text 12"/>
          <p:cNvSpPr/>
          <p:nvPr/>
        </p:nvSpPr>
        <p:spPr>
          <a:xfrm>
            <a:off x="731520" y="2423160"/>
            <a:ext cx="3383280" cy="109728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 X hr/mo ]</a:t>
            </a:r>
            <a:endParaRPr lang="en-US" sz="3800" dirty="0"/>
          </a:p>
        </p:txBody>
      </p:sp>
      <p:sp>
        <p:nvSpPr>
          <p:cNvPr id="15" name="Text 13"/>
          <p:cNvSpPr/>
          <p:nvPr/>
        </p:nvSpPr>
        <p:spPr>
          <a:xfrm>
            <a:off x="731520" y="3611880"/>
            <a:ext cx="3383280" cy="640080"/>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 Y% completion ]</a:t>
            </a:r>
            <a:endParaRPr lang="en-US" sz="1400" dirty="0"/>
          </a:p>
        </p:txBody>
      </p:sp>
      <p:sp>
        <p:nvSpPr>
          <p:cNvPr id="16" name="Shape 14"/>
          <p:cNvSpPr/>
          <p:nvPr/>
        </p:nvSpPr>
        <p:spPr>
          <a:xfrm>
            <a:off x="4361688" y="1828800"/>
            <a:ext cx="3703320" cy="2743200"/>
          </a:xfrm>
          <a:prstGeom prst="rect">
            <a:avLst/>
          </a:prstGeom>
          <a:solidFill>
            <a:srgbClr val="5BC9C9"/>
          </a:solidFill>
          <a:ln w="12700">
            <a:solidFill>
              <a:srgbClr val="5BC9C9"/>
            </a:solidFill>
            <a:prstDash val="solid"/>
          </a:ln>
        </p:spPr>
        <p:txBody>
          <a:bodyPr/>
          <a:lstStyle/>
          <a:p>
            <a:endParaRPr lang="en-US"/>
          </a:p>
        </p:txBody>
      </p:sp>
      <p:sp>
        <p:nvSpPr>
          <p:cNvPr id="17" name="Text 15"/>
          <p:cNvSpPr/>
          <p:nvPr/>
        </p:nvSpPr>
        <p:spPr>
          <a:xfrm>
            <a:off x="4636008"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STANDARD</a:t>
            </a:r>
            <a:endParaRPr lang="en-US" sz="1400" dirty="0"/>
          </a:p>
        </p:txBody>
      </p:sp>
      <p:sp>
        <p:nvSpPr>
          <p:cNvPr id="18" name="Text 16"/>
          <p:cNvSpPr/>
          <p:nvPr/>
        </p:nvSpPr>
        <p:spPr>
          <a:xfrm>
            <a:off x="4636008"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19" name="Text 17"/>
          <p:cNvSpPr/>
          <p:nvPr/>
        </p:nvSpPr>
        <p:spPr>
          <a:xfrm>
            <a:off x="4636008"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0" name="Shape 18"/>
          <p:cNvSpPr/>
          <p:nvPr/>
        </p:nvSpPr>
        <p:spPr>
          <a:xfrm>
            <a:off x="8266176" y="1828800"/>
            <a:ext cx="3703320" cy="2743200"/>
          </a:xfrm>
          <a:prstGeom prst="rect">
            <a:avLst/>
          </a:prstGeom>
          <a:solidFill>
            <a:srgbClr val="3FE0E0"/>
          </a:solidFill>
          <a:ln w="12700">
            <a:solidFill>
              <a:srgbClr val="3FE0E0"/>
            </a:solidFill>
            <a:prstDash val="solid"/>
          </a:ln>
        </p:spPr>
        <p:txBody>
          <a:bodyPr/>
          <a:lstStyle/>
          <a:p>
            <a:endParaRPr lang="en-US"/>
          </a:p>
        </p:txBody>
      </p:sp>
      <p:sp>
        <p:nvSpPr>
          <p:cNvPr id="21" name="Text 19"/>
          <p:cNvSpPr/>
          <p:nvPr/>
        </p:nvSpPr>
        <p:spPr>
          <a:xfrm>
            <a:off x="8540496"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PREMIUM</a:t>
            </a:r>
            <a:endParaRPr lang="en-US" sz="1400" dirty="0"/>
          </a:p>
        </p:txBody>
      </p:sp>
      <p:sp>
        <p:nvSpPr>
          <p:cNvPr id="22" name="Text 20"/>
          <p:cNvSpPr/>
          <p:nvPr/>
        </p:nvSpPr>
        <p:spPr>
          <a:xfrm>
            <a:off x="8540496"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23" name="Text 21"/>
          <p:cNvSpPr/>
          <p:nvPr/>
        </p:nvSpPr>
        <p:spPr>
          <a:xfrm>
            <a:off x="8540496"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4" name="Text 22"/>
          <p:cNvSpPr/>
          <p:nvPr/>
        </p:nvSpPr>
        <p:spPr>
          <a:xfrm>
            <a:off x="457200" y="4663440"/>
            <a:ext cx="11247120" cy="27432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Values to be inserted from user-monthly-engagement table grouped by plan_type</a:t>
            </a:r>
            <a:endParaRPr lang="en-US" sz="1100" dirty="0"/>
          </a:p>
        </p:txBody>
      </p:sp>
      <p:sp>
        <p:nvSpPr>
          <p:cNvPr id="25" name="Shape 23"/>
          <p:cNvSpPr/>
          <p:nvPr/>
        </p:nvSpPr>
        <p:spPr>
          <a:xfrm>
            <a:off x="457200" y="5074920"/>
            <a:ext cx="11247120" cy="1005840"/>
          </a:xfrm>
          <a:prstGeom prst="rect">
            <a:avLst/>
          </a:prstGeom>
          <a:solidFill>
            <a:srgbClr val="001D24"/>
          </a:solidFill>
          <a:ln w="25400">
            <a:solidFill>
              <a:srgbClr val="3FE0E0"/>
            </a:solidFill>
            <a:prstDash val="solid"/>
          </a:ln>
        </p:spPr>
        <p:txBody>
          <a:bodyPr/>
          <a:lstStyle/>
          <a:p>
            <a:endParaRPr lang="en-US"/>
          </a:p>
        </p:txBody>
      </p:sp>
      <p:sp>
        <p:nvSpPr>
          <p:cNvPr id="26" name="Text 24"/>
          <p:cNvSpPr/>
          <p:nvPr/>
        </p:nvSpPr>
        <p:spPr>
          <a:xfrm>
            <a:off x="640080" y="5166360"/>
            <a:ext cx="109728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7" name="Text 25"/>
          <p:cNvSpPr/>
          <p:nvPr/>
        </p:nvSpPr>
        <p:spPr>
          <a:xfrm>
            <a:off x="640080" y="5440680"/>
            <a:ext cx="10972800" cy="5943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Tune recommendation algorithms to surface higher-completion content for Basic users. The completion gap suggests either tier-aware algorithm weights or content-commitment effects — both addressable through recommendation tuning, neither requiring new content acquisition.</a:t>
            </a:r>
            <a:endParaRPr lang="en-US" sz="1200" dirty="0"/>
          </a:p>
        </p:txBody>
      </p:sp>
      <p:sp>
        <p:nvSpPr>
          <p:cNvPr id="28" name="Text 2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14 / 22</a:t>
            </a:r>
            <a:endParaRPr lang="en-US" sz="900" dirty="0"/>
          </a:p>
        </p:txBody>
      </p:sp>
      <p:sp>
        <p:nvSpPr>
          <p:cNvPr id="29" name="Text 2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02 · Engagement is virtually identical across plan tiers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 counter-hypothesis: subscription tier does not predict viewing behavior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BASIC</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52.8%</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60K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361688"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636008"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STANDARD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52.6%</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90K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266176"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8266176"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8540496"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PREMIUM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52.9%</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50K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Spread across all three tiers:  &lt;1 percentage point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Redirect personalization investment from tier-aware logic to title-level features. Title completion ranges from 28.9% (worst) to 76.7% (best) — a 48 pp variance recommendation algorithms can actually exploit.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1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03 · Three signals predict churn 30 days early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Comparing churned vs retained users in their final 30 active days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731520"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01</a:t>
            </a:r>
            <a:endParaRPr lang="en-US" sz="1000" dirty="0"/>
          </a:p>
        </p:txBody>
      </p:sp>
      <p:sp>
        <p:nvSpPr>
          <p:cNvPr id="14" name="Text 12"/>
          <p:cNvSpPr/>
          <p:nvPr/>
        </p:nvSpPr>
        <p:spPr>
          <a:xfrm>
            <a:off x="731520"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Completion %</a:t>
            </a:r>
            <a:endParaRPr lang="en-US" sz="1800" dirty="0"/>
          </a:p>
        </p:txBody>
      </p:sp>
      <p:sp>
        <p:nvSpPr>
          <p:cNvPr id="15" name="Text 13"/>
          <p:cNvSpPr/>
          <p:nvPr/>
        </p:nvSpPr>
        <p:spPr>
          <a:xfrm>
            <a:off x="731520"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16" name="Text 14"/>
          <p:cNvSpPr/>
          <p:nvPr/>
        </p:nvSpPr>
        <p:spPr>
          <a:xfrm>
            <a:off x="731520"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17" name="Text 15"/>
          <p:cNvSpPr/>
          <p:nvPr/>
        </p:nvSpPr>
        <p:spPr>
          <a:xfrm>
            <a:off x="731520"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18" name="Shape 16"/>
          <p:cNvSpPr/>
          <p:nvPr/>
        </p:nvSpPr>
        <p:spPr>
          <a:xfrm>
            <a:off x="4361688"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9" name="Text 17"/>
          <p:cNvSpPr/>
          <p:nvPr/>
        </p:nvSpPr>
        <p:spPr>
          <a:xfrm>
            <a:off x="4636008"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02</a:t>
            </a:r>
            <a:endParaRPr lang="en-US" sz="1000" dirty="0"/>
          </a:p>
        </p:txBody>
      </p:sp>
      <p:sp>
        <p:nvSpPr>
          <p:cNvPr id="20" name="Text 18"/>
          <p:cNvSpPr/>
          <p:nvPr/>
        </p:nvSpPr>
        <p:spPr>
          <a:xfrm>
            <a:off x="4636008"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Interaction count</a:t>
            </a:r>
            <a:endParaRPr lang="en-US" sz="1800" dirty="0"/>
          </a:p>
        </p:txBody>
      </p:sp>
      <p:sp>
        <p:nvSpPr>
          <p:cNvPr id="21" name="Text 19"/>
          <p:cNvSpPr/>
          <p:nvPr/>
        </p:nvSpPr>
        <p:spPr>
          <a:xfrm>
            <a:off x="4636008"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22" name="Text 20"/>
          <p:cNvSpPr/>
          <p:nvPr/>
        </p:nvSpPr>
        <p:spPr>
          <a:xfrm>
            <a:off x="4636008"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23" name="Text 21"/>
          <p:cNvSpPr/>
          <p:nvPr/>
        </p:nvSpPr>
        <p:spPr>
          <a:xfrm>
            <a:off x="4636008"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24" name="Shape 22"/>
          <p:cNvSpPr/>
          <p:nvPr/>
        </p:nvSpPr>
        <p:spPr>
          <a:xfrm>
            <a:off x="8266176"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25" name="Text 23"/>
          <p:cNvSpPr/>
          <p:nvPr/>
        </p:nvSpPr>
        <p:spPr>
          <a:xfrm>
            <a:off x="8540496"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03</a:t>
            </a:r>
            <a:endParaRPr lang="en-US" sz="1000" dirty="0"/>
          </a:p>
        </p:txBody>
      </p:sp>
      <p:sp>
        <p:nvSpPr>
          <p:cNvPr id="26" name="Text 24"/>
          <p:cNvSpPr/>
          <p:nvPr/>
        </p:nvSpPr>
        <p:spPr>
          <a:xfrm>
            <a:off x="8540496"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Buffering events</a:t>
            </a:r>
            <a:endParaRPr lang="en-US" sz="1800" dirty="0"/>
          </a:p>
        </p:txBody>
      </p:sp>
      <p:sp>
        <p:nvSpPr>
          <p:cNvPr id="27" name="Text 25"/>
          <p:cNvSpPr/>
          <p:nvPr/>
        </p:nvSpPr>
        <p:spPr>
          <a:xfrm>
            <a:off x="8540496" y="2880360"/>
            <a:ext cx="3383280" cy="1005840"/>
          </a:xfrm>
          <a:prstGeom prst="rect">
            <a:avLst/>
          </a:prstGeom>
          <a:noFill/>
          <a:ln/>
        </p:spPr>
        <p:txBody>
          <a:bodyPr wrap="square" lIns="0" tIns="0" rIns="0" bIns="0" rtlCol="0" anchor="ctr"/>
          <a:lstStyle/>
          <a:p>
            <a:pPr marL="0" indent="0" algn="ctr">
              <a:buNone/>
            </a:pPr>
            <a:r>
              <a:rPr lang="en-US" sz="6400" b="1" dirty="0">
                <a:solidFill>
                  <a:srgbClr val="F0A23E"/>
                </a:solidFill>
                <a:latin typeface="Calibri" pitchFamily="34" charset="0"/>
                <a:ea typeface="Calibri" pitchFamily="34" charset="-122"/>
                <a:cs typeface="Calibri" pitchFamily="34" charset="-120"/>
              </a:rPr>
              <a:t>▲</a:t>
            </a:r>
            <a:endParaRPr lang="en-US" sz="6400" dirty="0"/>
          </a:p>
        </p:txBody>
      </p:sp>
      <p:sp>
        <p:nvSpPr>
          <p:cNvPr id="28" name="Text 26"/>
          <p:cNvSpPr/>
          <p:nvPr/>
        </p:nvSpPr>
        <p:spPr>
          <a:xfrm>
            <a:off x="8540496"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F0A23E"/>
                </a:solidFill>
                <a:latin typeface="Calibri" pitchFamily="34" charset="0"/>
                <a:ea typeface="Calibri" pitchFamily="34" charset="-122"/>
                <a:cs typeface="Calibri" pitchFamily="34" charset="-120"/>
              </a:rPr>
              <a:t>UP</a:t>
            </a:r>
            <a:endParaRPr lang="en-US" sz="1100" dirty="0"/>
          </a:p>
        </p:txBody>
      </p:sp>
      <p:sp>
        <p:nvSpPr>
          <p:cNvPr id="29" name="Text 27"/>
          <p:cNvSpPr/>
          <p:nvPr/>
        </p:nvSpPr>
        <p:spPr>
          <a:xfrm>
            <a:off x="8540496"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Rises measurably among churners</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Build a churn early-warning model. Users showing 30-day declines in completion plus interactions, combined with elevated buffering, trigger automated retention interventions. A 5% churn reduction translates to approximately $X annual revenue saved.</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15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03 · Total monthly hours watched is the dominant churn precursor</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Comparing 19,573 churned users with 180,427 retained users in user-profiles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4904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RETAINED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26.4</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180,427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48056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480560" y="1828800"/>
            <a:ext cx="3749040" cy="41148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75488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CHURNED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75488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15.2</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75488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E8654A"/>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75488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19,573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503920" y="1828800"/>
            <a:ext cx="3200400" cy="274320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8641080" y="1965960"/>
            <a:ext cx="2926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SIGNALS TESTED · NO SEPARATION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8641080" y="2331720"/>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Completion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641080" y="25786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52.76%</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641080" y="2779776"/>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52.72%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641080" y="3044952"/>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641080" y="32918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2.17</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641080" y="34930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2.20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8641080" y="3758184"/>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Unique titles/mo</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641080" y="4005072"/>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641080" y="42062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42% gap between cohorts — the strongest user-level signal in the data</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Build a churn early-warning model on monthly_hours_watched and engagement velocity (recent vs historical hours). Tested signals like buffering and completion rate showed no churn separation in the data — model only on what predicts.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04 · Streaming quality is uniform — no geographic concentration</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seven CDN regions and ten ISPs cluster within a 3.3% spread of buffering events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BUFFERING EVENTS BY CDN REGION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21945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1945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south-america</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3383280" y="21945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4389120" y="21945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57200" y="25603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640080" y="25603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3383280" y="25603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4389120" y="25603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57200" y="292608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292608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asia-pacific</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3383280" y="292608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57200" y="329184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640080" y="329184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3383280" y="329184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4389120" y="329184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57200" y="365760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365760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3383280" y="365760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4389120" y="365760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457200" y="40233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640080" y="40233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383280" y="40233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389120" y="40233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57200" y="43891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43891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3383280" y="43891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2.17</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4389120" y="43891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6126480" y="1828800"/>
            <a:ext cx="5577840" cy="29260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6309360" y="1965960"/>
            <a:ext cx="5212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THIS MEANS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6309360" y="2331720"/>
            <a:ext cx="5212080" cy="9144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600" b="1" i="0"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3.3%</a:t>
            </a:r>
            <a:endParaRPr kumimoji="0" lang="en-US" sz="5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6309360" y="320040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spread across all 7 regions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7498080" y="3611880"/>
            <a:ext cx="2743200" cy="0"/>
          </a:xfrm>
          <a:prstGeom prst="line">
            <a:avLst/>
          </a:prstGeom>
          <a:no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6309360" y="374904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Buffering ↔ Completion correlation: ≈ 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6309360" y="402336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Quality is not a meaningful retention lever in this dataset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457200" y="5120640"/>
            <a:ext cx="11247120" cy="10058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640080" y="521208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640080" y="5486400"/>
            <a:ext cx="1097280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De-prioritize geographic CDN investment. The case for selective region/ISP upgrades is not present in current data — buffering is consistent across all infrastructure combinations and does not correlate with completion. Reallocate CDN budget toward absolute baseline reduction or other levers.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1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04 · Streaming quality is geographically concentrated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Region by ISP combinations reveal where infrastructure investment most reduces churn risk</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WORST REGION × ISP COMBINATIONS</a:t>
            </a:r>
            <a:endParaRPr lang="en-US" sz="1000" dirty="0"/>
          </a:p>
        </p:txBody>
      </p:sp>
      <p:sp>
        <p:nvSpPr>
          <p:cNvPr id="13" name="Shape 11"/>
          <p:cNvSpPr/>
          <p:nvPr/>
        </p:nvSpPr>
        <p:spPr>
          <a:xfrm>
            <a:off x="457200" y="2240280"/>
            <a:ext cx="5486400" cy="6400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24028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#1</a:t>
            </a:r>
            <a:endParaRPr lang="en-US" sz="2200" dirty="0"/>
          </a:p>
        </p:txBody>
      </p:sp>
      <p:sp>
        <p:nvSpPr>
          <p:cNvPr id="15" name="Text 13"/>
          <p:cNvSpPr/>
          <p:nvPr/>
        </p:nvSpPr>
        <p:spPr>
          <a:xfrm>
            <a:off x="1280160" y="228600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16" name="Text 14"/>
          <p:cNvSpPr/>
          <p:nvPr/>
        </p:nvSpPr>
        <p:spPr>
          <a:xfrm>
            <a:off x="1280160" y="256032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17" name="Shape 15"/>
          <p:cNvSpPr/>
          <p:nvPr/>
        </p:nvSpPr>
        <p:spPr>
          <a:xfrm>
            <a:off x="457200" y="3017520"/>
            <a:ext cx="5486400" cy="6400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1752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#2</a:t>
            </a:r>
            <a:endParaRPr lang="en-US" sz="2200" dirty="0"/>
          </a:p>
        </p:txBody>
      </p:sp>
      <p:sp>
        <p:nvSpPr>
          <p:cNvPr id="19" name="Text 17"/>
          <p:cNvSpPr/>
          <p:nvPr/>
        </p:nvSpPr>
        <p:spPr>
          <a:xfrm>
            <a:off x="1280160" y="306324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0" name="Text 18"/>
          <p:cNvSpPr/>
          <p:nvPr/>
        </p:nvSpPr>
        <p:spPr>
          <a:xfrm>
            <a:off x="1280160" y="333756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1" name="Shape 19"/>
          <p:cNvSpPr/>
          <p:nvPr/>
        </p:nvSpPr>
        <p:spPr>
          <a:xfrm>
            <a:off x="457200" y="3794760"/>
            <a:ext cx="5486400" cy="6400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379476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#3</a:t>
            </a:r>
            <a:endParaRPr lang="en-US" sz="2200" dirty="0"/>
          </a:p>
        </p:txBody>
      </p:sp>
      <p:sp>
        <p:nvSpPr>
          <p:cNvPr id="23" name="Text 21"/>
          <p:cNvSpPr/>
          <p:nvPr/>
        </p:nvSpPr>
        <p:spPr>
          <a:xfrm>
            <a:off x="1280160" y="384048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4" name="Text 22"/>
          <p:cNvSpPr/>
          <p:nvPr/>
        </p:nvSpPr>
        <p:spPr>
          <a:xfrm>
            <a:off x="1280160" y="411480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5" name="Shape 23"/>
          <p:cNvSpPr/>
          <p:nvPr/>
        </p:nvSpPr>
        <p:spPr>
          <a:xfrm>
            <a:off x="6126480" y="1828800"/>
            <a:ext cx="5577840" cy="3108960"/>
          </a:xfrm>
          <a:prstGeom prst="rect">
            <a:avLst/>
          </a:prstGeom>
          <a:solidFill>
            <a:srgbClr val="0A4250"/>
          </a:solidFill>
          <a:ln w="12700">
            <a:solidFill>
              <a:srgbClr val="1E5A6B"/>
            </a:solidFill>
            <a:prstDash val="solid"/>
          </a:ln>
        </p:spPr>
        <p:txBody>
          <a:bodyPr/>
          <a:lstStyle/>
          <a:p>
            <a:endParaRPr lang="en-US"/>
          </a:p>
        </p:txBody>
      </p:sp>
      <p:sp>
        <p:nvSpPr>
          <p:cNvPr id="26" name="Text 24"/>
          <p:cNvSpPr/>
          <p:nvPr/>
        </p:nvSpPr>
        <p:spPr>
          <a:xfrm>
            <a:off x="6309360" y="1965960"/>
            <a:ext cx="52120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BUFFERING ↔ COMPLETION</a:t>
            </a:r>
            <a:endParaRPr lang="en-US" sz="1000" dirty="0"/>
          </a:p>
        </p:txBody>
      </p:sp>
      <p:sp>
        <p:nvSpPr>
          <p:cNvPr id="27" name="Text 25"/>
          <p:cNvSpPr/>
          <p:nvPr/>
        </p:nvSpPr>
        <p:spPr>
          <a:xfrm>
            <a:off x="6309360" y="2331720"/>
            <a:ext cx="521208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Strong negative correlation across all sessions</a:t>
            </a:r>
            <a:endParaRPr lang="en-US" sz="1300" dirty="0"/>
          </a:p>
        </p:txBody>
      </p:sp>
      <p:sp>
        <p:nvSpPr>
          <p:cNvPr id="28" name="Text 26"/>
          <p:cNvSpPr/>
          <p:nvPr/>
        </p:nvSpPr>
        <p:spPr>
          <a:xfrm>
            <a:off x="6309360" y="2834640"/>
            <a:ext cx="5212080" cy="822960"/>
          </a:xfrm>
          <a:prstGeom prst="rect">
            <a:avLst/>
          </a:prstGeom>
          <a:noFill/>
          <a:ln/>
        </p:spPr>
        <p:txBody>
          <a:bodyPr wrap="square" lIns="0" tIns="0" rIns="0" bIns="0" rtlCol="0" anchor="ctr"/>
          <a:lstStyle/>
          <a:p>
            <a:pPr marL="0" indent="0" algn="ctr">
              <a:buNone/>
            </a:pPr>
            <a:r>
              <a:rPr lang="en-US" sz="3200" b="1" dirty="0">
                <a:solidFill>
                  <a:srgbClr val="3FE0E0"/>
                </a:solidFill>
                <a:latin typeface="Calibri" pitchFamily="34" charset="0"/>
                <a:ea typeface="Calibri" pitchFamily="34" charset="-122"/>
                <a:cs typeface="Calibri" pitchFamily="34" charset="-120"/>
              </a:rPr>
              <a:t>[ correlation coefficient ]</a:t>
            </a:r>
            <a:endParaRPr lang="en-US" sz="3200" dirty="0"/>
          </a:p>
        </p:txBody>
      </p:sp>
      <p:sp>
        <p:nvSpPr>
          <p:cNvPr id="29" name="Text 27"/>
          <p:cNvSpPr/>
          <p:nvPr/>
        </p:nvSpPr>
        <p:spPr>
          <a:xfrm>
            <a:off x="6309360" y="3794760"/>
            <a:ext cx="5212080" cy="105156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Bad streaming quality measurably reduces completion. Quality issues are a direct technical lever for retention.</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Negotiate dedicated peering or upgrade CDN capacity for the top three problem region/ISP combinations. A 20% buffering reduction would lift completion by an estimated X percentage points among affected users — directly extending watch time and reducing churn risk.</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16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05</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Recommended Actions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PRIORITIZED ROADMAP WITH TIME-TO-IMPLEMENT</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Four actions, prioritized by impact-to-effort ratio</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actions are implementable from analytics tables our pipeline produces today</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aphicFrame>
        <p:nvGraphicFramePr>
          <p:cNvPr id="19" name="Table 0"/>
          <p:cNvGraphicFramePr>
            <a:graphicFrameLocks noGrp="1"/>
          </p:cNvGraphicFramePr>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$1.5–3.1B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on monthly_hours_watched</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Target ~10% of 19.6K churners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Redirect personalization from tier to title-level signals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Lift completion via 48 pp title variance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Reallocate CDN budget away from selective region/ISP investment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Free budget for higher-impact levers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Immediate review</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28.xml><?xml version="1.0" encoding="utf-8"?>
<p:sld xmlns:a="http://schemas.openxmlformats.org/drawingml/2006/main" xmlns:r="http://schemas.openxmlformats.org/officeDocument/2006/relationships" xmlns:p="http://schemas.openxmlformats.org/presentationml/2006/main" show="0">
  <p:cSld name="Slide 1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Four actions, prioritized by impact-to-effort ratio</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actions are implementable from analytics tables our pipeline produces today</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$X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model from 3-signal feature set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5% churn reduction → ~$X revenue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Negotiate peering/CDN upgrade for top 3 region-ISP combos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20% buffering reduction in affected segments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negotiation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Tier-aware recommendation tuning to lift Basic completion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Increased Basic→Standard upgrade conversions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endParaRPr lang="en-US"/>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indent="0">
              <a:buNone/>
            </a:pPr>
            <a:r>
              <a:rPr lang="en-US" sz="1200" i="1" dirty="0">
                <a:solidFill>
                  <a:srgbClr val="FFFFFF"/>
                </a:solidFill>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lang="en-US" sz="1200" dirty="0"/>
          </a:p>
        </p:txBody>
      </p:sp>
      <p:sp>
        <p:nvSpPr>
          <p:cNvPr id="15" name="Text 1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18 / 22</a:t>
            </a:r>
            <a:endParaRPr lang="en-US" sz="900" dirty="0"/>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06</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Scaling the Solution</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PATH TO 10× AND 100× VOLUME</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Linear scaling path · 10× to 100× requires reconfiguration, not rearchitecture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Each layer scales independently; cloud-managed equivalents available across all major providers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502920"/>
          </a:xfrm>
          <a:prstGeom prst="rect">
            <a:avLst/>
          </a:prstGeom>
          <a:solidFill>
            <a:srgbClr val="0A4250"/>
          </a:solidFill>
          <a:ln w="12700">
            <a:solidFill>
              <a:srgbClr val="0A4250"/>
            </a:solidFill>
            <a:prstDash val="solid"/>
          </a:ln>
        </p:spPr>
        <p:txBody>
          <a:bodyPr/>
          <a:lstStyle/>
          <a:p>
            <a:endParaRPr lang="en-US"/>
          </a:p>
        </p:txBody>
      </p:sp>
      <p:sp>
        <p:nvSpPr>
          <p:cNvPr id="14" name="Text 12"/>
          <p:cNvSpPr/>
          <p:nvPr/>
        </p:nvSpPr>
        <p:spPr>
          <a:xfrm>
            <a:off x="731520" y="1828800"/>
            <a:ext cx="3200400" cy="502920"/>
          </a:xfrm>
          <a:prstGeom prst="rect">
            <a:avLst/>
          </a:prstGeom>
          <a:noFill/>
          <a:ln/>
        </p:spPr>
        <p:txBody>
          <a:bodyPr wrap="square" lIns="0" tIns="0" rIns="0" bIns="0" rtlCol="0" anchor="ctr"/>
          <a:lstStyle/>
          <a:p>
            <a:pPr marL="0" indent="0">
              <a:buNone/>
            </a:pPr>
            <a:r>
              <a:rPr lang="en-US" sz="1800" b="1" kern="0" spc="200" dirty="0">
                <a:solidFill>
                  <a:srgbClr val="FFFFFF"/>
                </a:solidFill>
                <a:latin typeface="Calibri" pitchFamily="34" charset="0"/>
                <a:ea typeface="Calibri" pitchFamily="34" charset="-122"/>
                <a:cs typeface="Calibri" pitchFamily="34" charset="-120"/>
              </a:rPr>
              <a:t>TODAY</a:t>
            </a:r>
            <a:endParaRPr lang="en-US" sz="1800" dirty="0"/>
          </a:p>
        </p:txBody>
      </p:sp>
      <p:sp>
        <p:nvSpPr>
          <p:cNvPr id="15" name="Text 13"/>
          <p:cNvSpPr/>
          <p:nvPr/>
        </p:nvSpPr>
        <p:spPr>
          <a:xfrm>
            <a:off x="731520"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MB, 50M rows</a:t>
            </a:r>
            <a:endParaRPr lang="en-US" sz="1000" dirty="0"/>
          </a:p>
        </p:txBody>
      </p:sp>
      <p:sp>
        <p:nvSpPr>
          <p:cNvPr id="16" name="Text 14"/>
          <p:cNvSpPr/>
          <p:nvPr/>
        </p:nvSpPr>
        <p:spPr>
          <a:xfrm>
            <a:off x="731520"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Spark worker, 2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Kafka broker</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2 datanodes, RF=2</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Airflow LocalExecutor</a:t>
            </a:r>
            <a:endParaRPr lang="en-US" sz="1100" dirty="0"/>
          </a:p>
        </p:txBody>
      </p:sp>
      <p:sp>
        <p:nvSpPr>
          <p:cNvPr id="17" name="Shape 15"/>
          <p:cNvSpPr/>
          <p:nvPr/>
        </p:nvSpPr>
        <p:spPr>
          <a:xfrm>
            <a:off x="4361688"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8" name="Shape 16"/>
          <p:cNvSpPr/>
          <p:nvPr/>
        </p:nvSpPr>
        <p:spPr>
          <a:xfrm>
            <a:off x="4361688" y="1828800"/>
            <a:ext cx="3703320" cy="502920"/>
          </a:xfrm>
          <a:prstGeom prst="rect">
            <a:avLst/>
          </a:prstGeom>
          <a:solidFill>
            <a:srgbClr val="5BC9C9"/>
          </a:solidFill>
          <a:ln w="12700">
            <a:solidFill>
              <a:srgbClr val="5BC9C9"/>
            </a:solidFill>
            <a:prstDash val="solid"/>
          </a:ln>
        </p:spPr>
        <p:txBody>
          <a:bodyPr/>
          <a:lstStyle/>
          <a:p>
            <a:endParaRPr lang="en-US"/>
          </a:p>
        </p:txBody>
      </p:sp>
      <p:sp>
        <p:nvSpPr>
          <p:cNvPr id="19" name="Text 17"/>
          <p:cNvSpPr/>
          <p:nvPr/>
        </p:nvSpPr>
        <p:spPr>
          <a:xfrm>
            <a:off x="4636008"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a:t>
            </a:r>
            <a:endParaRPr lang="en-US" sz="1800" dirty="0"/>
          </a:p>
        </p:txBody>
      </p:sp>
      <p:sp>
        <p:nvSpPr>
          <p:cNvPr id="20" name="Text 18"/>
          <p:cNvSpPr/>
          <p:nvPr/>
        </p:nvSpPr>
        <p:spPr>
          <a:xfrm>
            <a:off x="4636008"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320 MB, 500M rows</a:t>
            </a:r>
            <a:endParaRPr lang="en-US" sz="1000" dirty="0"/>
          </a:p>
        </p:txBody>
      </p:sp>
      <p:sp>
        <p:nvSpPr>
          <p:cNvPr id="21" name="Text 19"/>
          <p:cNvSpPr/>
          <p:nvPr/>
        </p:nvSpPr>
        <p:spPr>
          <a:xfrm>
            <a:off x="4636008"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4 workers × 4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12 partitions, 3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shuffle.partitions → 500</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HDFS still healthy</a:t>
            </a:r>
            <a:endParaRPr lang="en-US" sz="1100" dirty="0"/>
          </a:p>
        </p:txBody>
      </p:sp>
      <p:sp>
        <p:nvSpPr>
          <p:cNvPr id="22" name="Shape 20"/>
          <p:cNvSpPr/>
          <p:nvPr/>
        </p:nvSpPr>
        <p:spPr>
          <a:xfrm>
            <a:off x="8266176"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23" name="Shape 21"/>
          <p:cNvSpPr/>
          <p:nvPr/>
        </p:nvSpPr>
        <p:spPr>
          <a:xfrm>
            <a:off x="8266176" y="1828800"/>
            <a:ext cx="3703320" cy="502920"/>
          </a:xfrm>
          <a:prstGeom prst="rect">
            <a:avLst/>
          </a:prstGeom>
          <a:solidFill>
            <a:srgbClr val="3FE0E0"/>
          </a:solidFill>
          <a:ln w="12700">
            <a:solidFill>
              <a:srgbClr val="3FE0E0"/>
            </a:solidFill>
            <a:prstDash val="solid"/>
          </a:ln>
        </p:spPr>
        <p:txBody>
          <a:bodyPr/>
          <a:lstStyle/>
          <a:p>
            <a:endParaRPr lang="en-US"/>
          </a:p>
        </p:txBody>
      </p:sp>
      <p:sp>
        <p:nvSpPr>
          <p:cNvPr id="24" name="Text 22"/>
          <p:cNvSpPr/>
          <p:nvPr/>
        </p:nvSpPr>
        <p:spPr>
          <a:xfrm>
            <a:off x="8540496"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100×</a:t>
            </a:r>
            <a:endParaRPr lang="en-US" sz="1800" dirty="0"/>
          </a:p>
        </p:txBody>
      </p:sp>
      <p:sp>
        <p:nvSpPr>
          <p:cNvPr id="25" name="Text 23"/>
          <p:cNvSpPr/>
          <p:nvPr/>
        </p:nvSpPr>
        <p:spPr>
          <a:xfrm>
            <a:off x="8540496"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GB, 5B rows</a:t>
            </a:r>
            <a:endParaRPr lang="en-US" sz="1000" dirty="0"/>
          </a:p>
        </p:txBody>
      </p:sp>
      <p:sp>
        <p:nvSpPr>
          <p:cNvPr id="26" name="Text 24"/>
          <p:cNvSpPr/>
          <p:nvPr/>
        </p:nvSpPr>
        <p:spPr>
          <a:xfrm>
            <a:off x="8540496"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8–16 workers × 16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16+ partitions, 5+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RF=3, 5+ datanodes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CeleryExecutor + Redis</a:t>
            </a:r>
            <a:endParaRPr lang="en-US" sz="1100" dirty="0"/>
          </a:p>
        </p:txBody>
      </p:sp>
      <p:sp>
        <p:nvSpPr>
          <p:cNvPr id="27" name="Text 25"/>
          <p:cNvSpPr/>
          <p:nvPr/>
        </p:nvSpPr>
        <p:spPr>
          <a:xfrm>
            <a:off x="457200" y="4434840"/>
            <a:ext cx="1124712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CLOUD-MANAGED EQUIVALENTS</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4754880"/>
          <a:ext cx="11247120" cy="1463040"/>
        </p:xfrm>
        <a:graphic>
          <a:graphicData uri="http://schemas.openxmlformats.org/drawingml/2006/table">
            <a:tbl>
              <a:tblPr/>
              <a:tblGrid>
                <a:gridCol w="2743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29260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Layer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AWS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GCP</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Azure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S3 + EMRFS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ADLS Gen2</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Compute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EMR / Glue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Dataproc</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HDInsight / Synapse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Streaming</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MSK / Kinesis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Pub/Sub</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Event Hubs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Orchestration</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MWAA</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Composer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 Factory</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29" name="Text 26"/>
          <p:cNvSpPr/>
          <p:nvPr/>
        </p:nvSpPr>
        <p:spPr>
          <a:xfrm>
            <a:off x="457200" y="6263640"/>
            <a:ext cx="11247120" cy="274320"/>
          </a:xfrm>
          <a:prstGeom prst="rect">
            <a:avLst/>
          </a:prstGeom>
          <a:noFill/>
          <a:ln/>
        </p:spPr>
        <p:txBody>
          <a:bodyPr wrap="square" lIns="0" tIns="0" rIns="0" bIns="0" rtlCol="0" anchor="ctr"/>
          <a:lstStyle/>
          <a:p>
            <a:pPr marL="0" indent="0" algn="ctr">
              <a:buNone/>
            </a:pPr>
            <a:r>
              <a:rPr lang="en-US" sz="1100" b="1" dirty="0">
                <a:solidFill>
                  <a:srgbClr val="3FE0E0"/>
                </a:solidFill>
                <a:latin typeface="Calibri" pitchFamily="34" charset="0"/>
                <a:ea typeface="Calibri" pitchFamily="34" charset="-122"/>
                <a:cs typeface="Calibri" pitchFamily="34" charset="-120"/>
              </a:rPr>
              <a:t>Recommended at 100×: AWS-based stack · ~70% lower TCO than self-managed once labor included</a:t>
            </a:r>
            <a:endParaRPr lang="en-US" sz="1100" dirty="0"/>
          </a:p>
        </p:txBody>
      </p:sp>
      <p:sp>
        <p:nvSpPr>
          <p:cNvPr id="31" name="Text 2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Lessons learned · what worked, what was hard, what we’d do differently</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Reflections from a four-week build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01</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WORKED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Single docker-compose with shared network — eliminated service-discovery friction</a:t>
            </a:r>
          </a:p>
          <a:p>
            <a:pPr marL="171450" marR="0" lvl="0" indent="-171450" algn="l" defTabSz="914400" rtl="0" eaLnBrk="1" fontAlgn="auto" latinLnBrk="0" hangingPunct="1">
              <a:lnSpc>
                <a:spcPct val="130000"/>
              </a:lnSpc>
              <a:spcBef>
                <a:spcPts val="0"/>
              </a:spcBef>
              <a:spcAft>
                <a:spcPts val="60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Reusable cleaning logic applied across all 5 datasets</a:t>
            </a:r>
          </a:p>
          <a:p>
            <a:pPr marL="171450" marR="0" lvl="0" indent="-171450" algn="l" defTabSz="914400" rtl="0" eaLnBrk="1" fontAlgn="auto" latinLnBrk="0" hangingPunct="1">
              <a:lnSpc>
                <a:spcPct val="130000"/>
              </a:lnSpc>
              <a:spcBef>
                <a:spcPts val="0"/>
              </a:spcBef>
              <a:spcAft>
                <a:spcPts val="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Custom cost_per_viewing_hour metric — directly linked technical work to business value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Foundations that made the build go fast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02</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WAS HARD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2971800"/>
            <a:ext cx="73152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misalignment between batch and streaming layers — resolved by standardizing on raw Stage 1 fields</a:t>
            </a:r>
          </a:p>
          <a:p>
            <a:pPr marL="171450" marR="0" lvl="0" indent="-171450" algn="l" defTabSz="914400" rtl="0" eaLnBrk="1" fontAlgn="auto" latinLnBrk="0" hangingPunct="1">
              <a:lnSpc>
                <a:spcPct val="130000"/>
              </a:lnSpc>
              <a:spcBef>
                <a:spcPts val="0"/>
              </a:spcBef>
              <a:spcAft>
                <a:spcPts val="60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lacked session-level join key — solved with user-level aggregation</a:t>
            </a:r>
          </a:p>
          <a:p>
            <a:pPr marL="171450" marR="0" lvl="0" indent="-171450" algn="l" defTabSz="914400" rtl="0" eaLnBrk="1" fontAlgn="auto" latinLnBrk="0" hangingPunct="1">
              <a:lnSpc>
                <a:spcPct val="130000"/>
              </a:lnSpc>
              <a:spcBef>
                <a:spcPts val="0"/>
              </a:spcBef>
              <a:spcAft>
                <a:spcPts val="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Apple Silicon compatibility — required platform: linux/amd64 declaration on every service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636008" y="5440680"/>
            <a:ext cx="3154680" cy="50292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Friction we worked through</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8266176" y="1828800"/>
            <a:ext cx="370332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03</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WE’D DO DIFFERENTLY</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8540496" y="2971800"/>
            <a:ext cx="731520" cy="0"/>
          </a:xfrm>
          <a:prstGeom prst="line">
            <a:avLst/>
          </a:prstGeom>
          <a:no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Define data contracts between stages on Day 1</a:t>
            </a:r>
          </a:p>
          <a:p>
            <a:pPr marL="171450" marR="0" lvl="0" indent="-171450" algn="l" defTabSz="914400" rtl="0" eaLnBrk="1" fontAlgn="auto" latinLnBrk="0" hangingPunct="1">
              <a:lnSpc>
                <a:spcPct val="130000"/>
              </a:lnSpc>
              <a:spcBef>
                <a:spcPts val="0"/>
              </a:spcBef>
              <a:spcAft>
                <a:spcPts val="60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Add a second Kafka topic for alerts to demonstrate multi-topic patterns</a:t>
            </a:r>
          </a:p>
          <a:p>
            <a:pPr marL="171450" marR="0" lvl="0" indent="-171450" algn="l" defTabSz="914400" rtl="0" eaLnBrk="1" fontAlgn="auto" latinLnBrk="0" hangingPunct="1">
              <a:lnSpc>
                <a:spcPct val="130000"/>
              </a:lnSpc>
              <a:spcBef>
                <a:spcPts val="0"/>
              </a:spcBef>
              <a:spcAft>
                <a:spcPts val="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Earlier integration testing — full-stack boot before each stage owner finishes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540496" y="5440680"/>
            <a:ext cx="315468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Process changes for round two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2560320"/>
            <a:ext cx="11247120" cy="1371600"/>
          </a:xfrm>
          <a:prstGeom prst="rect">
            <a:avLst/>
          </a:prstGeom>
          <a:noFill/>
          <a:ln/>
        </p:spPr>
        <p:txBody>
          <a:bodyPr wrap="square" lIns="0" tIns="0" rIns="0" bIns="0"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Questions</a:t>
            </a:r>
            <a:endParaRPr lang="en-US" sz="9000" dirty="0"/>
          </a:p>
        </p:txBody>
      </p:sp>
      <p:sp>
        <p:nvSpPr>
          <p:cNvPr id="10" name="Shape 8"/>
          <p:cNvSpPr/>
          <p:nvPr/>
        </p:nvSpPr>
        <p:spPr>
          <a:xfrm>
            <a:off x="5166360" y="4023360"/>
            <a:ext cx="1828800" cy="0"/>
          </a:xfrm>
          <a:prstGeom prst="line">
            <a:avLst/>
          </a:prstGeom>
          <a:noFill/>
          <a:ln w="38100">
            <a:solidFill>
              <a:srgbClr val="3FE0E0"/>
            </a:solidFill>
            <a:prstDash val="solid"/>
          </a:ln>
        </p:spPr>
        <p:txBody>
          <a:bodyPr/>
          <a:lstStyle/>
          <a:p>
            <a:endParaRPr lang="en-US"/>
          </a:p>
        </p:txBody>
      </p:sp>
      <p:sp>
        <p:nvSpPr>
          <p:cNvPr id="11" name="Text 9"/>
          <p:cNvSpPr/>
          <p:nvPr/>
        </p:nvSpPr>
        <p:spPr>
          <a:xfrm>
            <a:off x="457200" y="4206240"/>
            <a:ext cx="11247120" cy="365760"/>
          </a:xfrm>
          <a:prstGeom prst="rect">
            <a:avLst/>
          </a:prstGeom>
          <a:noFill/>
          <a:ln/>
        </p:spPr>
        <p:txBody>
          <a:bodyPr wrap="square" lIns="0" tIns="0" rIns="0" bIns="0" rtlCol="0" anchor="ctr"/>
          <a:lstStyle/>
          <a:p>
            <a:pPr marL="0" indent="0" algn="ctr">
              <a:buNone/>
            </a:pPr>
            <a:r>
              <a:rPr lang="en-US" sz="1400" kern="0" spc="600" dirty="0">
                <a:solidFill>
                  <a:srgbClr val="3FE0E0"/>
                </a:solidFill>
                <a:latin typeface="Calibri" pitchFamily="34" charset="0"/>
                <a:ea typeface="Calibri" pitchFamily="34" charset="-122"/>
                <a:cs typeface="Calibri" pitchFamily="34" charset="-120"/>
              </a:rPr>
              <a:t>DISCUSSION OPEN</a:t>
            </a:r>
            <a:endParaRPr lang="en-US" sz="1400" dirty="0"/>
          </a:p>
        </p:txBody>
      </p:sp>
      <p:sp>
        <p:nvSpPr>
          <p:cNvPr id="12" name="Text 10"/>
          <p:cNvSpPr/>
          <p:nvPr/>
        </p:nvSpPr>
        <p:spPr>
          <a:xfrm>
            <a:off x="457200" y="6217920"/>
            <a:ext cx="11247120" cy="365760"/>
          </a:xfrm>
          <a:prstGeom prst="rect">
            <a:avLst/>
          </a:prstGeom>
          <a:noFill/>
          <a:ln/>
        </p:spPr>
        <p:txBody>
          <a:bodyPr wrap="square" lIns="0" tIns="0" rIns="0" bIns="0" rtlCol="0" anchor="ctr"/>
          <a:lstStyle/>
          <a:p>
            <a:pPr marL="0" indent="0" algn="ctr">
              <a:buNone/>
            </a:pPr>
            <a:r>
              <a:rPr lang="en-US" sz="1100" dirty="0">
                <a:solidFill>
                  <a:srgbClr val="7FA8AE"/>
                </a:solidFill>
                <a:latin typeface="Calibri" pitchFamily="34" charset="0"/>
                <a:ea typeface="Calibri" pitchFamily="34" charset="-122"/>
                <a:cs typeface="Calibri" pitchFamily="34" charset="-120"/>
              </a:rPr>
              <a:t>Team Data Avengers · Helen Nguyen · Quang Nguyen · Juan Rivera · Aleksandr Nicolaev · Yusuke Yoshizawa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TotalTime>
  <Words>5833</Words>
  <Application>Microsoft Macintosh PowerPoint</Application>
  <PresentationFormat>Widescreen</PresentationFormat>
  <Paragraphs>685</Paragraphs>
  <Slides>32</Slides>
  <Notes>32</Notes>
  <HiddenSlides>8</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MediaWave Streaming — Big Data Pipeline</dc:title>
  <dc:subject>PptxGenJS Presentation</dc:subject>
  <dc:creator>Team Data Avengers</dc:creator>
  <cp:lastModifiedBy>Nga Nguyễn</cp:lastModifiedBy>
  <cp:revision>1</cp:revision>
  <dcterms:created xsi:type="dcterms:W3CDTF">2026-05-02T21:18:39Z</dcterms:created>
  <dcterms:modified xsi:type="dcterms:W3CDTF">2026-05-04T16:20:04Z</dcterms:modified>
</cp:coreProperties>
</file>