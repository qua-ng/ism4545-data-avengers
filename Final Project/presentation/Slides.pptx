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comments/modernComment_101_0.xml" ContentType="application/vnd.ms-powerpoint.comments+xml"/>
  <Override PartName="/ppt/notesSlides/notesSlide3.xml" ContentType="application/vnd.openxmlformats-officedocument.presentationml.notesSlide+xml"/>
  <Override PartName="/ppt/comments/modernComment_102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05_0.xml" ContentType="application/vnd.ms-powerpoint.comments+xml"/>
  <Override PartName="/ppt/notesSlides/notesSlide7.xml" ContentType="application/vnd.openxmlformats-officedocument.presentationml.notesSlide+xml"/>
  <Override PartName="/ppt/comments/modernComment_11F_0.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omments/modernComment_110_0.xml" ContentType="application/vnd.ms-powerpoint.comments+xml"/>
  <Override PartName="/ppt/notesSlides/notesSlide26.xml" ContentType="application/vnd.openxmlformats-officedocument.presentationml.notesSlide+xml"/>
  <Override PartName="/ppt/comments/modernComment_124_0.xml" ContentType="application/vnd.ms-powerpoint.comments+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87" r:id="rId8"/>
    <p:sldId id="263" r:id="rId9"/>
    <p:sldId id="264" r:id="rId10"/>
    <p:sldId id="280" r:id="rId11"/>
    <p:sldId id="282" r:id="rId12"/>
    <p:sldId id="284" r:id="rId13"/>
    <p:sldId id="285" r:id="rId14"/>
    <p:sldId id="286" r:id="rId15"/>
    <p:sldId id="266" r:id="rId16"/>
    <p:sldId id="267" r:id="rId17"/>
    <p:sldId id="268" r:id="rId18"/>
    <p:sldId id="288" r:id="rId19"/>
    <p:sldId id="269" r:id="rId20"/>
    <p:sldId id="289" r:id="rId21"/>
    <p:sldId id="270" r:id="rId22"/>
    <p:sldId id="290" r:id="rId23"/>
    <p:sldId id="291" r:id="rId24"/>
    <p:sldId id="271" r:id="rId25"/>
    <p:sldId id="272" r:id="rId26"/>
    <p:sldId id="292" r:id="rId27"/>
    <p:sldId id="273" r:id="rId28"/>
    <p:sldId id="274" r:id="rId29"/>
    <p:sldId id="275" r:id="rId30"/>
    <p:sldId id="276"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8FFA44F-F2CB-31E9-D638-FA3346F2E98C}" name="Helen Nguyen" initials="QN" userId="S::nganguyen@usf.edu::1112739b-77dc-448a-8744-257d55cee90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17" dt="2026-05-02T22:43:44.26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8945"/>
    <p:restoredTop sz="94610"/>
  </p:normalViewPr>
  <p:slideViewPr>
    <p:cSldViewPr snapToGrid="0" snapToObjects="1">
      <p:cViewPr varScale="1">
        <p:scale>
          <a:sx n="80" d="100"/>
          <a:sy n="80" d="100"/>
        </p:scale>
        <p:origin x="35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8/10/relationships/authors" Target="authors.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pc:chgData name="Helen Nguyen" userId="1112739b-77dc-448a-8744-257d55cee90b" providerId="ADAL" clId="{194E4A13-58D5-5498-AEFF-E6FC041D81F5}" dt="2026-05-03T23:00:22.047" v="135" actId="729"/>
      <pc:docMkLst>
        <pc:docMk/>
      </pc:docMkLst>
      <pc:sldChg chg="modSp mod">
        <pc:chgData name="Helen Nguyen" userId="1112739b-77dc-448a-8744-257d55cee90b" providerId="ADAL" clId="{194E4A13-58D5-5498-AEFF-E6FC041D81F5}" dt="2026-05-02T21:55:09.197" v="100" actId="20577"/>
        <pc:sldMkLst>
          <pc:docMk/>
          <pc:sldMk cId="0" sldId="257"/>
        </pc:sldMkLst>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sldChg>
      <pc:sldChg chg="del">
        <pc:chgData name="Helen Nguyen" userId="1112739b-77dc-448a-8744-257d55cee90b" providerId="ADAL" clId="{194E4A13-58D5-5498-AEFF-E6FC041D81F5}" dt="2026-05-02T22:40:56.740" v="125" actId="2696"/>
        <pc:sldMkLst>
          <pc:docMk/>
          <pc:sldMk cId="0" sldId="262"/>
        </pc:sldMkLst>
      </pc:sldChg>
      <pc:sldChg chg="del">
        <pc:chgData name="Helen Nguyen" userId="1112739b-77dc-448a-8744-257d55cee90b" providerId="ADAL" clId="{194E4A13-58D5-5498-AEFF-E6FC041D81F5}" dt="2026-05-02T22:14:55.182" v="113" actId="2696"/>
        <pc:sldMkLst>
          <pc:docMk/>
          <pc:sldMk cId="0" sldId="265"/>
        </pc:sldMkLst>
      </pc:sldChg>
      <pc:sldChg chg="addSp delSp modSp mod">
        <pc:chgData name="Helen Nguyen" userId="1112739b-77dc-448a-8744-257d55cee90b" providerId="ADAL" clId="{194E4A13-58D5-5498-AEFF-E6FC041D81F5}" dt="2026-05-02T22:17:15.451" v="118" actId="478"/>
        <pc:sldMkLst>
          <pc:docMk/>
          <pc:sldMk cId="0" sldId="266"/>
        </pc:sldMkLst>
        <pc:picChg chg="add del mod">
          <ac:chgData name="Helen Nguyen" userId="1112739b-77dc-448a-8744-257d55cee90b" providerId="ADAL" clId="{194E4A13-58D5-5498-AEFF-E6FC041D81F5}" dt="2026-05-02T22:17:15.451" v="118" actId="478"/>
          <ac:picMkLst>
            <pc:docMk/>
            <pc:sldMk cId="0" sldId="266"/>
            <ac:picMk id="38" creationId="{F822FB8B-AD94-73A4-E2E1-3906B4FFB02B}"/>
          </ac:picMkLst>
        </pc:picChg>
      </pc:sldChg>
      <pc:sldChg chg="mod modShow">
        <pc:chgData name="Helen Nguyen" userId="1112739b-77dc-448a-8744-257d55cee90b" providerId="ADAL" clId="{194E4A13-58D5-5498-AEFF-E6FC041D81F5}" dt="2026-05-03T23:00:22.047" v="135" actId="729"/>
        <pc:sldMkLst>
          <pc:docMk/>
          <pc:sldMk cId="0" sldId="268"/>
        </pc:sldMkLst>
      </pc:sldChg>
      <pc:sldChg chg="mod modShow">
        <pc:chgData name="Helen Nguyen" userId="1112739b-77dc-448a-8744-257d55cee90b" providerId="ADAL" clId="{194E4A13-58D5-5498-AEFF-E6FC041D81F5}" dt="2026-05-03T23:00:16.244" v="134" actId="729"/>
        <pc:sldMkLst>
          <pc:docMk/>
          <pc:sldMk cId="0" sldId="269"/>
        </pc:sldMkLst>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del">
        <pc:chgData name="Helen Nguyen" userId="1112739b-77dc-448a-8744-257d55cee90b" providerId="ADAL" clId="{194E4A13-58D5-5498-AEFF-E6FC041D81F5}" dt="2026-05-02T22:17:36.385" v="123" actId="2696"/>
        <pc:sldMkLst>
          <pc:docMk/>
          <pc:sldMk cId="0" sldId="277"/>
        </pc:sldMkLst>
      </pc:sldChg>
      <pc:sldChg chg="new del">
        <pc:chgData name="Helen Nguyen" userId="1112739b-77dc-448a-8744-257d55cee90b" providerId="ADAL" clId="{194E4A13-58D5-5498-AEFF-E6FC041D81F5}" dt="2026-05-02T22:13:54.223" v="103" actId="2696"/>
        <pc:sldMkLst>
          <pc:docMk/>
          <pc:sldMk cId="4026015085" sldId="278"/>
        </pc:sldMkLst>
      </pc:sldChg>
      <pc:sldChg chg="add del setBg">
        <pc:chgData name="Helen Nguyen" userId="1112739b-77dc-448a-8744-257d55cee90b" providerId="ADAL" clId="{194E4A13-58D5-5498-AEFF-E6FC041D81F5}" dt="2026-05-02T22:14:18.742" v="105" actId="2696"/>
        <pc:sldMkLst>
          <pc:docMk/>
          <pc:sldMk cId="0" sldId="279"/>
        </pc:sldMkLst>
      </pc:sldChg>
      <pc:sldChg chg="addSp delSp add mod">
        <pc:chgData name="Helen Nguyen" userId="1112739b-77dc-448a-8744-257d55cee90b" providerId="ADAL" clId="{194E4A13-58D5-5498-AEFF-E6FC041D81F5}" dt="2026-05-02T22:14:41.651" v="109" actId="478"/>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ldChg>
      <pc:sldChg chg="add del">
        <pc:chgData name="Helen Nguyen" userId="1112739b-77dc-448a-8744-257d55cee90b" providerId="ADAL" clId="{194E4A13-58D5-5498-AEFF-E6FC041D81F5}" dt="2026-05-02T22:14:40.912" v="108"/>
        <pc:sldMkLst>
          <pc:docMk/>
          <pc:sldMk cId="0" sldId="281"/>
        </pc:sldMkLst>
      </pc:sldChg>
      <pc:sldChg chg="new del">
        <pc:chgData name="Helen Nguyen" userId="1112739b-77dc-448a-8744-257d55cee90b" providerId="ADAL" clId="{194E4A13-58D5-5498-AEFF-E6FC041D81F5}" dt="2026-05-02T22:14:47.201" v="112" actId="2696"/>
        <pc:sldMkLst>
          <pc:docMk/>
          <pc:sldMk cId="1757626998" sldId="281"/>
        </pc:sldMkLst>
      </pc:sldChg>
      <pc:sldChg chg="add">
        <pc:chgData name="Helen Nguyen" userId="1112739b-77dc-448a-8744-257d55cee90b" providerId="ADAL" clId="{194E4A13-58D5-5498-AEFF-E6FC041D81F5}" dt="2026-05-02T22:14:46.019" v="111"/>
        <pc:sldMkLst>
          <pc:docMk/>
          <pc:sldMk cId="0" sldId="282"/>
        </pc:sldMkLst>
      </pc:sldChg>
      <pc:sldChg chg="new del">
        <pc:chgData name="Helen Nguyen" userId="1112739b-77dc-448a-8744-257d55cee90b" providerId="ADAL" clId="{194E4A13-58D5-5498-AEFF-E6FC041D81F5}" dt="2026-05-02T22:17:24.912" v="122" actId="2696"/>
        <pc:sldMkLst>
          <pc:docMk/>
          <pc:sldMk cId="1839210567" sldId="283"/>
        </pc:sldMkLst>
      </pc:sldChg>
      <pc:sldChg chg="add">
        <pc:chgData name="Helen Nguyen" userId="1112739b-77dc-448a-8744-257d55cee90b" providerId="ADAL" clId="{194E4A13-58D5-5498-AEFF-E6FC041D81F5}" dt="2026-05-02T22:16:56.783" v="115"/>
        <pc:sldMkLst>
          <pc:docMk/>
          <pc:sldMk cId="0" sldId="284"/>
        </pc:sldMkLst>
      </pc:sldChg>
      <pc:sldChg chg="add">
        <pc:chgData name="Helen Nguyen" userId="1112739b-77dc-448a-8744-257d55cee90b" providerId="ADAL" clId="{194E4A13-58D5-5498-AEFF-E6FC041D81F5}" dt="2026-05-02T22:17:05.131" v="116"/>
        <pc:sldMkLst>
          <pc:docMk/>
          <pc:sldMk cId="0" sldId="285"/>
        </pc:sldMkLst>
      </pc:sldChg>
      <pc:sldChg chg="add del setBg">
        <pc:chgData name="Helen Nguyen" userId="1112739b-77dc-448a-8744-257d55cee90b" providerId="ADAL" clId="{194E4A13-58D5-5498-AEFF-E6FC041D81F5}" dt="2026-05-02T22:17:23.401" v="121"/>
        <pc:sldMkLst>
          <pc:docMk/>
          <pc:sldMk cId="0" sldId="286"/>
        </pc:sldMkLst>
      </pc:sldChg>
      <pc:sldChg chg="add">
        <pc:chgData name="Helen Nguyen" userId="1112739b-77dc-448a-8744-257d55cee90b" providerId="ADAL" clId="{194E4A13-58D5-5498-AEFF-E6FC041D81F5}" dt="2026-05-02T22:40:12.332" v="124"/>
        <pc:sldMkLst>
          <pc:docMk/>
          <pc:sldMk cId="0" sldId="287"/>
        </pc:sldMkLst>
      </pc:sldChg>
      <pc:sldChg chg="add">
        <pc:chgData name="Helen Nguyen" userId="1112739b-77dc-448a-8744-257d55cee90b" providerId="ADAL" clId="{194E4A13-58D5-5498-AEFF-E6FC041D81F5}" dt="2026-05-02T22:41:47.178" v="126"/>
        <pc:sldMkLst>
          <pc:docMk/>
          <pc:sldMk cId="0" sldId="288"/>
        </pc:sldMkLst>
      </pc:sldChg>
      <pc:sldChg chg="add">
        <pc:chgData name="Helen Nguyen" userId="1112739b-77dc-448a-8744-257d55cee90b" providerId="ADAL" clId="{194E4A13-58D5-5498-AEFF-E6FC041D81F5}" dt="2026-05-02T22:42:11.161" v="127"/>
        <pc:sldMkLst>
          <pc:docMk/>
          <pc:sldMk cId="0" sldId="289"/>
        </pc:sldMkLst>
      </pc:sldChg>
      <pc:sldChg chg="add">
        <pc:chgData name="Helen Nguyen" userId="1112739b-77dc-448a-8744-257d55cee90b" providerId="ADAL" clId="{194E4A13-58D5-5498-AEFF-E6FC041D81F5}" dt="2026-05-02T22:42:46.402" v="128"/>
        <pc:sldMkLst>
          <pc:docMk/>
          <pc:sldMk cId="0" sldId="290"/>
        </pc:sldMkLst>
      </pc:sldChg>
      <pc:sldChg chg="add">
        <pc:chgData name="Helen Nguyen" userId="1112739b-77dc-448a-8744-257d55cee90b" providerId="ADAL" clId="{194E4A13-58D5-5498-AEFF-E6FC041D81F5}" dt="2026-05-02T22:43:00.883" v="129"/>
        <pc:sldMkLst>
          <pc:docMk/>
          <pc:sldMk cId="0" sldId="291"/>
        </pc:sldMkLst>
      </pc:sldChg>
      <pc:sldChg chg="add">
        <pc:chgData name="Helen Nguyen" userId="1112739b-77dc-448a-8744-257d55cee90b" providerId="ADAL" clId="{194E4A13-58D5-5498-AEFF-E6FC041D81F5}" dt="2026-05-02T22:43:44.259" v="132"/>
        <pc:sldMkLst>
          <pc:docMk/>
          <pc:sldMk cId="0" sldId="292"/>
        </pc:sldMkLst>
      </pc:sldChg>
    </pc:docChg>
  </pc:docChgLst>
</pc:chgInfo>
</file>

<file path=ppt/comments/modernComment_11F_0.xml><?xml version="1.0" encoding="utf-8"?>
<p188:cmLst xmlns:a="http://schemas.openxmlformats.org/drawingml/2006/main" xmlns:r="http://schemas.openxmlformats.org/officeDocument/2006/relationships" xmlns:p188="http://schemas.microsoft.com/office/powerpoint/2018/8/main">
  <p188:cm id="{2A722BC9-B5D5-6842-815F-845742818217}" authorId="{38FFA44F-F2CB-31E9-D638-FA3346F2E98C}" created="2026-05-03T23:01:18.295">
    <pc:sldMkLst xmlns:pc="http://schemas.microsoft.com/office/powerpoint/2013/main/command">
      <pc:docMk/>
      <pc:sldMk cId="0" sldId="287"/>
    </pc:sldMkLst>
    <p188:txBody>
      <a:bodyPr/>
      <a:lstStyle/>
      <a:p>
        <a:r>
          <a:rPr lang="en-US"/>
          <a:t>Helen</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349A8214-32CA-2E44-9568-1BCC67211496}" authorId="{38FFA44F-F2CB-31E9-D638-FA3346F2E98C}" created="2026-05-03T22:59:15.802">
    <pc:sldMkLst xmlns:pc="http://schemas.microsoft.com/office/powerpoint/2013/main/command">
      <pc:docMk/>
      <pc:sldMk cId="0" sldId="256"/>
    </pc:sldMkLst>
    <p188:txBody>
      <a:bodyPr/>
      <a:lstStyle/>
      <a:p>
        <a:r>
          <a:rPr lang="en-US"/>
          <a:t>Helen</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29D6E4B1-EBE2-7C49-B774-0C8AF101ACD2}" authorId="{38FFA44F-F2CB-31E9-D638-FA3346F2E98C}" created="2026-05-03T22:59:22.604">
    <pc:sldMkLst xmlns:pc="http://schemas.microsoft.com/office/powerpoint/2013/main/command">
      <pc:docMk/>
      <pc:sldMk cId="0" sldId="257"/>
    </pc:sldMkLst>
    <p188:txBody>
      <a:bodyPr/>
      <a:lstStyle/>
      <a:p>
        <a:r>
          <a:rPr lang="en-US"/>
          <a:t>Everyone</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375B4131-B03B-DD41-AB26-BF67FAED7949}" authorId="{38FFA44F-F2CB-31E9-D638-FA3346F2E98C}" created="2026-05-03T22:59:33.436">
    <pc:sldMkLst xmlns:pc="http://schemas.microsoft.com/office/powerpoint/2013/main/command">
      <pc:docMk/>
      <pc:sldMk cId="0" sldId="258"/>
    </pc:sldMkLst>
    <p188:txBody>
      <a:bodyPr/>
      <a:lstStyle/>
      <a:p>
        <a:r>
          <a:rPr lang="en-US"/>
          <a:t>Helen</a:t>
        </a:r>
      </a:p>
    </p188:txBody>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0A57993D-5ECA-6140-9FF1-DEDD73FD3750}" authorId="{38FFA44F-F2CB-31E9-D638-FA3346F2E98C}" created="2026-05-03T23:01:11.475">
    <pc:sldMkLst xmlns:pc="http://schemas.microsoft.com/office/powerpoint/2013/main/command">
      <pc:docMk/>
      <pc:sldMk cId="0" sldId="261"/>
    </pc:sldMkLst>
    <p188:txBody>
      <a:bodyPr/>
      <a:lstStyle/>
      <a:p>
        <a:r>
          <a:rPr lang="en-US"/>
          <a:t>Helen</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A8014FBD-99B2-B140-832B-93FE243BED3B}" authorId="{38FFA44F-F2CB-31E9-D638-FA3346F2E98C}" created="2026-05-03T22:59:59.628">
    <pc:sldMkLst xmlns:pc="http://schemas.microsoft.com/office/powerpoint/2013/main/command">
      <pc:docMk/>
      <pc:sldMk cId="0" sldId="272"/>
    </pc:sldMkLst>
    <p188:txBody>
      <a:bodyPr/>
      <a:lstStyle/>
      <a:p>
        <a:r>
          <a:rPr lang="en-US"/>
          <a:t>Helen</a:t>
        </a:r>
      </a:p>
    </p188:txBody>
  </p188:cm>
</p188:cmLst>
</file>

<file path=ppt/comments/modernComment_124_0.xml><?xml version="1.0" encoding="utf-8"?>
<p188:cmLst xmlns:a="http://schemas.openxmlformats.org/drawingml/2006/main" xmlns:r="http://schemas.openxmlformats.org/officeDocument/2006/relationships" xmlns:p188="http://schemas.microsoft.com/office/powerpoint/2018/8/main">
  <p188:cm id="{31954996-337D-7F43-BF4E-EEBC84CB8CE6}" authorId="{38FFA44F-F2CB-31E9-D638-FA3346F2E98C}" created="2026-05-03T23:00:04.266">
    <pc:sldMkLst xmlns:pc="http://schemas.microsoft.com/office/powerpoint/2013/main/command">
      <pc:docMk/>
      <pc:sldMk cId="0" sldId="292"/>
    </pc:sldMkLst>
    <p188:txBody>
      <a:bodyPr/>
      <a:lstStyle/>
      <a:p>
        <a:r>
          <a:rPr lang="en-US"/>
          <a:t>Helen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briefing is structured as a consulting deliverable rather than a technical walkthrough. We start with the problem and the headline findings, then move through architecture, deeper insights, recommended actions, and scaling considerations. We will reserve technical detail for sections three and six, where the CIO's primary diligence questions concentrate. Transition: We begin with the engagement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We frame the engagement problem in business terms. MediaWave's data does not lack quantity. It lacks integration. The questions that matter most to engagement and retention cross dataset boundaries that current tooling does not. Transition: Five files, three unanswered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 operates with five data sources covering profiles, viewing, catalog, interactions, and quality. On their own, each is comprehensive. Together, in their current state, they are unusable for the questions that matter to engagement and retention. The three questions on the right each require joining data that today lives in different formats, different storage locations, and different ownership. Each unanswered question maps to a recurring revenue exposure: avoidable content waste, avoidable churn, and a delayed retention response. Transition: We will now share what we found once those joins were possible.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Before we describe the architecture, we present the three findings that emerged once integration was achieved. These are stated as headlines. The full insight set follows in section four. Transition: Three numbers, one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findings frame our recommendation. Two confirm the hypotheses we set out to test. One contradicts it — and that is itself a finding. First, content ROI: 73 percent of catalog cost is concentrated in titles whose ROI falls below the median. The bottom decile alone represents $3.13 billion in annual license cost, with an 860-times variance separating the worst and best titles. Second, engagement: contrary to our hypothesis, the completion-rate gap across plan tiers is less than one percentage point. Basic, Standard, and Premium users behave nearly identically. This is a counter-finding — it means recommendation tuning should focus on title-level features, not subscriber tier. Third, retention: total monthly hours watched is the dominant churn precursor. Retained users watch 26.4 hours per month; churned users 15.2 — a 42 percent gap. Buffering and completion-percentage signals turned out to be flat. Volume, not quality, is the predictor. Transition: Each of these emerged from a four-layer pipeline architecture, which we describe next.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Architecture overview. Three slides only: pipeline shape, technology choices with rationale, and production-readiness controls. We will revisit deeper technical detail in the appendix if questions arise. Transition: The pipeline runs from a single command.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implements four layers in sequence: storage, batch transformation, real-time streaming, and orchestration. All services are containerized. The full stack deploys from a single command and is fully reproducible across team members and grading environments. Each layer is independently scalable, which becomes relevant in section six. Transition: The next slide explains why these four technologies, specifically.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actual path data takes through the pipeline. Five raw sources land in HDFS in their original formats. PySpark cleans, standardizes, and joins them into three analytics tables stored as Parquet. Each analytics table maps directly to one of the business questions we cover next. In parallel, viewing events flow through Kafka and Spark Structured Streaming to produce real-time alerts. Both batch and streaming paths feed into business use; the analytics tables drive scheduled review and modeling, while streaming drives operational alerts. Transition: We chose this stack deliberately — the next slide explains why.</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MediaWave's data needs are not uniform. Some questions are deeply historical — content ROI, churn modeling, engagement segmentation. These require batch correctness and the ability to recompute over arbitrary time windows. Other questions are operational — concurrent viewers per title, sessions hitting buffering thresholds. These require sub-minute latency, not historical depth. Lambda architecture serves both. Batch handles deep analytics with full data correctness. Streaming handles low-latency alerts. Both feed a unified analytics zone, which means data scientists query one place. We considered Kappa — pure streaming, no batch — and rejected it. Historical re-processing in Kappa requires replaying the full event log, which is expensive and slow for the deep analytics MediaWave needs. The trade-off: Lambda runs two code paths. We accept that complexity in exchange for the right tool for each question type.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controls make this pipeline production-ready rather than a student exercise. First, data quality gates run between every stage and fail the DAG before bad data reaches analytics. Second, idempotent re-runs: the pipeline can be safely replayed from any failure point with no duplicate rows. We verified this empirically. Third, monitoring: Airflow handles retries and alerting, and a separate health-check DAG monitors streaming components every fifteen minutes. Together, these controls give operations a thirty-minute maximum time to detect and respond to issues. Transition: With architecture established, we now share the four insights the data revealed.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We move from infrastructure to insight. Four findings, each grounded in a specific analytics table our pipeline produces. Transition: We start with content ROI.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The variance is dramatic. The worst-ROI title in the catalog, Frozen Roads, costs $19,634 per hour watched. The best, Midnight Bridges 2, costs $23 per hour. That is an 860-times spread between best and worst. Aggregated, 73 percent of catalog cost concentrates in titles whose ROI falls below the median. The bottom decile alone — the worst 10 percent of titles by ROI — drives $3.13 billion in annual license cost, representing 17 percent of the total catalog budget. Recommendation: drop the bottom decile at the next license cycle. The full $3.13 billion represents the upper bound on annual savings; conservative renegotiation rather than full discontinuation would still yield $1.5 to $2 billion. Transition: Engagement patterns within the catalog tell a different story than we expected.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contradicts a common product hypothesis. We expected Premium subscribers to complete more of what they start, perhaps reflecting tier-aware recommendation algorithms or content commitment effects. The data shows the opposite. Average completion is 52.8 percent for Basic, 52.6 percent for Standard, and 52.9 percent for Premium. The full spread across all three tiers is less than one percentage point. Watch hours per month are also identical at 0.73. This is a counter-finding, and a useful one. Tier does not predict engagement. The signal MediaWave should personalize on lives at the title level — title completion ranges from 28.9 percent for the worst-performing title to 76.7 percent for the best, a 48-percentage-point variance that recommendation algorithms can actually exploit. Recommendation: redirect personalization investment from tier-aware logic, which has nothing to act on, to title-level signals, which have substantial variance to capture. Transition: One signal does separate users meaningfully — but it is on the retention side, not the engagement side.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the strongest churn precursor in MediaWave's data. Retained users watch an average of 26.4 hours per month. Churned users watch 15.2. That is a 42 percent gap — the largest user-level signal we found. We tested the signals we initially expected to predict churn: buffering rate, completion percentage, and unique titles watched per month. None of them separated churners from retained users. Buffering averages were 2.17 versus 2.20. Completion was 52.76 versus 52.72. These are statistically meaningless differences. The lesson: in this dataset, churn is a function of total engagement volume, not engagement quality. Recommendation: build the churn early-warning model on monthly hours watched and a derived velocity feature — recent hours divided by historical hours. Skip the buffering and completion features that intuition would suggest, because they do not predict in this data. Transition: Streaming quality, however, has its own story to tell — also counterintuitive.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is the second counter-finding in this engagement. We expected streaming quality to be geographically concentrated and to correlate with completion, identifying specific region-ISP combinations where infrastructure investment would most reduce churn. The data does not support this. All seven CDN regions cluster between 2.17 and 2.25 buffering events per session — a 3.3 percent spread. All ten ISPs cluster similarly tightly. The buffering-completion correlation is approximately zero. This means selective CDN investment does not have an obvious target in current data. The recommendation reverses what we initially proposed. Recommendation: de-prioritize geographic CDN investment for now. Reallocate budget toward levers with measurable impact — content ROI optimization or churn early-warning. The CDN case can be revisited if more granular session-level quality data becomes available. Transition: Each of these insights, including the counter-findings, translates into a specific recommendation.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We translate our four insights into four prioritized actions. Each action is paired with expected impact and a time-to-implement estimate. Transition: Four actions, ranked by impact-to-effort ratio.</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including the two counter-findings. Action one is the highest impact-to-effort ratio in the engagement: dropping bottom-decile titles at the next license cycle. The full $3.13 billion represents the upper bound on annual savings; conservative renegotiation yields $1.5 to $2 billion. Action two is building the churn early-warning model on the strongest signal we found, monthly hours watched. Targeting just ten percent of the 19.6 thousand current churners would yield meaningful revenue retention. Action three pivots personalization investment from tier-aware logic, which has nothing to act on, to title-level signals, which have a 48 percentage point variance to capture. Action four is the most uncomfortable: pulling back from the geographic CDN investment hypothesis. The data does not support selective region/ISP upgrades, and a CIO should know this before committing budget to it. All four actions draw on analytics tables our pipeline produces today. No new data sources required. Transition: Finally, scaling considerations for production volume.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The CIO's natural question: does this scale to production volume? We address bottlenecks at ten-times and one-hundred-times current data volume, and map the entire stack to managed cloud equivalents. Transition: Specific bottlenecks, specific fixes, specific cloud services.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Scaling. At ten-times current volume, the architecture remains intact; we add Spark workers, expand Kafka partitions, and tune shuffle parameters. At one-hundred-times, the same architecture continues but we transition to a true distributed cluster: more workers with larger memory, higher replication factor, and CeleryExecutor for Airflow distributed scheduling. The lower table shows that every layer maps to managed cloud services across AWS, GCP, and Azure. There is no vendor commitment in our current architecture. For MediaWave at one-hundred-times scale we recommend AWS-based deployment, projected at approximately seventy-percent lower total cost of ownership once operational labor is included. Transition: We close on questions.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0.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0.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1F_0.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microsoft.com/office/2018/10/relationships/comments" Target="../comments/modernComment_110_0.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microsoft.com/office/2018/10/relationships/comments" Target="../comments/modernComment_124_0.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35" name="Text 33"/>
          <p:cNvSpPr/>
          <p:nvPr/>
        </p:nvSpPr>
        <p:spPr>
          <a:xfrm>
            <a:off x="969264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0" name="Text 28"/>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03 / 22</a:t>
            </a:r>
            <a:endParaRPr lang="en-US" sz="9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05 / 22</a:t>
            </a: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07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09 / 22</a:t>
            </a: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A</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11 / 22</a:t>
            </a: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 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Drop bottom-decile titles at next license cycle. Estimated annual savings: $3.13B if fully discontinued, or $1.5–2B with conservative renegotiation. Promote best-ROI titles in next campaign — efficiency compounds with promotion.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13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60K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90K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14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precursor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between cohorts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Tested signals like buffering and completion rate showed no churn separation in the data — model only on what predicts.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15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16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Reallocate CDN budget away from selective region/ISP investment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Free budget for higher-impact levers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Immediate review</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 / 22</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7.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0" name="Text 27"/>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20 / 22</a:t>
            </a:r>
            <a:endParaRPr lang="en-US" sz="9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TotalTime>
  <Words>6330</Words>
  <Application>Microsoft Macintosh PowerPoint</Application>
  <PresentationFormat>Widescreen</PresentationFormat>
  <Paragraphs>674</Paragraphs>
  <Slides>30</Slides>
  <Notes>30</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2026-05-03T23:01:21Z</dcterms:modified>
</cp:coreProperties>
</file>