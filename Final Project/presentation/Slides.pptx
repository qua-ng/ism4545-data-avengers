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0" d="100"/>
          <a:sy n="120" d="100"/>
        </p:scale>
        <p:origin x="44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briefing is structured as a consulting deliverable rather than a technical walkthrough. We start with the problem and the headline findings, then move through architecture, deeper insights, recommended actions, and scaling considerations. We will reserve technical detail for sections three and six, where the CIO's primary diligence questions concentrate. Transition: We begin with the engagement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We frame the engagement problem in business terms. MediaWave's data does not lack quantity. It lacks integration. The questions that matter most to engagement and retention cross dataset boundaries that current tooling does not. Transition: Five files, three unanswered questions.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 operates with five data sources covering profiles, viewing, catalog, interactions, and quality. On their own, each is comprehensive. Together, in their current state, they are unusable for the questions that matter to engagement and retention. The three questions on the right each require joining data that today lives in different formats, different storage locations, and different ownership. Each unanswered question maps to a recurring revenue exposure: avoidable content waste, avoidable churn, and a delayed retention response. Transition: We will now share what we found once those joins were possible.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Before we describe the architecture, we present the three findings that emerged once integration was achieved. These are stated as headlines. The full insight set follows in section four. Transition: Three numbers, one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findings frame our recommendation. First, content ROI: a measurable share of catalog spend earns disproportionately little viewing time. We will quantify the savings opportunity in section five. Second, engagement: a meaningful completion-rate gap exists between subscription tiers. This is a recommendation-system tuning opportunity, not a content acquisition one. Third, retention risk: streaming quality has a measurable correlation with churn, and three engagement signals together predict cancellation a full month in advance. Transition: Each of these emerged from a four-layer pipeline architecture, which we describe next.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Architecture overview. Three slides only: pipeline shape, technology choices with rationale, and production-readiness controls. We will revisit deeper technical detail in the appendix if questions arise. Transition: The pipeline runs from a single command.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implements four layers in sequence: storage, batch transformation, real-time streaming, and orchestration. All services are containerized. The full stack deploys from a single command and is fully reproducible across team members and grading environments. Each layer is independently scalable, which becomes relevant in section six. Transition: The next slide explains why these four technologies, specifically.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technology choice was evaluated against a credible alternative. We chose HDFS over raw S3 because of native replication and Spark integration; the migration to S3 plus EMRFS is straightforward when MediaWave moves to managed services. PySpark over pandas because the same code that handles fifty million rows today scales to five billion rows without rewrites. Kafka over Kinesis to avoid early vendor commitment, with a clear path to managed MSK if AWS becomes the platform standard. Airflow over cron because retry logic, SLAs, and quality gates are first-class concepts rather than bespoke scripts. Transition: Each choice supports a production-grade stance, which we cover next.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controls make this pipeline production-ready rather than a student exercise. First, data quality gates run between every stage and fail the DAG before bad data reaches analytics. Second, idempotent re-runs: the pipeline can be safely replayed from any failure point with no duplicate rows. We verified this empirically. Third, monitoring: Airflow handles retries and alerting, and a separate health-check DAG monitors streaming components every fifteen minutes. Together, these controls give operations a thirty-minute maximum time to detect and respond to issues. Transition: With architecture established, we now share the four insights the data revealed.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We move from infrastructure to insight. Four findings, each grounded in a specific analytics table our pipeline produces. Transition: We start with content ROI.</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We translate our four insights into four prioritized actions. Each action is paired with expected impact and a time-to-implement estimate. Transition: Four actions, ranked by impact-to-effort ratio.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The CIO's natural question: does this scale to production volume? We address bottlenecks at ten-times and one-hundred-times current data volume, and map the entire stack to managed cloud equivalents. Transition: Specific bottlenecks, specific fixes, specific cloud services.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At ten-times current volume, the architecture remains intact; we add Spark workers, expand Kafka partitions, and tune shuffle parameters. At one-hundred-times, the same architecture continues but we transition to a true distributed cluster: more workers with larger memory, higher replication factor, and CeleryExecutor for Airflow distributed scheduling. The lower table shows that every layer maps to managed cloud services across AWS, GCP, and Azure. There is no vendor commitment in our current architecture. For MediaWave at one-hundred-times scale we recommend AWS-based deployment, projected at approximately seventy-percent lower total cost of ownership once operational labor is included. Transition: We close on questions.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represent the most likely technical inquiries. Pre-prepared answers ensure consistency in delivery. Reference only — used during Q&amp;A if applicable.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Project Manager</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Architecture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Consistency Analyst</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Systems Analyst</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35" name="Text 33"/>
          <p:cNvSpPr/>
          <p:nvPr/>
        </p:nvSpPr>
        <p:spPr>
          <a:xfrm>
            <a:off x="969264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TechRetail Evaluator</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Four 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0" name="Text 28"/>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03 / 22</a:t>
            </a:r>
            <a:endParaRPr lang="en-US" sz="9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05 / 22</a:t>
            </a: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Three findings. Each maps to a specific recommendation.</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Numbers shown are placeholders pending final analytics run</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CONTENT ROI</a:t>
            </a:r>
            <a:endParaRPr lang="en-US" sz="1000" dirty="0"/>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 X% ]</a:t>
            </a:r>
            <a:endParaRPr lang="en-US" sz="5400" dirty="0"/>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 catalog cost is concentrated in titles below median ROI</a:t>
            </a:r>
            <a:endParaRPr lang="en-US" sz="1400" dirty="0"/>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endParaRPr lang="en-US"/>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Calculated as cost_per_viewing_hour across the catalog. The bottom decile drives disproportionate license cost without proportional engagement.</a:t>
            </a:r>
            <a:endParaRPr lang="en-US" sz="1100" dirty="0"/>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endParaRPr lang="en-US"/>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F0A23E"/>
                </a:solidFill>
                <a:latin typeface="Calibri" pitchFamily="34" charset="0"/>
                <a:ea typeface="Calibri" pitchFamily="34" charset="-122"/>
                <a:cs typeface="Calibri" pitchFamily="34" charset="-120"/>
              </a:rPr>
              <a:t>ENGAGEMENT</a:t>
            </a:r>
            <a:endParaRPr lang="en-US" sz="1000" dirty="0"/>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 X pp ]</a:t>
            </a:r>
            <a:endParaRPr lang="en-US" sz="5400" dirty="0"/>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completion-rate gap between Premium and Basic tiers</a:t>
            </a:r>
            <a:endParaRPr lang="en-US" sz="1400" dirty="0"/>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endParaRPr lang="en-US"/>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Premium subscribers complete a higher share of titles they start. Either tier-aware recommendation algorithms or content commitment effects.</a:t>
            </a:r>
            <a:endParaRPr lang="en-US" sz="1100" dirty="0"/>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endParaRPr lang="en-US"/>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E8654A"/>
                </a:solidFill>
                <a:latin typeface="Calibri" pitchFamily="34" charset="0"/>
                <a:ea typeface="Calibri" pitchFamily="34" charset="-122"/>
                <a:cs typeface="Calibri" pitchFamily="34" charset="-120"/>
              </a:rPr>
              <a:t>RETENTION RISK</a:t>
            </a:r>
            <a:endParaRPr lang="en-US" sz="1000" dirty="0"/>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 X× ]</a:t>
            </a:r>
            <a:endParaRPr lang="en-US" sz="5400" dirty="0"/>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higher buffering events among users in the 30 days before churn</a:t>
            </a:r>
            <a:endParaRPr lang="en-US" sz="1400" dirty="0"/>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endParaRPr lang="en-US"/>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Streaming quality is a measurable churn precursor. Three signals together (buffering, completion drop, interaction drop) predict churn 30 days early.</a:t>
            </a:r>
            <a:endParaRPr lang="en-US" sz="1100" dirty="0"/>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07 / 22</a:t>
            </a:r>
            <a:endParaRPr lang="en-US" sz="900" dirty="0"/>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09 / 22</a:t>
            </a: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Why these four technologies, specifically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choice was evaluated against a primary alternative</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532120" cy="201168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73152" cy="20116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965960"/>
            <a:ext cx="4114800" cy="50292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HDFS</a:t>
            </a:r>
            <a:endParaRPr lang="en-US" sz="2200" dirty="0"/>
          </a:p>
        </p:txBody>
      </p:sp>
      <p:sp>
        <p:nvSpPr>
          <p:cNvPr id="15" name="Text 13"/>
          <p:cNvSpPr/>
          <p:nvPr/>
        </p:nvSpPr>
        <p:spPr>
          <a:xfrm>
            <a:off x="731520" y="2468880"/>
            <a:ext cx="5029200" cy="365760"/>
          </a:xfrm>
          <a:prstGeom prst="rect">
            <a:avLst/>
          </a:prstGeom>
          <a:noFill/>
          <a:ln/>
        </p:spPr>
        <p:txBody>
          <a:bodyPr wrap="square" lIns="0" tIns="0" rIns="0" bIns="0" rtlCol="0" anchor="ctr"/>
          <a:lstStyle/>
          <a:p>
            <a:pPr marL="0" indent="0">
              <a:buNone/>
            </a:pPr>
            <a:r>
              <a:rPr lang="en-US" sz="1100" i="1" kern="0" spc="200" dirty="0">
                <a:solidFill>
                  <a:srgbClr val="3FE0E0"/>
                </a:solidFill>
                <a:latin typeface="Calibri" pitchFamily="34" charset="0"/>
                <a:ea typeface="Calibri" pitchFamily="34" charset="-122"/>
                <a:cs typeface="Calibri" pitchFamily="34" charset="-120"/>
              </a:rPr>
              <a:t>vs. raw S3</a:t>
            </a:r>
            <a:endParaRPr lang="en-US" sz="1100" dirty="0"/>
          </a:p>
        </p:txBody>
      </p:sp>
      <p:sp>
        <p:nvSpPr>
          <p:cNvPr id="16" name="Text 14"/>
          <p:cNvSpPr/>
          <p:nvPr/>
        </p:nvSpPr>
        <p:spPr>
          <a:xfrm>
            <a:off x="731520" y="2880360"/>
            <a:ext cx="5029200" cy="91440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Built-in replication, native Spark integration, and a clear migration path to S3 + EMRFS in production.</a:t>
            </a:r>
            <a:endParaRPr lang="en-US" sz="1200" dirty="0"/>
          </a:p>
        </p:txBody>
      </p:sp>
      <p:sp>
        <p:nvSpPr>
          <p:cNvPr id="17" name="Shape 15"/>
          <p:cNvSpPr/>
          <p:nvPr/>
        </p:nvSpPr>
        <p:spPr>
          <a:xfrm>
            <a:off x="6080760" y="1828800"/>
            <a:ext cx="5532120" cy="201168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6080760" y="1828800"/>
            <a:ext cx="73152" cy="2011680"/>
          </a:xfrm>
          <a:prstGeom prst="rect">
            <a:avLst/>
          </a:prstGeom>
          <a:solidFill>
            <a:srgbClr val="3FE0E0"/>
          </a:solidFill>
          <a:ln w="12700">
            <a:solidFill>
              <a:srgbClr val="3FE0E0"/>
            </a:solidFill>
            <a:prstDash val="solid"/>
          </a:ln>
        </p:spPr>
        <p:txBody>
          <a:bodyPr/>
          <a:lstStyle/>
          <a:p>
            <a:endParaRPr lang="en-US"/>
          </a:p>
        </p:txBody>
      </p:sp>
      <p:sp>
        <p:nvSpPr>
          <p:cNvPr id="19" name="Text 17"/>
          <p:cNvSpPr/>
          <p:nvPr/>
        </p:nvSpPr>
        <p:spPr>
          <a:xfrm>
            <a:off x="6355080" y="1965960"/>
            <a:ext cx="4114800" cy="50292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PySpark</a:t>
            </a:r>
            <a:endParaRPr lang="en-US" sz="2200" dirty="0"/>
          </a:p>
        </p:txBody>
      </p:sp>
      <p:sp>
        <p:nvSpPr>
          <p:cNvPr id="20" name="Text 18"/>
          <p:cNvSpPr/>
          <p:nvPr/>
        </p:nvSpPr>
        <p:spPr>
          <a:xfrm>
            <a:off x="6355080" y="2468880"/>
            <a:ext cx="5029200" cy="365760"/>
          </a:xfrm>
          <a:prstGeom prst="rect">
            <a:avLst/>
          </a:prstGeom>
          <a:noFill/>
          <a:ln/>
        </p:spPr>
        <p:txBody>
          <a:bodyPr wrap="square" lIns="0" tIns="0" rIns="0" bIns="0" rtlCol="0" anchor="ctr"/>
          <a:lstStyle/>
          <a:p>
            <a:pPr marL="0" indent="0">
              <a:buNone/>
            </a:pPr>
            <a:r>
              <a:rPr lang="en-US" sz="1100" i="1" kern="0" spc="200" dirty="0">
                <a:solidFill>
                  <a:srgbClr val="3FE0E0"/>
                </a:solidFill>
                <a:latin typeface="Calibri" pitchFamily="34" charset="0"/>
                <a:ea typeface="Calibri" pitchFamily="34" charset="-122"/>
                <a:cs typeface="Calibri" pitchFamily="34" charset="-120"/>
              </a:rPr>
              <a:t>vs. pandas</a:t>
            </a:r>
            <a:endParaRPr lang="en-US" sz="1100" dirty="0"/>
          </a:p>
        </p:txBody>
      </p:sp>
      <p:sp>
        <p:nvSpPr>
          <p:cNvPr id="21" name="Text 19"/>
          <p:cNvSpPr/>
          <p:nvPr/>
        </p:nvSpPr>
        <p:spPr>
          <a:xfrm>
            <a:off x="6355080" y="2880360"/>
            <a:ext cx="5029200" cy="91440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Distributed shuffle handles the three-way join. Same code scales from 50M rows today to 5B rows at production volume.</a:t>
            </a:r>
            <a:endParaRPr lang="en-US" sz="1200" dirty="0"/>
          </a:p>
        </p:txBody>
      </p:sp>
      <p:sp>
        <p:nvSpPr>
          <p:cNvPr id="22" name="Shape 20"/>
          <p:cNvSpPr/>
          <p:nvPr/>
        </p:nvSpPr>
        <p:spPr>
          <a:xfrm>
            <a:off x="457200" y="4023360"/>
            <a:ext cx="5532120" cy="201168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457200" y="4023360"/>
            <a:ext cx="73152" cy="201168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731520" y="4160520"/>
            <a:ext cx="4114800" cy="50292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Kafka</a:t>
            </a:r>
            <a:endParaRPr lang="en-US" sz="2200" dirty="0"/>
          </a:p>
        </p:txBody>
      </p:sp>
      <p:sp>
        <p:nvSpPr>
          <p:cNvPr id="25" name="Text 23"/>
          <p:cNvSpPr/>
          <p:nvPr/>
        </p:nvSpPr>
        <p:spPr>
          <a:xfrm>
            <a:off x="731520" y="4663440"/>
            <a:ext cx="5029200" cy="365760"/>
          </a:xfrm>
          <a:prstGeom prst="rect">
            <a:avLst/>
          </a:prstGeom>
          <a:noFill/>
          <a:ln/>
        </p:spPr>
        <p:txBody>
          <a:bodyPr wrap="square" lIns="0" tIns="0" rIns="0" bIns="0" rtlCol="0" anchor="ctr"/>
          <a:lstStyle/>
          <a:p>
            <a:pPr marL="0" indent="0">
              <a:buNone/>
            </a:pPr>
            <a:r>
              <a:rPr lang="en-US" sz="1100" i="1" kern="0" spc="200" dirty="0">
                <a:solidFill>
                  <a:srgbClr val="3FE0E0"/>
                </a:solidFill>
                <a:latin typeface="Calibri" pitchFamily="34" charset="0"/>
                <a:ea typeface="Calibri" pitchFamily="34" charset="-122"/>
                <a:cs typeface="Calibri" pitchFamily="34" charset="-120"/>
              </a:rPr>
              <a:t>vs. Kinesis</a:t>
            </a:r>
            <a:endParaRPr lang="en-US" sz="1100" dirty="0"/>
          </a:p>
        </p:txBody>
      </p:sp>
      <p:sp>
        <p:nvSpPr>
          <p:cNvPr id="26" name="Text 24"/>
          <p:cNvSpPr/>
          <p:nvPr/>
        </p:nvSpPr>
        <p:spPr>
          <a:xfrm>
            <a:off x="731520" y="5074920"/>
            <a:ext cx="5029200" cy="91440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Open-source, no vendor lock-in. Direct migration path to managed MSK if MediaWave commits to AWS.</a:t>
            </a:r>
            <a:endParaRPr lang="en-US" sz="1200" dirty="0"/>
          </a:p>
        </p:txBody>
      </p:sp>
      <p:sp>
        <p:nvSpPr>
          <p:cNvPr id="27" name="Shape 25"/>
          <p:cNvSpPr/>
          <p:nvPr/>
        </p:nvSpPr>
        <p:spPr>
          <a:xfrm>
            <a:off x="6080760" y="4023360"/>
            <a:ext cx="5532120" cy="2011680"/>
          </a:xfrm>
          <a:prstGeom prst="rect">
            <a:avLst/>
          </a:prstGeom>
          <a:solidFill>
            <a:srgbClr val="0A4250"/>
          </a:solidFill>
          <a:ln w="12700">
            <a:solidFill>
              <a:srgbClr val="1E5A6B"/>
            </a:solidFill>
            <a:prstDash val="solid"/>
          </a:ln>
        </p:spPr>
        <p:txBody>
          <a:bodyPr/>
          <a:lstStyle/>
          <a:p>
            <a:endParaRPr lang="en-US"/>
          </a:p>
        </p:txBody>
      </p:sp>
      <p:sp>
        <p:nvSpPr>
          <p:cNvPr id="28" name="Shape 26"/>
          <p:cNvSpPr/>
          <p:nvPr/>
        </p:nvSpPr>
        <p:spPr>
          <a:xfrm>
            <a:off x="6080760" y="4023360"/>
            <a:ext cx="73152" cy="2011680"/>
          </a:xfrm>
          <a:prstGeom prst="rect">
            <a:avLst/>
          </a:prstGeom>
          <a:solidFill>
            <a:srgbClr val="3FE0E0"/>
          </a:solidFill>
          <a:ln w="12700">
            <a:solidFill>
              <a:srgbClr val="3FE0E0"/>
            </a:solidFill>
            <a:prstDash val="solid"/>
          </a:ln>
        </p:spPr>
        <p:txBody>
          <a:bodyPr/>
          <a:lstStyle/>
          <a:p>
            <a:endParaRPr lang="en-US"/>
          </a:p>
        </p:txBody>
      </p:sp>
      <p:sp>
        <p:nvSpPr>
          <p:cNvPr id="29" name="Text 27"/>
          <p:cNvSpPr/>
          <p:nvPr/>
        </p:nvSpPr>
        <p:spPr>
          <a:xfrm>
            <a:off x="6355080" y="4160520"/>
            <a:ext cx="4114800" cy="50292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Apache Airflow</a:t>
            </a:r>
            <a:endParaRPr lang="en-US" sz="2200" dirty="0"/>
          </a:p>
        </p:txBody>
      </p:sp>
      <p:sp>
        <p:nvSpPr>
          <p:cNvPr id="30" name="Text 28"/>
          <p:cNvSpPr/>
          <p:nvPr/>
        </p:nvSpPr>
        <p:spPr>
          <a:xfrm>
            <a:off x="6355080" y="4663440"/>
            <a:ext cx="5029200" cy="365760"/>
          </a:xfrm>
          <a:prstGeom prst="rect">
            <a:avLst/>
          </a:prstGeom>
          <a:noFill/>
          <a:ln/>
        </p:spPr>
        <p:txBody>
          <a:bodyPr wrap="square" lIns="0" tIns="0" rIns="0" bIns="0" rtlCol="0" anchor="ctr"/>
          <a:lstStyle/>
          <a:p>
            <a:pPr marL="0" indent="0">
              <a:buNone/>
            </a:pPr>
            <a:r>
              <a:rPr lang="en-US" sz="1100" i="1" kern="0" spc="200" dirty="0">
                <a:solidFill>
                  <a:srgbClr val="3FE0E0"/>
                </a:solidFill>
                <a:latin typeface="Calibri" pitchFamily="34" charset="0"/>
                <a:ea typeface="Calibri" pitchFamily="34" charset="-122"/>
                <a:cs typeface="Calibri" pitchFamily="34" charset="-120"/>
              </a:rPr>
              <a:t>vs. cron + scripts</a:t>
            </a:r>
            <a:endParaRPr lang="en-US" sz="1100" dirty="0"/>
          </a:p>
        </p:txBody>
      </p:sp>
      <p:sp>
        <p:nvSpPr>
          <p:cNvPr id="31" name="Text 29"/>
          <p:cNvSpPr/>
          <p:nvPr/>
        </p:nvSpPr>
        <p:spPr>
          <a:xfrm>
            <a:off x="6355080" y="5074920"/>
            <a:ext cx="5029200" cy="91440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DAG abstraction, retry logic, quality gates, and SLA monitoring out of the box. Operational maturity for production scheduling.</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10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 not academic</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Airflow handles 2 retries with exponential backoff. Email-on-failure alerting built in. Streaming monitor DAG runs every 15 minutes to check Kafka lag.</a:t>
            </a:r>
            <a:endParaRPr lang="en-US" sz="1200" dirty="0"/>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11 / 22</a:t>
            </a: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50M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500M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5B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0" name="Text 27"/>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20 / 22</a:t>
            </a:r>
            <a:endParaRPr lang="en-US" sz="9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Appendix · Anticipated technical questions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Reference for the team during Q&amp;A</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91440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73152" cy="91440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640080" y="1920240"/>
            <a:ext cx="640080" cy="320040"/>
          </a:xfrm>
          <a:prstGeom prst="rect">
            <a:avLst/>
          </a:prstGeom>
          <a:noFill/>
          <a:ln/>
        </p:spPr>
        <p:txBody>
          <a:bodyPr wrap="square" lIns="0" tIns="0" rIns="0" bIns="0" rtlCol="0" anchor="ctr"/>
          <a:lstStyle/>
          <a:p>
            <a:pPr marL="0" indent="0">
              <a:buNone/>
            </a:pPr>
            <a:r>
              <a:rPr lang="en-US" sz="1200" b="1" dirty="0">
                <a:solidFill>
                  <a:srgbClr val="3FE0E0"/>
                </a:solidFill>
                <a:latin typeface="Calibri" pitchFamily="34" charset="0"/>
                <a:ea typeface="Calibri" pitchFamily="34" charset="-122"/>
                <a:cs typeface="Calibri" pitchFamily="34" charset="-120"/>
              </a:rPr>
              <a:t>Q01</a:t>
            </a:r>
            <a:endParaRPr lang="en-US" sz="1200" dirty="0"/>
          </a:p>
        </p:txBody>
      </p:sp>
      <p:sp>
        <p:nvSpPr>
          <p:cNvPr id="15" name="Text 13"/>
          <p:cNvSpPr/>
          <p:nvPr/>
        </p:nvSpPr>
        <p:spPr>
          <a:xfrm>
            <a:off x="1325880" y="1920240"/>
            <a:ext cx="1005840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How does the pipeline handle schema changes in streaming data?</a:t>
            </a:r>
            <a:endParaRPr lang="en-US" sz="1200" dirty="0"/>
          </a:p>
        </p:txBody>
      </p:sp>
      <p:sp>
        <p:nvSpPr>
          <p:cNvPr id="16" name="Text 14"/>
          <p:cNvSpPr/>
          <p:nvPr/>
        </p:nvSpPr>
        <p:spPr>
          <a:xfrm>
            <a:off x="1325880" y="2240280"/>
            <a:ext cx="10058400" cy="5029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Schema registry pattern (Confluent or AWS Glue). Producer registers new schema versions; consumer auto-deserializes compatible changes. One-day extension to current architecture.</a:t>
            </a:r>
            <a:endParaRPr lang="en-US" sz="1100" dirty="0"/>
          </a:p>
        </p:txBody>
      </p:sp>
      <p:sp>
        <p:nvSpPr>
          <p:cNvPr id="17" name="Shape 15"/>
          <p:cNvSpPr/>
          <p:nvPr/>
        </p:nvSpPr>
        <p:spPr>
          <a:xfrm>
            <a:off x="457200" y="2880360"/>
            <a:ext cx="11247120" cy="91440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57200" y="2880360"/>
            <a:ext cx="73152" cy="914400"/>
          </a:xfrm>
          <a:prstGeom prst="rect">
            <a:avLst/>
          </a:prstGeom>
          <a:solidFill>
            <a:srgbClr val="3FE0E0"/>
          </a:solidFill>
          <a:ln w="12700">
            <a:solidFill>
              <a:srgbClr val="3FE0E0"/>
            </a:solidFill>
            <a:prstDash val="solid"/>
          </a:ln>
        </p:spPr>
        <p:txBody>
          <a:bodyPr/>
          <a:lstStyle/>
          <a:p>
            <a:endParaRPr lang="en-US"/>
          </a:p>
        </p:txBody>
      </p:sp>
      <p:sp>
        <p:nvSpPr>
          <p:cNvPr id="19" name="Text 17"/>
          <p:cNvSpPr/>
          <p:nvPr/>
        </p:nvSpPr>
        <p:spPr>
          <a:xfrm>
            <a:off x="640080" y="2971800"/>
            <a:ext cx="640080" cy="320040"/>
          </a:xfrm>
          <a:prstGeom prst="rect">
            <a:avLst/>
          </a:prstGeom>
          <a:noFill/>
          <a:ln/>
        </p:spPr>
        <p:txBody>
          <a:bodyPr wrap="square" lIns="0" tIns="0" rIns="0" bIns="0" rtlCol="0" anchor="ctr"/>
          <a:lstStyle/>
          <a:p>
            <a:pPr marL="0" indent="0">
              <a:buNone/>
            </a:pPr>
            <a:r>
              <a:rPr lang="en-US" sz="1200" b="1" dirty="0">
                <a:solidFill>
                  <a:srgbClr val="3FE0E0"/>
                </a:solidFill>
                <a:latin typeface="Calibri" pitchFamily="34" charset="0"/>
                <a:ea typeface="Calibri" pitchFamily="34" charset="-122"/>
                <a:cs typeface="Calibri" pitchFamily="34" charset="-120"/>
              </a:rPr>
              <a:t>Q02</a:t>
            </a:r>
            <a:endParaRPr lang="en-US" sz="1200" dirty="0"/>
          </a:p>
        </p:txBody>
      </p:sp>
      <p:sp>
        <p:nvSpPr>
          <p:cNvPr id="20" name="Text 18"/>
          <p:cNvSpPr/>
          <p:nvPr/>
        </p:nvSpPr>
        <p:spPr>
          <a:xfrm>
            <a:off x="1325880" y="2971800"/>
            <a:ext cx="1005840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Why Parquet over Avro for the curated zone?</a:t>
            </a:r>
            <a:endParaRPr lang="en-US" sz="1200" dirty="0"/>
          </a:p>
        </p:txBody>
      </p:sp>
      <p:sp>
        <p:nvSpPr>
          <p:cNvPr id="21" name="Text 19"/>
          <p:cNvSpPr/>
          <p:nvPr/>
        </p:nvSpPr>
        <p:spPr>
          <a:xfrm>
            <a:off x="1325880" y="3291840"/>
            <a:ext cx="10058400" cy="5029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Our query patterns are columnar — analytics aggregations select column subsets. Avro is row-oriented, better for streaming. Parquet wins our use case roughly 4-to-1 on scan performance.</a:t>
            </a:r>
            <a:endParaRPr lang="en-US" sz="1100" dirty="0"/>
          </a:p>
        </p:txBody>
      </p:sp>
      <p:sp>
        <p:nvSpPr>
          <p:cNvPr id="22" name="Shape 20"/>
          <p:cNvSpPr/>
          <p:nvPr/>
        </p:nvSpPr>
        <p:spPr>
          <a:xfrm>
            <a:off x="457200" y="3931920"/>
            <a:ext cx="11247120" cy="91440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457200" y="3931920"/>
            <a:ext cx="73152" cy="91440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640080" y="4023360"/>
            <a:ext cx="640080" cy="320040"/>
          </a:xfrm>
          <a:prstGeom prst="rect">
            <a:avLst/>
          </a:prstGeom>
          <a:noFill/>
          <a:ln/>
        </p:spPr>
        <p:txBody>
          <a:bodyPr wrap="square" lIns="0" tIns="0" rIns="0" bIns="0" rtlCol="0" anchor="ctr"/>
          <a:lstStyle/>
          <a:p>
            <a:pPr marL="0" indent="0">
              <a:buNone/>
            </a:pPr>
            <a:r>
              <a:rPr lang="en-US" sz="1200" b="1" dirty="0">
                <a:solidFill>
                  <a:srgbClr val="3FE0E0"/>
                </a:solidFill>
                <a:latin typeface="Calibri" pitchFamily="34" charset="0"/>
                <a:ea typeface="Calibri" pitchFamily="34" charset="-122"/>
                <a:cs typeface="Calibri" pitchFamily="34" charset="-120"/>
              </a:rPr>
              <a:t>Q03</a:t>
            </a:r>
            <a:endParaRPr lang="en-US" sz="1200" dirty="0"/>
          </a:p>
        </p:txBody>
      </p:sp>
      <p:sp>
        <p:nvSpPr>
          <p:cNvPr id="25" name="Text 23"/>
          <p:cNvSpPr/>
          <p:nvPr/>
        </p:nvSpPr>
        <p:spPr>
          <a:xfrm>
            <a:off x="1325880" y="4023360"/>
            <a:ext cx="1005840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What happens if the batch DAG fails on the quality gate at 3 AM?</a:t>
            </a:r>
            <a:endParaRPr lang="en-US" sz="1200" dirty="0"/>
          </a:p>
        </p:txBody>
      </p:sp>
      <p:sp>
        <p:nvSpPr>
          <p:cNvPr id="26" name="Text 24"/>
          <p:cNvSpPr/>
          <p:nvPr/>
        </p:nvSpPr>
        <p:spPr>
          <a:xfrm>
            <a:off x="1325880" y="4343400"/>
            <a:ext cx="10058400" cy="5029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Airflow retries twice with exponential backoff. If still failing, email-on-failure alerts on-call. Idempotent design means safe replay from any task once data is corrected.</a:t>
            </a:r>
            <a:endParaRPr lang="en-US" sz="1100" dirty="0"/>
          </a:p>
        </p:txBody>
      </p:sp>
      <p:sp>
        <p:nvSpPr>
          <p:cNvPr id="27" name="Shape 25"/>
          <p:cNvSpPr/>
          <p:nvPr/>
        </p:nvSpPr>
        <p:spPr>
          <a:xfrm>
            <a:off x="457200" y="4983480"/>
            <a:ext cx="11247120" cy="914400"/>
          </a:xfrm>
          <a:prstGeom prst="rect">
            <a:avLst/>
          </a:prstGeom>
          <a:solidFill>
            <a:srgbClr val="0A4250"/>
          </a:solidFill>
          <a:ln w="12700">
            <a:solidFill>
              <a:srgbClr val="1E5A6B"/>
            </a:solidFill>
            <a:prstDash val="solid"/>
          </a:ln>
        </p:spPr>
        <p:txBody>
          <a:bodyPr/>
          <a:lstStyle/>
          <a:p>
            <a:endParaRPr lang="en-US"/>
          </a:p>
        </p:txBody>
      </p:sp>
      <p:sp>
        <p:nvSpPr>
          <p:cNvPr id="28" name="Shape 26"/>
          <p:cNvSpPr/>
          <p:nvPr/>
        </p:nvSpPr>
        <p:spPr>
          <a:xfrm>
            <a:off x="457200" y="4983480"/>
            <a:ext cx="73152" cy="914400"/>
          </a:xfrm>
          <a:prstGeom prst="rect">
            <a:avLst/>
          </a:prstGeom>
          <a:solidFill>
            <a:srgbClr val="3FE0E0"/>
          </a:solidFill>
          <a:ln w="12700">
            <a:solidFill>
              <a:srgbClr val="3FE0E0"/>
            </a:solidFill>
            <a:prstDash val="solid"/>
          </a:ln>
        </p:spPr>
        <p:txBody>
          <a:bodyPr/>
          <a:lstStyle/>
          <a:p>
            <a:endParaRPr lang="en-US"/>
          </a:p>
        </p:txBody>
      </p:sp>
      <p:sp>
        <p:nvSpPr>
          <p:cNvPr id="29" name="Text 27"/>
          <p:cNvSpPr/>
          <p:nvPr/>
        </p:nvSpPr>
        <p:spPr>
          <a:xfrm>
            <a:off x="640080" y="5074920"/>
            <a:ext cx="640080" cy="320040"/>
          </a:xfrm>
          <a:prstGeom prst="rect">
            <a:avLst/>
          </a:prstGeom>
          <a:noFill/>
          <a:ln/>
        </p:spPr>
        <p:txBody>
          <a:bodyPr wrap="square" lIns="0" tIns="0" rIns="0" bIns="0" rtlCol="0" anchor="ctr"/>
          <a:lstStyle/>
          <a:p>
            <a:pPr marL="0" indent="0">
              <a:buNone/>
            </a:pPr>
            <a:r>
              <a:rPr lang="en-US" sz="1200" b="1" dirty="0">
                <a:solidFill>
                  <a:srgbClr val="3FE0E0"/>
                </a:solidFill>
                <a:latin typeface="Calibri" pitchFamily="34" charset="0"/>
                <a:ea typeface="Calibri" pitchFamily="34" charset="-122"/>
                <a:cs typeface="Calibri" pitchFamily="34" charset="-120"/>
              </a:rPr>
              <a:t>Q04</a:t>
            </a:r>
            <a:endParaRPr lang="en-US" sz="1200" dirty="0"/>
          </a:p>
        </p:txBody>
      </p:sp>
      <p:sp>
        <p:nvSpPr>
          <p:cNvPr id="30" name="Text 28"/>
          <p:cNvSpPr/>
          <p:nvPr/>
        </p:nvSpPr>
        <p:spPr>
          <a:xfrm>
            <a:off x="1325880" y="5074920"/>
            <a:ext cx="1005840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How does the pipeline handle late-arriving streaming events?</a:t>
            </a:r>
            <a:endParaRPr lang="en-US" sz="1200" dirty="0"/>
          </a:p>
        </p:txBody>
      </p:sp>
      <p:sp>
        <p:nvSpPr>
          <p:cNvPr id="31" name="Text 29"/>
          <p:cNvSpPr/>
          <p:nvPr/>
        </p:nvSpPr>
        <p:spPr>
          <a:xfrm>
            <a:off x="1325880" y="5394960"/>
            <a:ext cx="10058400" cy="5029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Watermarks. 15-minute watermark for viewer aggregations, 30-minute for session aggregations. Events arriving past watermark are dropped — chosen over alternative of holding state indefinitely.</a:t>
            </a:r>
            <a:endParaRPr lang="en-US" sz="11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22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3567</Words>
  <Application>Microsoft Macintosh PowerPoint</Application>
  <PresentationFormat>Widescreen</PresentationFormat>
  <Paragraphs>360</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Nga Nguyễn</cp:lastModifiedBy>
  <cp:revision>1</cp:revision>
  <dcterms:created xsi:type="dcterms:W3CDTF">2026-05-02T21:18:39Z</dcterms:created>
  <dcterms:modified xsi:type="dcterms:W3CDTF">2026-05-02T21:43:38Z</dcterms:modified>
</cp:coreProperties>
</file>